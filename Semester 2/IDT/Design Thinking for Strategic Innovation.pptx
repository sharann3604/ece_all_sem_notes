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D33C4E4-6019-4F5D-B1B3-E31E85CE5C92}" type="datetimeFigureOut">
              <a:rPr lang="en-IN" smtClean="0"/>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2049F57-912F-4045-9D9A-DD402AFF106C}"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7D33C4E4-6019-4F5D-B1B3-E31E85CE5C9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D33C4E4-6019-4F5D-B1B3-E31E85CE5C9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7D33C4E4-6019-4F5D-B1B3-E31E85CE5C9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7D33C4E4-6019-4F5D-B1B3-E31E85CE5C9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33C4E4-6019-4F5D-B1B3-E31E85CE5C92}"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33C4E4-6019-4F5D-B1B3-E31E85CE5C92}"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D33C4E4-6019-4F5D-B1B3-E31E85CE5C9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D33C4E4-6019-4F5D-B1B3-E31E85CE5C9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D33C4E4-6019-4F5D-B1B3-E31E85CE5C9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D33C4E4-6019-4F5D-B1B3-E31E85CE5C9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panose="020B0604020202020204"/>
                <a:cs typeface="Arial" panose="020B0604020202020204"/>
              </a:rPr>
              <a:t>“</a:t>
            </a:r>
            <a:endParaRPr lang="en-US" sz="9600" b="0" i="0" dirty="0">
              <a:solidFill>
                <a:schemeClr val="accent1">
                  <a:lumMod val="60000"/>
                  <a:lumOff val="40000"/>
                </a:schemeClr>
              </a:solidFill>
              <a:latin typeface="Arial" panose="020B0604020202020204"/>
              <a:cs typeface="Arial" panose="020B0604020202020204"/>
            </a:endParaRP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panose="020B0604020202020204"/>
                <a:cs typeface="Arial" panose="020B0604020202020204"/>
              </a:rPr>
              <a:t>”</a:t>
            </a:r>
            <a:endParaRPr lang="en-US" sz="9600" b="0" i="0" dirty="0">
              <a:solidFill>
                <a:schemeClr val="accent1">
                  <a:lumMod val="60000"/>
                  <a:lumOff val="40000"/>
                </a:schemeClr>
              </a:solidFill>
              <a:latin typeface="Arial" panose="020B0604020202020204"/>
              <a:cs typeface="Arial" panose="020B0604020202020204"/>
            </a:endParaRP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D33C4E4-6019-4F5D-B1B3-E31E85CE5C9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D33C4E4-6019-4F5D-B1B3-E31E85CE5C9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D33C4E4-6019-4F5D-B1B3-E31E85CE5C9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D33C4E4-6019-4F5D-B1B3-E31E85CE5C92}" type="datetimeFigureOut">
              <a:rPr lang="en-IN" smtClean="0"/>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7D33C4E4-6019-4F5D-B1B3-E31E85CE5C9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7D33C4E4-6019-4F5D-B1B3-E31E85CE5C9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2049F57-912F-4045-9D9A-DD402AFF106C}"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jpe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8">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7D33C4E4-6019-4F5D-B1B3-E31E85CE5C92}" type="datetimeFigureOut">
              <a:rPr lang="en-IN" smtClean="0"/>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2049F57-912F-4045-9D9A-DD402AFF106C}"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Design Thinking for Strategic Innovation</a:t>
            </a:r>
            <a:endParaRPr lang="en-IN" dirty="0"/>
          </a:p>
        </p:txBody>
      </p:sp>
      <p:sp>
        <p:nvSpPr>
          <p:cNvPr id="3" name="Subtitle 2"/>
          <p:cNvSpPr>
            <a:spLocks noGrp="1"/>
          </p:cNvSpPr>
          <p:nvPr>
            <p:ph type="subTitle" idx="1"/>
          </p:nvPr>
        </p:nvSpPr>
        <p:spPr/>
        <p:txBody>
          <a:bodyPr/>
          <a:lstStyle/>
          <a:p>
            <a:r>
              <a:rPr lang="en-IN" dirty="0"/>
              <a:t>Module-4</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212" y="983193"/>
            <a:ext cx="10668000" cy="706964"/>
          </a:xfrm>
        </p:spPr>
        <p:txBody>
          <a:bodyPr/>
          <a:lstStyle/>
          <a:p>
            <a:r>
              <a:rPr lang="en-IN" dirty="0"/>
              <a:t>Strategic Management and </a:t>
            </a:r>
            <a:br>
              <a:rPr lang="en-IN" dirty="0"/>
            </a:br>
            <a:r>
              <a:rPr lang="en-IN" dirty="0"/>
              <a:t>Innovation Management</a:t>
            </a:r>
            <a:endParaRPr lang="en-IN" dirty="0"/>
          </a:p>
        </p:txBody>
      </p:sp>
      <p:sp>
        <p:nvSpPr>
          <p:cNvPr id="3" name="Content Placeholder 2"/>
          <p:cNvSpPr>
            <a:spLocks noGrp="1"/>
          </p:cNvSpPr>
          <p:nvPr>
            <p:ph idx="1"/>
          </p:nvPr>
        </p:nvSpPr>
        <p:spPr>
          <a:xfrm>
            <a:off x="1154954" y="2468032"/>
            <a:ext cx="9692340" cy="3416300"/>
          </a:xfrm>
        </p:spPr>
        <p:txBody>
          <a:bodyPr>
            <a:normAutofit fontScale="85000" lnSpcReduction="10000"/>
          </a:bodyPr>
          <a:lstStyle/>
          <a:p>
            <a:pPr marL="0" indent="0" algn="just">
              <a:buNone/>
            </a:pPr>
            <a:r>
              <a:rPr lang="en-US" sz="2800" dirty="0"/>
              <a:t>SM- It is the process of setting goals, procedures, and objectives in order to make a company or organization more competitive. Typically, strategic management looks at effectively deploying staff and resources to achieve these goals.</a:t>
            </a:r>
            <a:endParaRPr lang="en-US" sz="2800" dirty="0"/>
          </a:p>
          <a:p>
            <a:pPr marL="0" indent="0" algn="just">
              <a:buNone/>
            </a:pPr>
            <a:endParaRPr lang="en-US" sz="2800" dirty="0"/>
          </a:p>
          <a:p>
            <a:pPr marL="0" indent="0" algn="just">
              <a:buNone/>
            </a:pPr>
            <a:r>
              <a:rPr lang="en-US" sz="2800" dirty="0"/>
              <a:t>IM-It is the concept which has multiple aspects and dimensions and are contributed based on the multiple disciplines of the study that has a various theories and frameworks. </a:t>
            </a:r>
            <a:endParaRPr lang="en-US" sz="2800" dirty="0"/>
          </a:p>
          <a:p>
            <a:pPr marL="0" indent="0" algn="just">
              <a:buNone/>
            </a:pPr>
            <a:endParaRPr lang="en-I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Innovations</a:t>
            </a:r>
            <a:endParaRPr lang="en-IN" dirty="0"/>
          </a:p>
        </p:txBody>
      </p:sp>
      <p:sp>
        <p:nvSpPr>
          <p:cNvPr id="3" name="Content Placeholder 2"/>
          <p:cNvSpPr>
            <a:spLocks noGrp="1"/>
          </p:cNvSpPr>
          <p:nvPr>
            <p:ph idx="1"/>
          </p:nvPr>
        </p:nvSpPr>
        <p:spPr>
          <a:xfrm>
            <a:off x="1020483" y="2675217"/>
            <a:ext cx="9755093" cy="4182783"/>
          </a:xfrm>
        </p:spPr>
        <p:txBody>
          <a:bodyPr>
            <a:normAutofit/>
          </a:bodyPr>
          <a:lstStyle/>
          <a:p>
            <a:pPr marL="0" indent="0">
              <a:buNone/>
            </a:pPr>
            <a:r>
              <a:rPr lang="en-IN" sz="2800" dirty="0"/>
              <a:t>There are four types of innovations which are </a:t>
            </a:r>
            <a:endParaRPr lang="en-IN" sz="2800" dirty="0"/>
          </a:p>
          <a:p>
            <a:pPr>
              <a:buAutoNum type="arabicParenBoth"/>
            </a:pPr>
            <a:r>
              <a:rPr lang="en-IN" sz="2800" dirty="0"/>
              <a:t>Disruptive vs Sustaining innovation </a:t>
            </a:r>
            <a:endParaRPr lang="en-IN" sz="2800" dirty="0"/>
          </a:p>
          <a:p>
            <a:pPr>
              <a:buAutoNum type="arabicParenBoth"/>
            </a:pPr>
            <a:r>
              <a:rPr lang="en-IN" sz="2800" dirty="0"/>
              <a:t>Radical vs incremental innovation </a:t>
            </a:r>
            <a:endParaRPr lang="en-IN" sz="2800" dirty="0"/>
          </a:p>
          <a:p>
            <a:pPr>
              <a:buAutoNum type="arabicParenBoth"/>
            </a:pPr>
            <a:r>
              <a:rPr lang="en-IN" sz="2800" dirty="0"/>
              <a:t>Innovation matrix </a:t>
            </a:r>
            <a:endParaRPr lang="en-IN" sz="2800" dirty="0"/>
          </a:p>
          <a:p>
            <a:pPr>
              <a:buAutoNum type="arabicParenBoth"/>
            </a:pPr>
            <a:r>
              <a:rPr lang="en-IN" sz="2800" dirty="0"/>
              <a:t>Architectural vs Modular innovation</a:t>
            </a: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Disruptive vs. Sustaining innovation</a:t>
            </a:r>
            <a:endParaRPr lang="en-IN" dirty="0"/>
          </a:p>
        </p:txBody>
      </p:sp>
      <p:sp>
        <p:nvSpPr>
          <p:cNvPr id="3" name="Content Placeholder 2"/>
          <p:cNvSpPr>
            <a:spLocks noGrp="1"/>
          </p:cNvSpPr>
          <p:nvPr>
            <p:ph sz="half" idx="1"/>
          </p:nvPr>
        </p:nvSpPr>
        <p:spPr/>
        <p:txBody>
          <a:bodyPr>
            <a:normAutofit/>
          </a:bodyPr>
          <a:lstStyle/>
          <a:p>
            <a:pPr marL="0" indent="0" algn="just">
              <a:buNone/>
            </a:pPr>
            <a:r>
              <a:rPr lang="en-US" sz="2400" dirty="0"/>
              <a:t>The concept of disruptive innovation is related to the concept, product or service which will create new value to the existing market and also create a completely new market. </a:t>
            </a:r>
            <a:endParaRPr lang="en-IN" sz="2400" dirty="0"/>
          </a:p>
        </p:txBody>
      </p:sp>
      <p:sp>
        <p:nvSpPr>
          <p:cNvPr id="4" name="Content Placeholder 3"/>
          <p:cNvSpPr>
            <a:spLocks noGrp="1"/>
          </p:cNvSpPr>
          <p:nvPr>
            <p:ph sz="half" idx="2"/>
          </p:nvPr>
        </p:nvSpPr>
        <p:spPr/>
        <p:txBody>
          <a:bodyPr>
            <a:normAutofit/>
          </a:bodyPr>
          <a:lstStyle/>
          <a:p>
            <a:pPr marL="0" indent="0" algn="just">
              <a:buNone/>
            </a:pPr>
            <a:r>
              <a:rPr lang="en-US" sz="2400" dirty="0"/>
              <a:t>While the sustaining innovation is based concept of improving and growing the existing markets.</a:t>
            </a:r>
            <a:endParaRPr lang="en-I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Radical vs. incremental innovation</a:t>
            </a:r>
            <a:endParaRPr lang="en-IN" dirty="0"/>
          </a:p>
        </p:txBody>
      </p:sp>
      <p:sp>
        <p:nvSpPr>
          <p:cNvPr id="3" name="Content Placeholder 2"/>
          <p:cNvSpPr>
            <a:spLocks noGrp="1"/>
          </p:cNvSpPr>
          <p:nvPr>
            <p:ph sz="half" idx="1"/>
          </p:nvPr>
        </p:nvSpPr>
        <p:spPr/>
        <p:txBody>
          <a:bodyPr>
            <a:normAutofit/>
          </a:bodyPr>
          <a:lstStyle/>
          <a:p>
            <a:pPr marL="0" indent="0" algn="just">
              <a:buNone/>
            </a:pPr>
            <a:r>
              <a:rPr lang="en-US" sz="2400" dirty="0"/>
              <a:t>Radical innovation happens when a new technology completely disrupts existing business or economy and creates a new business model. </a:t>
            </a:r>
            <a:endParaRPr lang="en-IN" sz="2400" dirty="0"/>
          </a:p>
        </p:txBody>
      </p:sp>
      <p:sp>
        <p:nvSpPr>
          <p:cNvPr id="4" name="Content Placeholder 3"/>
          <p:cNvSpPr>
            <a:spLocks noGrp="1"/>
          </p:cNvSpPr>
          <p:nvPr>
            <p:ph sz="half" idx="2"/>
          </p:nvPr>
        </p:nvSpPr>
        <p:spPr/>
        <p:txBody>
          <a:bodyPr>
            <a:normAutofit/>
          </a:bodyPr>
          <a:lstStyle/>
          <a:p>
            <a:pPr marL="0" indent="0" algn="just">
              <a:buNone/>
            </a:pPr>
            <a:r>
              <a:rPr lang="en-US" sz="2400" dirty="0"/>
              <a:t>Incremental innovation, in turn, refers to a series of small, gradually built improvements to existing products, processes or methods to maintain competitive position over time</a:t>
            </a:r>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Innovation Matrix</a:t>
            </a:r>
            <a:endParaRPr lang="en-IN" dirty="0"/>
          </a:p>
        </p:txBody>
      </p:sp>
      <p:sp>
        <p:nvSpPr>
          <p:cNvPr id="3" name="Content Placeholder 2"/>
          <p:cNvSpPr>
            <a:spLocks noGrp="1"/>
          </p:cNvSpPr>
          <p:nvPr>
            <p:ph idx="1"/>
          </p:nvPr>
        </p:nvSpPr>
        <p:spPr>
          <a:xfrm>
            <a:off x="1352178" y="2209053"/>
            <a:ext cx="8825659" cy="3416300"/>
          </a:xfrm>
        </p:spPr>
        <p:txBody>
          <a:bodyPr>
            <a:noAutofit/>
          </a:bodyPr>
          <a:lstStyle/>
          <a:p>
            <a:pPr marL="0" indent="0" algn="just">
              <a:buNone/>
            </a:pPr>
            <a:r>
              <a:rPr lang="en-US" sz="2200" dirty="0">
                <a:solidFill>
                  <a:schemeClr val="tx1"/>
                </a:solidFill>
              </a:rPr>
              <a:t>To clarify the afore mentioned dimensions and to better demonstrate them, we took all four terms and combined </a:t>
            </a:r>
            <a:r>
              <a:rPr lang="en-US" sz="2200" dirty="0"/>
              <a:t>them with our Innovation Matrix.</a:t>
            </a:r>
            <a:endParaRPr lang="en-US" sz="2200" dirty="0"/>
          </a:p>
          <a:p>
            <a:pPr marL="0" indent="0" algn="just">
              <a:buNone/>
            </a:pPr>
            <a:r>
              <a:rPr lang="en-US" sz="2200" dirty="0"/>
              <a:t>Radically disruptive – Innovation that harnesses new technology and creates a new business model. Has no clear competitors. </a:t>
            </a:r>
            <a:endParaRPr lang="en-US" sz="2200" dirty="0"/>
          </a:p>
          <a:p>
            <a:pPr marL="0" indent="0" algn="just">
              <a:buNone/>
            </a:pPr>
            <a:r>
              <a:rPr lang="en-US" sz="2200" dirty="0"/>
              <a:t>Radically sustaining – Improvement on a product or process in an existing market that provides new value for the customer. </a:t>
            </a:r>
            <a:endParaRPr lang="en-US" sz="2200" dirty="0"/>
          </a:p>
          <a:p>
            <a:pPr marL="0" indent="0" algn="just">
              <a:buNone/>
            </a:pPr>
            <a:r>
              <a:rPr lang="en-US" sz="2200" dirty="0"/>
              <a:t>Incrementally disruptive – An incremental improvement in technology that leads to a dramatic disruption.</a:t>
            </a:r>
            <a:endParaRPr lang="en-US" sz="2200" dirty="0"/>
          </a:p>
          <a:p>
            <a:pPr marL="0" indent="0" algn="just">
              <a:buNone/>
            </a:pPr>
            <a:r>
              <a:rPr lang="en-US" sz="2200" dirty="0"/>
              <a:t>Incrementally sustaining – Small and cumulative changes in an existing product, technology or service.</a:t>
            </a:r>
            <a:endParaRPr lang="en-IN"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vs. Modular Innovation</a:t>
            </a:r>
            <a:endParaRPr lang="en-IN" dirty="0"/>
          </a:p>
        </p:txBody>
      </p:sp>
      <p:sp>
        <p:nvSpPr>
          <p:cNvPr id="3" name="Content Placeholder 2"/>
          <p:cNvSpPr>
            <a:spLocks noGrp="1"/>
          </p:cNvSpPr>
          <p:nvPr>
            <p:ph sz="half" idx="1"/>
          </p:nvPr>
        </p:nvSpPr>
        <p:spPr/>
        <p:txBody>
          <a:bodyPr>
            <a:normAutofit/>
          </a:bodyPr>
          <a:lstStyle/>
          <a:p>
            <a:pPr marL="0" indent="0" algn="just">
              <a:buNone/>
            </a:pPr>
            <a:r>
              <a:rPr lang="en-US" sz="2400" dirty="0"/>
              <a:t>Architectural innovation is described as the reconfiguration of existing product technologies..</a:t>
            </a:r>
            <a:endParaRPr lang="en-IN" sz="2400" dirty="0"/>
          </a:p>
        </p:txBody>
      </p:sp>
      <p:sp>
        <p:nvSpPr>
          <p:cNvPr id="4" name="Content Placeholder 3"/>
          <p:cNvSpPr>
            <a:spLocks noGrp="1"/>
          </p:cNvSpPr>
          <p:nvPr>
            <p:ph sz="half" idx="2"/>
          </p:nvPr>
        </p:nvSpPr>
        <p:spPr/>
        <p:txBody>
          <a:bodyPr>
            <a:normAutofit/>
          </a:bodyPr>
          <a:lstStyle/>
          <a:p>
            <a:pPr marL="0" indent="0" algn="just">
              <a:buNone/>
            </a:pPr>
            <a:r>
              <a:rPr lang="en-US" sz="2400" dirty="0"/>
              <a:t>Modular innovation (or component innovation), on the contrary, is the exact opposite. In modular innovations, one or more components of a product is changed while the overall design stays the same</a:t>
            </a:r>
            <a:endParaRPr lang="en-IN"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Strategic Innovation</a:t>
            </a:r>
            <a:endParaRPr lang="en-IN" dirty="0"/>
          </a:p>
        </p:txBody>
      </p:sp>
      <p:sp>
        <p:nvSpPr>
          <p:cNvPr id="3" name="Content Placeholder 2"/>
          <p:cNvSpPr>
            <a:spLocks noGrp="1"/>
          </p:cNvSpPr>
          <p:nvPr>
            <p:ph idx="1"/>
          </p:nvPr>
        </p:nvSpPr>
        <p:spPr/>
        <p:txBody>
          <a:bodyPr>
            <a:normAutofit/>
          </a:bodyPr>
          <a:lstStyle/>
          <a:p>
            <a:pPr marL="0" indent="0" algn="just">
              <a:buNone/>
            </a:pPr>
            <a:r>
              <a:rPr lang="en-US" sz="2400" dirty="0"/>
              <a:t>It is an organization's process of reinventing or redesigning its corporate strategy to drive business growth, generate value for the company and its customers, and create competitive advantage. This type of innovation is essential for organizations to adapt to the speed of technology change.</a:t>
            </a:r>
            <a:endParaRPr lang="en-US" sz="2400" dirty="0"/>
          </a:p>
          <a:p>
            <a:pPr marL="0" indent="0" algn="just">
              <a:buNone/>
            </a:pPr>
            <a:endParaRPr lang="en-I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a:t>
            </a:r>
            <a:endParaRPr lang="en-IN" dirty="0"/>
          </a:p>
        </p:txBody>
      </p:sp>
      <p:sp>
        <p:nvSpPr>
          <p:cNvPr id="3" name="Content Placeholder 2"/>
          <p:cNvSpPr>
            <a:spLocks noGrp="1"/>
          </p:cNvSpPr>
          <p:nvPr>
            <p:ph idx="1"/>
          </p:nvPr>
        </p:nvSpPr>
        <p:spPr>
          <a:xfrm>
            <a:off x="1154954" y="2325594"/>
            <a:ext cx="8825659" cy="3416300"/>
          </a:xfrm>
        </p:spPr>
        <p:txBody>
          <a:bodyPr>
            <a:noAutofit/>
          </a:bodyPr>
          <a:lstStyle/>
          <a:p>
            <a:pPr algn="just"/>
            <a:r>
              <a:rPr lang="en-IN" sz="2000" dirty="0"/>
              <a:t>Long-term perspectives</a:t>
            </a:r>
            <a:endParaRPr lang="en-IN" sz="2000" dirty="0"/>
          </a:p>
          <a:p>
            <a:pPr algn="just"/>
            <a:r>
              <a:rPr lang="en-IN" sz="2000" dirty="0"/>
              <a:t>T</a:t>
            </a:r>
            <a:r>
              <a:rPr lang="en-US" sz="2000" dirty="0"/>
              <a:t>o create competitive space for the products and services offered by the organization.</a:t>
            </a:r>
            <a:endParaRPr lang="en-US" sz="2000" dirty="0"/>
          </a:p>
          <a:p>
            <a:pPr algn="just"/>
            <a:r>
              <a:rPr lang="en-US" sz="2000" dirty="0"/>
              <a:t>It combines business process with creative solutions to the problems in the organizations.</a:t>
            </a:r>
            <a:endParaRPr lang="en-US" sz="2000" dirty="0"/>
          </a:p>
          <a:p>
            <a:pPr algn="just"/>
            <a:r>
              <a:rPr lang="en-US" sz="2000" dirty="0"/>
              <a:t>Collect information about the business from unconventional sources and provide innovative strategy for the challenges in the organization</a:t>
            </a:r>
            <a:endParaRPr lang="en-US" sz="2000" dirty="0"/>
          </a:p>
          <a:p>
            <a:pPr algn="just"/>
            <a:r>
              <a:rPr lang="en-US" sz="2000" dirty="0"/>
              <a:t>Development of the organization process which can accommodate the changes in the organization and build robots business process and procedures in the organization. </a:t>
            </a:r>
            <a:endParaRPr 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of Strategic Innovation</a:t>
            </a:r>
            <a:endParaRPr lang="en-IN" dirty="0"/>
          </a:p>
        </p:txBody>
      </p:sp>
      <p:sp>
        <p:nvSpPr>
          <p:cNvPr id="3" name="Content Placeholder 2"/>
          <p:cNvSpPr>
            <a:spLocks noGrp="1"/>
          </p:cNvSpPr>
          <p:nvPr>
            <p:ph idx="1"/>
          </p:nvPr>
        </p:nvSpPr>
        <p:spPr/>
        <p:txBody>
          <a:bodyPr>
            <a:normAutofit/>
          </a:bodyPr>
          <a:lstStyle/>
          <a:p>
            <a:pPr>
              <a:buAutoNum type="arabicParenBoth"/>
            </a:pPr>
            <a:r>
              <a:rPr lang="en-US" sz="2400" dirty="0"/>
              <a:t>Managed innovation process </a:t>
            </a:r>
            <a:endParaRPr lang="en-US" sz="2400" dirty="0"/>
          </a:p>
          <a:p>
            <a:pPr>
              <a:buAutoNum type="arabicParenBoth"/>
            </a:pPr>
            <a:r>
              <a:rPr lang="en-US" sz="2400" dirty="0"/>
              <a:t>Strategic alignment </a:t>
            </a:r>
            <a:endParaRPr lang="en-US" sz="2400" dirty="0"/>
          </a:p>
          <a:p>
            <a:pPr>
              <a:buAutoNum type="arabicParenBoth"/>
            </a:pPr>
            <a:r>
              <a:rPr lang="en-US" sz="2400" dirty="0"/>
              <a:t>Industry foresight </a:t>
            </a:r>
            <a:endParaRPr lang="en-US" sz="2400" dirty="0"/>
          </a:p>
          <a:p>
            <a:pPr>
              <a:buAutoNum type="arabicParenBoth"/>
            </a:pPr>
            <a:r>
              <a:rPr lang="en-US" sz="2400" dirty="0"/>
              <a:t>Customer Insight </a:t>
            </a:r>
            <a:endParaRPr lang="en-US" sz="2400" dirty="0"/>
          </a:p>
          <a:p>
            <a:pPr>
              <a:buAutoNum type="arabicParenBoth"/>
            </a:pPr>
            <a:r>
              <a:rPr lang="en-US" sz="2400" dirty="0"/>
              <a:t>Technology </a:t>
            </a:r>
            <a:endParaRPr lang="en-US" sz="2400" dirty="0"/>
          </a:p>
          <a:p>
            <a:pPr>
              <a:buAutoNum type="arabicParenBoth"/>
            </a:pPr>
            <a:r>
              <a:rPr lang="en-US" sz="2400" dirty="0"/>
              <a:t>Organization Readiness </a:t>
            </a:r>
            <a:endParaRPr lang="en-US" sz="2400" dirty="0"/>
          </a:p>
          <a:p>
            <a:pPr>
              <a:buAutoNum type="arabicParenBoth"/>
            </a:pPr>
            <a:r>
              <a:rPr lang="en-US" sz="2400" dirty="0"/>
              <a:t>Implementation</a:t>
            </a:r>
            <a:endParaRPr lang="en-I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Thinking and Strategic Innovation</a:t>
            </a:r>
            <a:endParaRPr lang="en-IN" dirty="0"/>
          </a:p>
        </p:txBody>
      </p:sp>
      <p:sp>
        <p:nvSpPr>
          <p:cNvPr id="3" name="Content Placeholder 2"/>
          <p:cNvSpPr>
            <a:spLocks noGrp="1"/>
          </p:cNvSpPr>
          <p:nvPr>
            <p:ph idx="1"/>
          </p:nvPr>
        </p:nvSpPr>
        <p:spPr/>
        <p:txBody>
          <a:bodyPr>
            <a:noAutofit/>
          </a:bodyPr>
          <a:lstStyle/>
          <a:p>
            <a:pPr algn="just"/>
            <a:r>
              <a:rPr lang="en-US" sz="2000" dirty="0"/>
              <a:t>Design Thinking is a human-centered approach to innovation that integrates customer emotion and empathy, the possibilities of digital tech and analytics, and the requirements for business success.</a:t>
            </a:r>
            <a:endParaRPr lang="en-US" sz="2000" dirty="0"/>
          </a:p>
          <a:p>
            <a:pPr algn="just"/>
            <a:r>
              <a:rPr lang="en-US" sz="2000" dirty="0"/>
              <a:t> Integration of the strategy supports in the reaching the market better and improving the competitiveness of the firms in the market. </a:t>
            </a:r>
            <a:endParaRPr lang="en-US" sz="2000" dirty="0"/>
          </a:p>
          <a:p>
            <a:pPr algn="just"/>
            <a:r>
              <a:rPr lang="en-US" sz="2000" dirty="0"/>
              <a:t>In order to link design thinking and strategic innovation. Design thinking is based on the mental activity in understanding the things and process of the organization. While strategic innovation is based on the concept of strategic management.</a:t>
            </a:r>
            <a:endParaRPr lang="en-IN"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Benefits </a:t>
            </a:r>
            <a:endParaRPr lang="en-IN" dirty="0"/>
          </a:p>
        </p:txBody>
      </p:sp>
      <p:sp>
        <p:nvSpPr>
          <p:cNvPr id="3" name="Content Placeholder 2"/>
          <p:cNvSpPr>
            <a:spLocks noGrp="1"/>
          </p:cNvSpPr>
          <p:nvPr>
            <p:ph idx="1"/>
          </p:nvPr>
        </p:nvSpPr>
        <p:spPr/>
        <p:txBody>
          <a:bodyPr>
            <a:normAutofit/>
          </a:bodyPr>
          <a:lstStyle/>
          <a:p>
            <a:pPr algn="just"/>
            <a:r>
              <a:rPr lang="en-US" sz="2400" dirty="0"/>
              <a:t>Concept of design thinking has supported in developing products and services which match the expectation of the customers and there by supporting the strategy of the organization.</a:t>
            </a:r>
            <a:endParaRPr lang="en-US" sz="2400" dirty="0"/>
          </a:p>
          <a:p>
            <a:pPr algn="just"/>
            <a:r>
              <a:rPr lang="en-US" sz="2400" dirty="0"/>
              <a:t>Design thinking provides an opportunity to integration of new ideas and thinking which is essential for the development of right strategy for the organization</a:t>
            </a:r>
            <a:endParaRPr lang="en-IN"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Practices of Integrating Design Thinking in Strategic Innovation</a:t>
            </a:r>
            <a:endParaRPr lang="en-IN" dirty="0"/>
          </a:p>
        </p:txBody>
      </p:sp>
      <p:sp>
        <p:nvSpPr>
          <p:cNvPr id="3" name="Content Placeholder 2"/>
          <p:cNvSpPr>
            <a:spLocks noGrp="1"/>
          </p:cNvSpPr>
          <p:nvPr>
            <p:ph idx="1"/>
          </p:nvPr>
        </p:nvSpPr>
        <p:spPr/>
        <p:txBody>
          <a:bodyPr>
            <a:normAutofit/>
          </a:bodyPr>
          <a:lstStyle/>
          <a:p>
            <a:pPr marL="0" indent="0">
              <a:buNone/>
            </a:pPr>
            <a:r>
              <a:rPr lang="en-US" sz="2800" dirty="0"/>
              <a:t>(1) Reviewing </a:t>
            </a:r>
            <a:endParaRPr lang="en-US" sz="2800" dirty="0"/>
          </a:p>
          <a:p>
            <a:pPr marL="0" indent="0">
              <a:buNone/>
            </a:pPr>
            <a:r>
              <a:rPr lang="en-US" sz="2800" dirty="0"/>
              <a:t>(2) Simulating</a:t>
            </a:r>
            <a:endParaRPr lang="en-US" sz="2800" dirty="0"/>
          </a:p>
          <a:p>
            <a:pPr marL="0" indent="0">
              <a:buNone/>
            </a:pPr>
            <a:r>
              <a:rPr lang="en-US" sz="2800" dirty="0"/>
              <a:t>(3) Conversing</a:t>
            </a:r>
            <a:endParaRPr lang="en-US" sz="2800" dirty="0"/>
          </a:p>
          <a:p>
            <a:pPr marL="0" indent="0">
              <a:buNone/>
            </a:pPr>
            <a:r>
              <a:rPr lang="en-US" sz="2800" dirty="0"/>
              <a:t>(4) Collaborating.</a:t>
            </a:r>
            <a:endParaRPr lang="en-IN" sz="28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0</TotalTime>
  <Words>4347</Words>
  <Application>WPS Presentation</Application>
  <PresentationFormat>Widescreen</PresentationFormat>
  <Paragraphs>86</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Wingdings 3</vt:lpstr>
      <vt:lpstr>Arial</vt:lpstr>
      <vt:lpstr>Century Gothic</vt:lpstr>
      <vt:lpstr>Microsoft YaHei</vt:lpstr>
      <vt:lpstr>Arial Unicode MS</vt:lpstr>
      <vt:lpstr>Calibri</vt:lpstr>
      <vt:lpstr>Ion Boardroom</vt:lpstr>
      <vt:lpstr>Design Thinking for Strategic Innovation</vt:lpstr>
      <vt:lpstr>Strategic Management and  Innovation Management</vt:lpstr>
      <vt:lpstr>Types of Innovations</vt:lpstr>
      <vt:lpstr>Disruptive vs. Sustaining innovation</vt:lpstr>
      <vt:lpstr>Radical vs. incremental innovation</vt:lpstr>
      <vt:lpstr>The Innovation Matrix</vt:lpstr>
      <vt:lpstr>Architectural vs. Modular Innovation</vt:lpstr>
      <vt:lpstr>Strategic Innovation</vt:lpstr>
      <vt:lpstr>Features </vt:lpstr>
      <vt:lpstr>Scope of Strategic Innovation</vt:lpstr>
      <vt:lpstr>Design Thinking and Strategic Innovation</vt:lpstr>
      <vt:lpstr>Benefits </vt:lpstr>
      <vt:lpstr>Practices of Integrating Design Thinking in Strategic Innovation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 for Strategic Innovation</dc:title>
  <dc:creator>gajendra</dc:creator>
  <cp:lastModifiedBy>surekha Bhangari</cp:lastModifiedBy>
  <cp:revision>2</cp:revision>
  <dcterms:created xsi:type="dcterms:W3CDTF">2022-08-12T04:16:00Z</dcterms:created>
  <dcterms:modified xsi:type="dcterms:W3CDTF">2024-05-11T16:38:22Z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042CF42BE747443DBE1E823F20C43BAD_12</vt:lpwstr>
  </property>
  <property fmtid="{D5CDD505-2E9C-101B-9397-08002B2CF9AE}" pid="3" name="KSOProductBuildVer">
    <vt:lpwstr>1033-12.2.0.16909</vt:lpwstr>
  </property>
</Properties>
</file>