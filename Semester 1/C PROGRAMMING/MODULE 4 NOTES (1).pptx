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7569200" cy="10706100"/>
  <p:notesSz cx="7569200" cy="107061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8891"/>
            <a:ext cx="6433820" cy="22482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95416"/>
            <a:ext cx="5298440" cy="267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460" y="2462403"/>
            <a:ext cx="3292602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8138" y="2462403"/>
            <a:ext cx="3292602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460" y="428244"/>
            <a:ext cx="6812280" cy="17129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460" y="2462403"/>
            <a:ext cx="6812280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3528" y="9956673"/>
            <a:ext cx="2422144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460" y="9956673"/>
            <a:ext cx="1740916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9824" y="9956673"/>
            <a:ext cx="1740916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9896" y="1029970"/>
            <a:ext cx="5856605" cy="1263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MODULE </a:t>
            </a:r>
            <a:r>
              <a:rPr dirty="0" sz="1400" b="1">
                <a:latin typeface="Times New Roman"/>
                <a:cs typeface="Times New Roman"/>
              </a:rPr>
              <a:t>4</a:t>
            </a:r>
            <a:endParaRPr sz="140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  <a:spcBef>
                <a:spcPts val="1095"/>
              </a:spcBef>
            </a:pPr>
            <a:r>
              <a:rPr dirty="0" sz="1400" spc="-5" b="1">
                <a:latin typeface="Times New Roman"/>
                <a:cs typeface="Times New Roman"/>
              </a:rPr>
              <a:t>TWO-DIMENSIONAL ARRAYS</a:t>
            </a:r>
            <a:endParaRPr sz="1400">
              <a:latin typeface="Times New Roman"/>
              <a:cs typeface="Times New Roman"/>
            </a:endParaRPr>
          </a:p>
          <a:p>
            <a:pPr algn="just" marL="114300" marR="5080" indent="456565">
              <a:lnSpc>
                <a:spcPct val="108700"/>
              </a:lnSpc>
              <a:spcBef>
                <a:spcPts val="790"/>
              </a:spcBef>
            </a:pPr>
            <a:r>
              <a:rPr dirty="0" sz="1150" spc="20">
                <a:latin typeface="Times New Roman"/>
                <a:cs typeface="Times New Roman"/>
              </a:rPr>
              <a:t>A two-dimensional </a:t>
            </a:r>
            <a:r>
              <a:rPr dirty="0" sz="1150" spc="15">
                <a:latin typeface="Times New Roman"/>
                <a:cs typeface="Times New Roman"/>
              </a:rPr>
              <a:t>array is specified using </a:t>
            </a:r>
            <a:r>
              <a:rPr dirty="0" sz="1150" spc="20">
                <a:latin typeface="Times New Roman"/>
                <a:cs typeface="Times New Roman"/>
              </a:rPr>
              <a:t>two </a:t>
            </a:r>
            <a:r>
              <a:rPr dirty="0" sz="1150" spc="15">
                <a:latin typeface="Times New Roman"/>
                <a:cs typeface="Times New Roman"/>
              </a:rPr>
              <a:t>subscripts </a:t>
            </a:r>
            <a:r>
              <a:rPr dirty="0" sz="1150" spc="20">
                <a:latin typeface="Times New Roman"/>
                <a:cs typeface="Times New Roman"/>
              </a:rPr>
              <a:t>where </a:t>
            </a:r>
            <a:r>
              <a:rPr dirty="0" sz="1150" spc="15">
                <a:latin typeface="Times New Roman"/>
                <a:cs typeface="Times New Roman"/>
              </a:rPr>
              <a:t>one </a:t>
            </a:r>
            <a:r>
              <a:rPr dirty="0" sz="1150" spc="20">
                <a:latin typeface="Times New Roman"/>
                <a:cs typeface="Times New Roman"/>
              </a:rPr>
              <a:t>subscript </a:t>
            </a:r>
            <a:r>
              <a:rPr dirty="0" sz="1150" spc="15">
                <a:latin typeface="Times New Roman"/>
                <a:cs typeface="Times New Roman"/>
              </a:rPr>
              <a:t>denotes  </a:t>
            </a:r>
            <a:r>
              <a:rPr dirty="0" sz="1150" spc="20">
                <a:latin typeface="Times New Roman"/>
                <a:cs typeface="Times New Roman"/>
              </a:rPr>
              <a:t>row</a:t>
            </a:r>
            <a:r>
              <a:rPr dirty="0" sz="1150" spc="-3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and </a:t>
            </a:r>
            <a:r>
              <a:rPr dirty="0" sz="1150" spc="15">
                <a:latin typeface="Times New Roman"/>
                <a:cs typeface="Times New Roman"/>
              </a:rPr>
              <a:t>the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other</a:t>
            </a:r>
            <a:r>
              <a:rPr dirty="0" sz="1150" spc="4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denotes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column.</a:t>
            </a:r>
            <a:r>
              <a:rPr dirty="0" sz="1150" spc="-10">
                <a:latin typeface="Times New Roman"/>
                <a:cs typeface="Times New Roman"/>
              </a:rPr>
              <a:t> </a:t>
            </a:r>
            <a:r>
              <a:rPr dirty="0" sz="1150" spc="35">
                <a:latin typeface="Times New Roman"/>
                <a:cs typeface="Times New Roman"/>
              </a:rPr>
              <a:t>Two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dimensional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array</a:t>
            </a:r>
            <a:r>
              <a:rPr dirty="0" sz="1150" spc="1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can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be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viewed</a:t>
            </a:r>
            <a:r>
              <a:rPr dirty="0" sz="1150" spc="-5">
                <a:latin typeface="Times New Roman"/>
                <a:cs typeface="Times New Roman"/>
              </a:rPr>
              <a:t> </a:t>
            </a:r>
            <a:r>
              <a:rPr dirty="0" sz="1150" spc="30">
                <a:latin typeface="Times New Roman"/>
                <a:cs typeface="Times New Roman"/>
              </a:rPr>
              <a:t>as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an</a:t>
            </a:r>
            <a:r>
              <a:rPr dirty="0" sz="1150" spc="-1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array of</a:t>
            </a:r>
            <a:r>
              <a:rPr dirty="0" sz="1150" spc="-45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arrays  </a:t>
            </a:r>
            <a:r>
              <a:rPr dirty="0" sz="1150" spc="15">
                <a:latin typeface="Times New Roman"/>
                <a:cs typeface="Times New Roman"/>
              </a:rPr>
              <a:t>as </a:t>
            </a:r>
            <a:r>
              <a:rPr dirty="0" sz="1150" spc="20">
                <a:latin typeface="Times New Roman"/>
                <a:cs typeface="Times New Roman"/>
              </a:rPr>
              <a:t>shown below.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4117975"/>
            <a:ext cx="5645785" cy="3453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150" spc="25" b="1">
                <a:latin typeface="Times New Roman"/>
                <a:cs typeface="Times New Roman"/>
              </a:rPr>
              <a:t>Declaring Two-dimensional</a:t>
            </a:r>
            <a:r>
              <a:rPr dirty="0" sz="1150" spc="-10" b="1">
                <a:latin typeface="Times New Roman"/>
                <a:cs typeface="Times New Roman"/>
              </a:rPr>
              <a:t> </a:t>
            </a:r>
            <a:r>
              <a:rPr dirty="0" sz="1150" spc="25" b="1">
                <a:latin typeface="Times New Roman"/>
                <a:cs typeface="Times New Roman"/>
              </a:rPr>
              <a:t>array</a:t>
            </a:r>
            <a:endParaRPr sz="1150">
              <a:latin typeface="Times New Roman"/>
              <a:cs typeface="Times New Roman"/>
            </a:endParaRPr>
          </a:p>
          <a:p>
            <a:pPr algn="just" marL="12700" marR="149225" indent="456565">
              <a:lnSpc>
                <a:spcPct val="108300"/>
              </a:lnSpc>
              <a:spcBef>
                <a:spcPts val="740"/>
              </a:spcBef>
            </a:pPr>
            <a:r>
              <a:rPr dirty="0" sz="1150" spc="20">
                <a:latin typeface="Times New Roman"/>
                <a:cs typeface="Times New Roman"/>
              </a:rPr>
              <a:t>The </a:t>
            </a:r>
            <a:r>
              <a:rPr dirty="0" sz="1150" spc="15">
                <a:latin typeface="Times New Roman"/>
                <a:cs typeface="Times New Roman"/>
              </a:rPr>
              <a:t>declaration statement tells the </a:t>
            </a:r>
            <a:r>
              <a:rPr dirty="0" sz="1150" spc="20">
                <a:latin typeface="Times New Roman"/>
                <a:cs typeface="Times New Roman"/>
              </a:rPr>
              <a:t>compiler </a:t>
            </a:r>
            <a:r>
              <a:rPr dirty="0" sz="1150" spc="15">
                <a:latin typeface="Times New Roman"/>
                <a:cs typeface="Times New Roman"/>
              </a:rPr>
              <a:t>the </a:t>
            </a:r>
            <a:r>
              <a:rPr dirty="0" sz="1150" spc="25">
                <a:latin typeface="Times New Roman"/>
                <a:cs typeface="Times New Roman"/>
              </a:rPr>
              <a:t>name </a:t>
            </a:r>
            <a:r>
              <a:rPr dirty="0" sz="1150" spc="15">
                <a:latin typeface="Times New Roman"/>
                <a:cs typeface="Times New Roman"/>
              </a:rPr>
              <a:t>of </a:t>
            </a:r>
            <a:r>
              <a:rPr dirty="0" sz="1150" spc="20">
                <a:latin typeface="Times New Roman"/>
                <a:cs typeface="Times New Roman"/>
              </a:rPr>
              <a:t>the </a:t>
            </a:r>
            <a:r>
              <a:rPr dirty="0" sz="1150" spc="15">
                <a:latin typeface="Times New Roman"/>
                <a:cs typeface="Times New Roman"/>
              </a:rPr>
              <a:t>array, </a:t>
            </a:r>
            <a:r>
              <a:rPr dirty="0" sz="1150" spc="25">
                <a:latin typeface="Times New Roman"/>
                <a:cs typeface="Times New Roman"/>
              </a:rPr>
              <a:t>the </a:t>
            </a:r>
            <a:r>
              <a:rPr dirty="0" sz="1150" spc="15">
                <a:latin typeface="Times New Roman"/>
                <a:cs typeface="Times New Roman"/>
              </a:rPr>
              <a:t>data </a:t>
            </a:r>
            <a:r>
              <a:rPr dirty="0" sz="1150" spc="20">
                <a:latin typeface="Times New Roman"/>
                <a:cs typeface="Times New Roman"/>
              </a:rPr>
              <a:t>type </a:t>
            </a:r>
            <a:r>
              <a:rPr dirty="0" sz="1150" spc="10">
                <a:latin typeface="Times New Roman"/>
                <a:cs typeface="Times New Roman"/>
              </a:rPr>
              <a:t>of  </a:t>
            </a:r>
            <a:r>
              <a:rPr dirty="0" sz="1150" spc="20">
                <a:latin typeface="Times New Roman"/>
                <a:cs typeface="Times New Roman"/>
              </a:rPr>
              <a:t>each element </a:t>
            </a:r>
            <a:r>
              <a:rPr dirty="0" sz="1150" spc="25">
                <a:latin typeface="Times New Roman"/>
                <a:cs typeface="Times New Roman"/>
              </a:rPr>
              <a:t>in </a:t>
            </a:r>
            <a:r>
              <a:rPr dirty="0" sz="1150" spc="15">
                <a:latin typeface="Times New Roman"/>
                <a:cs typeface="Times New Roman"/>
              </a:rPr>
              <a:t>the </a:t>
            </a:r>
            <a:r>
              <a:rPr dirty="0" sz="1150" spc="25">
                <a:latin typeface="Times New Roman"/>
                <a:cs typeface="Times New Roman"/>
              </a:rPr>
              <a:t>array </a:t>
            </a:r>
            <a:r>
              <a:rPr dirty="0" sz="1150" spc="20">
                <a:latin typeface="Times New Roman"/>
                <a:cs typeface="Times New Roman"/>
              </a:rPr>
              <a:t>and </a:t>
            </a:r>
            <a:r>
              <a:rPr dirty="0" sz="1150" spc="15">
                <a:latin typeface="Times New Roman"/>
                <a:cs typeface="Times New Roman"/>
              </a:rPr>
              <a:t>the size of </a:t>
            </a:r>
            <a:r>
              <a:rPr dirty="0" sz="1150" spc="25">
                <a:latin typeface="Times New Roman"/>
                <a:cs typeface="Times New Roman"/>
              </a:rPr>
              <a:t>each </a:t>
            </a:r>
            <a:r>
              <a:rPr dirty="0" sz="1150" spc="20">
                <a:latin typeface="Times New Roman"/>
                <a:cs typeface="Times New Roman"/>
              </a:rPr>
              <a:t>dimension. A two-dimensional array </a:t>
            </a:r>
            <a:r>
              <a:rPr dirty="0" sz="1150" spc="15">
                <a:latin typeface="Times New Roman"/>
                <a:cs typeface="Times New Roman"/>
              </a:rPr>
              <a:t>can</a:t>
            </a:r>
            <a:r>
              <a:rPr dirty="0" sz="1150" spc="-16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be  declared</a:t>
            </a:r>
            <a:r>
              <a:rPr dirty="0" sz="1150" spc="-15">
                <a:latin typeface="Times New Roman"/>
                <a:cs typeface="Times New Roman"/>
              </a:rPr>
              <a:t> </a:t>
            </a:r>
            <a:r>
              <a:rPr dirty="0" sz="1150" spc="45">
                <a:latin typeface="Times New Roman"/>
                <a:cs typeface="Times New Roman"/>
              </a:rPr>
              <a:t>as</a:t>
            </a:r>
            <a:endParaRPr sz="11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919"/>
              </a:spcBef>
            </a:pPr>
            <a:r>
              <a:rPr dirty="0" sz="1150" spc="20">
                <a:latin typeface="Times New Roman"/>
                <a:cs typeface="Times New Roman"/>
              </a:rPr>
              <a:t>data_type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array_name[row_size][column_size];</a:t>
            </a:r>
            <a:endParaRPr sz="1150">
              <a:latin typeface="Times New Roman"/>
              <a:cs typeface="Times New Roman"/>
            </a:endParaRPr>
          </a:p>
          <a:p>
            <a:pPr algn="just" marL="12700" marR="241935">
              <a:lnSpc>
                <a:spcPct val="112200"/>
              </a:lnSpc>
              <a:spcBef>
                <a:spcPts val="700"/>
              </a:spcBef>
            </a:pPr>
            <a:r>
              <a:rPr dirty="0" sz="1150" spc="20">
                <a:latin typeface="Times New Roman"/>
                <a:cs typeface="Times New Roman"/>
              </a:rPr>
              <a:t>A two dimensional </a:t>
            </a:r>
            <a:r>
              <a:rPr dirty="0" sz="1150" spc="25">
                <a:latin typeface="Times New Roman"/>
                <a:cs typeface="Times New Roman"/>
              </a:rPr>
              <a:t>m </a:t>
            </a:r>
            <a:r>
              <a:rPr dirty="0" sz="1150" spc="20">
                <a:latin typeface="Times New Roman"/>
                <a:cs typeface="Times New Roman"/>
              </a:rPr>
              <a:t>X </a:t>
            </a:r>
            <a:r>
              <a:rPr dirty="0" sz="1150" spc="15">
                <a:latin typeface="Times New Roman"/>
                <a:cs typeface="Times New Roman"/>
              </a:rPr>
              <a:t>n </a:t>
            </a:r>
            <a:r>
              <a:rPr dirty="0" sz="1150" spc="20">
                <a:latin typeface="Times New Roman"/>
                <a:cs typeface="Times New Roman"/>
              </a:rPr>
              <a:t>array </a:t>
            </a:r>
            <a:r>
              <a:rPr dirty="0" sz="1150" spc="15">
                <a:latin typeface="Times New Roman"/>
                <a:cs typeface="Times New Roman"/>
              </a:rPr>
              <a:t>is </a:t>
            </a:r>
            <a:r>
              <a:rPr dirty="0" sz="1150" spc="20">
                <a:latin typeface="Times New Roman"/>
                <a:cs typeface="Times New Roman"/>
              </a:rPr>
              <a:t>an array </a:t>
            </a:r>
            <a:r>
              <a:rPr dirty="0" sz="1150" spc="15">
                <a:latin typeface="Times New Roman"/>
                <a:cs typeface="Times New Roman"/>
              </a:rPr>
              <a:t>that </a:t>
            </a:r>
            <a:r>
              <a:rPr dirty="0" sz="1150" spc="20">
                <a:latin typeface="Times New Roman"/>
                <a:cs typeface="Times New Roman"/>
              </a:rPr>
              <a:t>can contain </a:t>
            </a:r>
            <a:r>
              <a:rPr dirty="0" sz="1150" spc="25">
                <a:latin typeface="Times New Roman"/>
                <a:cs typeface="Times New Roman"/>
              </a:rPr>
              <a:t>m*n </a:t>
            </a:r>
            <a:r>
              <a:rPr dirty="0" sz="1150" spc="15">
                <a:latin typeface="Times New Roman"/>
                <a:cs typeface="Times New Roman"/>
              </a:rPr>
              <a:t>data </a:t>
            </a:r>
            <a:r>
              <a:rPr dirty="0" sz="1150" spc="20">
                <a:latin typeface="Times New Roman"/>
                <a:cs typeface="Times New Roman"/>
              </a:rPr>
              <a:t>elements and each  element </a:t>
            </a:r>
            <a:r>
              <a:rPr dirty="0" sz="1150" spc="15">
                <a:latin typeface="Times New Roman"/>
                <a:cs typeface="Times New Roman"/>
              </a:rPr>
              <a:t>is </a:t>
            </a:r>
            <a:r>
              <a:rPr dirty="0" sz="1150" spc="20">
                <a:latin typeface="Times New Roman"/>
                <a:cs typeface="Times New Roman"/>
              </a:rPr>
              <a:t>accessed using two subscripts </a:t>
            </a:r>
            <a:r>
              <a:rPr dirty="0" sz="1150" spc="5">
                <a:latin typeface="Times New Roman"/>
                <a:cs typeface="Times New Roman"/>
              </a:rPr>
              <a:t>i </a:t>
            </a:r>
            <a:r>
              <a:rPr dirty="0" sz="1150" spc="20">
                <a:latin typeface="Times New Roman"/>
                <a:cs typeface="Times New Roman"/>
              </a:rPr>
              <a:t>and </a:t>
            </a:r>
            <a:r>
              <a:rPr dirty="0" sz="1150" spc="5">
                <a:latin typeface="Times New Roman"/>
                <a:cs typeface="Times New Roman"/>
              </a:rPr>
              <a:t>j </a:t>
            </a:r>
            <a:r>
              <a:rPr dirty="0" sz="1150" spc="20">
                <a:latin typeface="Times New Roman"/>
                <a:cs typeface="Times New Roman"/>
              </a:rPr>
              <a:t>where </a:t>
            </a:r>
            <a:r>
              <a:rPr dirty="0" sz="1150" spc="25">
                <a:latin typeface="Times New Roman"/>
                <a:cs typeface="Times New Roman"/>
              </a:rPr>
              <a:t>i&lt;=m </a:t>
            </a:r>
            <a:r>
              <a:rPr dirty="0" sz="1150" spc="20">
                <a:latin typeface="Times New Roman"/>
                <a:cs typeface="Times New Roman"/>
              </a:rPr>
              <a:t>and j&lt;=n</a:t>
            </a:r>
            <a:endParaRPr sz="11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865"/>
              </a:spcBef>
            </a:pPr>
            <a:r>
              <a:rPr dirty="0" sz="1150" spc="20">
                <a:latin typeface="Times New Roman"/>
                <a:cs typeface="Times New Roman"/>
              </a:rPr>
              <a:t>Example: </a:t>
            </a:r>
            <a:r>
              <a:rPr dirty="0" sz="1150" spc="15">
                <a:latin typeface="Times New Roman"/>
                <a:cs typeface="Times New Roman"/>
              </a:rPr>
              <a:t>int</a:t>
            </a:r>
            <a:r>
              <a:rPr dirty="0" sz="1150" spc="20">
                <a:latin typeface="Times New Roman"/>
                <a:cs typeface="Times New Roman"/>
              </a:rPr>
              <a:t> marks[3][5];</a:t>
            </a:r>
            <a:endParaRPr sz="11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935"/>
              </a:spcBef>
            </a:pPr>
            <a:r>
              <a:rPr dirty="0" sz="1150" spc="20">
                <a:latin typeface="Times New Roman"/>
                <a:cs typeface="Times New Roman"/>
              </a:rPr>
              <a:t>A two-dimensional array </a:t>
            </a:r>
            <a:r>
              <a:rPr dirty="0" sz="1150" spc="15">
                <a:latin typeface="Times New Roman"/>
                <a:cs typeface="Times New Roman"/>
              </a:rPr>
              <a:t>called </a:t>
            </a:r>
            <a:r>
              <a:rPr dirty="0" sz="1150" spc="20">
                <a:latin typeface="Times New Roman"/>
                <a:cs typeface="Times New Roman"/>
              </a:rPr>
              <a:t>marks </a:t>
            </a:r>
            <a:r>
              <a:rPr dirty="0" sz="1150" spc="15">
                <a:latin typeface="Times New Roman"/>
                <a:cs typeface="Times New Roman"/>
              </a:rPr>
              <a:t>is declared </a:t>
            </a:r>
            <a:r>
              <a:rPr dirty="0" sz="1150" spc="10">
                <a:latin typeface="Times New Roman"/>
                <a:cs typeface="Times New Roman"/>
              </a:rPr>
              <a:t>that </a:t>
            </a:r>
            <a:r>
              <a:rPr dirty="0" sz="1150" spc="20">
                <a:latin typeface="Times New Roman"/>
                <a:cs typeface="Times New Roman"/>
              </a:rPr>
              <a:t>contains </a:t>
            </a:r>
            <a:r>
              <a:rPr dirty="0" sz="1150" spc="15">
                <a:latin typeface="Times New Roman"/>
                <a:cs typeface="Times New Roman"/>
              </a:rPr>
              <a:t>3 </a:t>
            </a:r>
            <a:r>
              <a:rPr dirty="0" sz="1150" spc="20">
                <a:latin typeface="Times New Roman"/>
                <a:cs typeface="Times New Roman"/>
              </a:rPr>
              <a:t>rows and </a:t>
            </a:r>
            <a:r>
              <a:rPr dirty="0" sz="1150" spc="15">
                <a:latin typeface="Times New Roman"/>
                <a:cs typeface="Times New Roman"/>
              </a:rPr>
              <a:t>5</a:t>
            </a:r>
            <a:r>
              <a:rPr dirty="0" sz="1150" spc="14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columns.</a:t>
            </a:r>
            <a:endParaRPr sz="1150">
              <a:latin typeface="Times New Roman"/>
              <a:cs typeface="Times New Roman"/>
            </a:endParaRPr>
          </a:p>
          <a:p>
            <a:pPr marL="12700" marR="5080" indent="456565">
              <a:lnSpc>
                <a:spcPct val="108200"/>
              </a:lnSpc>
              <a:spcBef>
                <a:spcPts val="775"/>
              </a:spcBef>
            </a:pPr>
            <a:r>
              <a:rPr dirty="0" sz="1150" spc="20">
                <a:latin typeface="Times New Roman"/>
                <a:cs typeface="Times New Roman"/>
              </a:rPr>
              <a:t>There </a:t>
            </a:r>
            <a:r>
              <a:rPr dirty="0" sz="1150" spc="15">
                <a:latin typeface="Times New Roman"/>
                <a:cs typeface="Times New Roman"/>
              </a:rPr>
              <a:t>are </a:t>
            </a:r>
            <a:r>
              <a:rPr dirty="0" sz="1150" spc="20">
                <a:latin typeface="Times New Roman"/>
                <a:cs typeface="Times New Roman"/>
              </a:rPr>
              <a:t>two ways </a:t>
            </a:r>
            <a:r>
              <a:rPr dirty="0" sz="1150" spc="15">
                <a:latin typeface="Times New Roman"/>
                <a:cs typeface="Times New Roman"/>
              </a:rPr>
              <a:t>of storing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25">
                <a:latin typeface="Times New Roman"/>
                <a:cs typeface="Times New Roman"/>
              </a:rPr>
              <a:t>two-dimensional </a:t>
            </a:r>
            <a:r>
              <a:rPr dirty="0" sz="1150" spc="15">
                <a:latin typeface="Times New Roman"/>
                <a:cs typeface="Times New Roman"/>
              </a:rPr>
              <a:t>array </a:t>
            </a:r>
            <a:r>
              <a:rPr dirty="0" sz="1150" spc="20">
                <a:latin typeface="Times New Roman"/>
                <a:cs typeface="Times New Roman"/>
              </a:rPr>
              <a:t>in </a:t>
            </a:r>
            <a:r>
              <a:rPr dirty="0" sz="1150" spc="25">
                <a:latin typeface="Times New Roman"/>
                <a:cs typeface="Times New Roman"/>
              </a:rPr>
              <a:t>memory. The </a:t>
            </a:r>
            <a:r>
              <a:rPr dirty="0" sz="1150" spc="10">
                <a:latin typeface="Times New Roman"/>
                <a:cs typeface="Times New Roman"/>
              </a:rPr>
              <a:t>first </a:t>
            </a:r>
            <a:r>
              <a:rPr dirty="0" sz="1150" spc="20">
                <a:latin typeface="Times New Roman"/>
                <a:cs typeface="Times New Roman"/>
              </a:rPr>
              <a:t>ways </a:t>
            </a:r>
            <a:r>
              <a:rPr dirty="0" sz="1150" spc="15">
                <a:latin typeface="Times New Roman"/>
                <a:cs typeface="Times New Roman"/>
              </a:rPr>
              <a:t>is  </a:t>
            </a:r>
            <a:r>
              <a:rPr dirty="0" sz="1150" spc="20">
                <a:latin typeface="Times New Roman"/>
                <a:cs typeface="Times New Roman"/>
              </a:rPr>
              <a:t>row major </a:t>
            </a:r>
            <a:r>
              <a:rPr dirty="0" sz="1150" spc="15">
                <a:latin typeface="Times New Roman"/>
                <a:cs typeface="Times New Roman"/>
              </a:rPr>
              <a:t>order </a:t>
            </a:r>
            <a:r>
              <a:rPr dirty="0" sz="1150" spc="20">
                <a:latin typeface="Times New Roman"/>
                <a:cs typeface="Times New Roman"/>
              </a:rPr>
              <a:t>and </a:t>
            </a:r>
            <a:r>
              <a:rPr dirty="0" sz="1150" spc="15">
                <a:latin typeface="Times New Roman"/>
                <a:cs typeface="Times New Roman"/>
              </a:rPr>
              <a:t>the second is </a:t>
            </a:r>
            <a:r>
              <a:rPr dirty="0" sz="1150" spc="20">
                <a:latin typeface="Times New Roman"/>
                <a:cs typeface="Times New Roman"/>
              </a:rPr>
              <a:t>column major </a:t>
            </a:r>
            <a:r>
              <a:rPr dirty="0" sz="1150" spc="15">
                <a:latin typeface="Times New Roman"/>
                <a:cs typeface="Times New Roman"/>
              </a:rPr>
              <a:t>order. In </a:t>
            </a:r>
            <a:r>
              <a:rPr dirty="0" sz="1150" spc="20">
                <a:latin typeface="Times New Roman"/>
                <a:cs typeface="Times New Roman"/>
              </a:rPr>
              <a:t>row major </a:t>
            </a:r>
            <a:r>
              <a:rPr dirty="0" sz="1150" spc="15">
                <a:latin typeface="Times New Roman"/>
                <a:cs typeface="Times New Roman"/>
              </a:rPr>
              <a:t>order, the </a:t>
            </a:r>
            <a:r>
              <a:rPr dirty="0" sz="1150" spc="20">
                <a:latin typeface="Times New Roman"/>
                <a:cs typeface="Times New Roman"/>
              </a:rPr>
              <a:t>elements </a:t>
            </a:r>
            <a:r>
              <a:rPr dirty="0" sz="1150" spc="10">
                <a:latin typeface="Times New Roman"/>
                <a:cs typeface="Times New Roman"/>
              </a:rPr>
              <a:t>of  </a:t>
            </a:r>
            <a:r>
              <a:rPr dirty="0" sz="1150" spc="15">
                <a:latin typeface="Times New Roman"/>
                <a:cs typeface="Times New Roman"/>
              </a:rPr>
              <a:t>the </a:t>
            </a:r>
            <a:r>
              <a:rPr dirty="0" sz="1150" spc="10">
                <a:latin typeface="Times New Roman"/>
                <a:cs typeface="Times New Roman"/>
              </a:rPr>
              <a:t>first </a:t>
            </a:r>
            <a:r>
              <a:rPr dirty="0" sz="1150" spc="20">
                <a:latin typeface="Times New Roman"/>
                <a:cs typeface="Times New Roman"/>
              </a:rPr>
              <a:t>row </a:t>
            </a:r>
            <a:r>
              <a:rPr dirty="0" sz="1150" spc="15">
                <a:latin typeface="Times New Roman"/>
                <a:cs typeface="Times New Roman"/>
              </a:rPr>
              <a:t>are </a:t>
            </a:r>
            <a:r>
              <a:rPr dirty="0" sz="1150" spc="20">
                <a:latin typeface="Times New Roman"/>
                <a:cs typeface="Times New Roman"/>
              </a:rPr>
              <a:t>stored </a:t>
            </a:r>
            <a:r>
              <a:rPr dirty="0" sz="1150" spc="15">
                <a:latin typeface="Times New Roman"/>
                <a:cs typeface="Times New Roman"/>
              </a:rPr>
              <a:t>before the </a:t>
            </a:r>
            <a:r>
              <a:rPr dirty="0" sz="1150" spc="20">
                <a:latin typeface="Times New Roman"/>
                <a:cs typeface="Times New Roman"/>
              </a:rPr>
              <a:t>elements </a:t>
            </a:r>
            <a:r>
              <a:rPr dirty="0" sz="1150" spc="10">
                <a:latin typeface="Times New Roman"/>
                <a:cs typeface="Times New Roman"/>
              </a:rPr>
              <a:t>of </a:t>
            </a:r>
            <a:r>
              <a:rPr dirty="0" sz="1150" spc="15">
                <a:latin typeface="Times New Roman"/>
                <a:cs typeface="Times New Roman"/>
              </a:rPr>
              <a:t>the second </a:t>
            </a:r>
            <a:r>
              <a:rPr dirty="0" sz="1150" spc="20">
                <a:latin typeface="Times New Roman"/>
                <a:cs typeface="Times New Roman"/>
              </a:rPr>
              <a:t>and third </a:t>
            </a:r>
            <a:r>
              <a:rPr dirty="0" sz="1150" spc="15">
                <a:latin typeface="Times New Roman"/>
                <a:cs typeface="Times New Roman"/>
              </a:rPr>
              <a:t>row. i.e., the </a:t>
            </a:r>
            <a:r>
              <a:rPr dirty="0" sz="1150" spc="20">
                <a:latin typeface="Times New Roman"/>
                <a:cs typeface="Times New Roman"/>
              </a:rPr>
              <a:t>elements </a:t>
            </a:r>
            <a:r>
              <a:rPr dirty="0" sz="1150" spc="15">
                <a:latin typeface="Times New Roman"/>
                <a:cs typeface="Times New Roman"/>
              </a:rPr>
              <a:t>of  the array are stored </a:t>
            </a:r>
            <a:r>
              <a:rPr dirty="0" sz="1150" spc="20">
                <a:latin typeface="Times New Roman"/>
                <a:cs typeface="Times New Roman"/>
              </a:rPr>
              <a:t>row </a:t>
            </a:r>
            <a:r>
              <a:rPr dirty="0" sz="1150" spc="15">
                <a:latin typeface="Times New Roman"/>
                <a:cs typeface="Times New Roman"/>
              </a:rPr>
              <a:t>by row. In </a:t>
            </a:r>
            <a:r>
              <a:rPr dirty="0" sz="1150" spc="20">
                <a:latin typeface="Times New Roman"/>
                <a:cs typeface="Times New Roman"/>
              </a:rPr>
              <a:t>column major </a:t>
            </a:r>
            <a:r>
              <a:rPr dirty="0" sz="1150" spc="15">
                <a:latin typeface="Times New Roman"/>
                <a:cs typeface="Times New Roman"/>
              </a:rPr>
              <a:t>order, the </a:t>
            </a:r>
            <a:r>
              <a:rPr dirty="0" sz="1150" spc="20">
                <a:latin typeface="Times New Roman"/>
                <a:cs typeface="Times New Roman"/>
              </a:rPr>
              <a:t>elements </a:t>
            </a:r>
            <a:r>
              <a:rPr dirty="0" sz="1150" spc="10">
                <a:latin typeface="Times New Roman"/>
                <a:cs typeface="Times New Roman"/>
              </a:rPr>
              <a:t>of </a:t>
            </a:r>
            <a:r>
              <a:rPr dirty="0" sz="1150" spc="15">
                <a:latin typeface="Times New Roman"/>
                <a:cs typeface="Times New Roman"/>
              </a:rPr>
              <a:t>the first </a:t>
            </a:r>
            <a:r>
              <a:rPr dirty="0" sz="1150" spc="20">
                <a:latin typeface="Times New Roman"/>
                <a:cs typeface="Times New Roman"/>
              </a:rPr>
              <a:t>column </a:t>
            </a:r>
            <a:r>
              <a:rPr dirty="0" sz="1150" spc="15">
                <a:latin typeface="Times New Roman"/>
                <a:cs typeface="Times New Roman"/>
              </a:rPr>
              <a:t>are  stored before the </a:t>
            </a:r>
            <a:r>
              <a:rPr dirty="0" sz="1150" spc="20">
                <a:latin typeface="Times New Roman"/>
                <a:cs typeface="Times New Roman"/>
              </a:rPr>
              <a:t>elements </a:t>
            </a:r>
            <a:r>
              <a:rPr dirty="0" sz="1150" spc="15">
                <a:latin typeface="Times New Roman"/>
                <a:cs typeface="Times New Roman"/>
              </a:rPr>
              <a:t>of </a:t>
            </a:r>
            <a:r>
              <a:rPr dirty="0" sz="1150" spc="20">
                <a:latin typeface="Times New Roman"/>
                <a:cs typeface="Times New Roman"/>
              </a:rPr>
              <a:t>second and </a:t>
            </a:r>
            <a:r>
              <a:rPr dirty="0" sz="1150" spc="15">
                <a:latin typeface="Times New Roman"/>
                <a:cs typeface="Times New Roman"/>
              </a:rPr>
              <a:t>third </a:t>
            </a:r>
            <a:r>
              <a:rPr dirty="0" sz="1150" spc="20">
                <a:latin typeface="Times New Roman"/>
                <a:cs typeface="Times New Roman"/>
              </a:rPr>
              <a:t>column </a:t>
            </a:r>
            <a:r>
              <a:rPr dirty="0" sz="1150" spc="10">
                <a:latin typeface="Times New Roman"/>
                <a:cs typeface="Times New Roman"/>
              </a:rPr>
              <a:t>i.e., </a:t>
            </a:r>
            <a:r>
              <a:rPr dirty="0" sz="1150" spc="15">
                <a:latin typeface="Times New Roman"/>
                <a:cs typeface="Times New Roman"/>
              </a:rPr>
              <a:t>the </a:t>
            </a:r>
            <a:r>
              <a:rPr dirty="0" sz="1150" spc="20">
                <a:latin typeface="Times New Roman"/>
                <a:cs typeface="Times New Roman"/>
              </a:rPr>
              <a:t>elements </a:t>
            </a:r>
            <a:r>
              <a:rPr dirty="0" sz="1150" spc="15">
                <a:latin typeface="Times New Roman"/>
                <a:cs typeface="Times New Roman"/>
              </a:rPr>
              <a:t>of the array are  stored </a:t>
            </a:r>
            <a:r>
              <a:rPr dirty="0" sz="1150" spc="20">
                <a:latin typeface="Times New Roman"/>
                <a:cs typeface="Times New Roman"/>
              </a:rPr>
              <a:t>column </a:t>
            </a:r>
            <a:r>
              <a:rPr dirty="0" sz="1150" spc="15">
                <a:latin typeface="Times New Roman"/>
                <a:cs typeface="Times New Roman"/>
              </a:rPr>
              <a:t>by</a:t>
            </a:r>
            <a:r>
              <a:rPr dirty="0" sz="1150" spc="20">
                <a:latin typeface="Times New Roman"/>
                <a:cs typeface="Times New Roman"/>
              </a:rPr>
              <a:t> column.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7582408"/>
            <a:ext cx="5121275" cy="1511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16100" y="2463800"/>
            <a:ext cx="3327400" cy="15824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9896" y="1234186"/>
            <a:ext cx="5814695" cy="8124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4300">
              <a:lnSpc>
                <a:spcPct val="100000"/>
              </a:lnSpc>
              <a:spcBef>
                <a:spcPts val="100"/>
              </a:spcBef>
            </a:pPr>
            <a:r>
              <a:rPr dirty="0" sz="1150" spc="20">
                <a:latin typeface="Times New Roman"/>
                <a:cs typeface="Times New Roman"/>
              </a:rPr>
              <a:t>Address </a:t>
            </a:r>
            <a:r>
              <a:rPr dirty="0" sz="1150" spc="15">
                <a:latin typeface="Times New Roman"/>
                <a:cs typeface="Times New Roman"/>
              </a:rPr>
              <a:t>of the </a:t>
            </a:r>
            <a:r>
              <a:rPr dirty="0" sz="1150" spc="20">
                <a:latin typeface="Times New Roman"/>
                <a:cs typeface="Times New Roman"/>
              </a:rPr>
              <a:t>elements </a:t>
            </a:r>
            <a:r>
              <a:rPr dirty="0" sz="1150" spc="15">
                <a:latin typeface="Times New Roman"/>
                <a:cs typeface="Times New Roman"/>
              </a:rPr>
              <a:t>of </a:t>
            </a:r>
            <a:r>
              <a:rPr dirty="0" sz="1150" spc="20">
                <a:latin typeface="Times New Roman"/>
                <a:cs typeface="Times New Roman"/>
              </a:rPr>
              <a:t>2D </a:t>
            </a:r>
            <a:r>
              <a:rPr dirty="0" sz="1150" spc="15">
                <a:latin typeface="Times New Roman"/>
                <a:cs typeface="Times New Roman"/>
              </a:rPr>
              <a:t>array can be </a:t>
            </a:r>
            <a:r>
              <a:rPr dirty="0" sz="1150" spc="20">
                <a:latin typeface="Times New Roman"/>
                <a:cs typeface="Times New Roman"/>
              </a:rPr>
              <a:t>calculated </a:t>
            </a:r>
            <a:r>
              <a:rPr dirty="0" sz="1150" spc="15">
                <a:latin typeface="Times New Roman"/>
                <a:cs typeface="Times New Roman"/>
              </a:rPr>
              <a:t>using the</a:t>
            </a:r>
            <a:r>
              <a:rPr dirty="0" sz="1150" spc="10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formula:</a:t>
            </a:r>
            <a:endParaRPr sz="1150">
              <a:latin typeface="Times New Roman"/>
              <a:cs typeface="Times New Roman"/>
            </a:endParaRPr>
          </a:p>
          <a:p>
            <a:pPr marL="114300" marR="358140">
              <a:lnSpc>
                <a:spcPct val="108700"/>
              </a:lnSpc>
              <a:spcBef>
                <a:spcPts val="770"/>
              </a:spcBef>
            </a:pPr>
            <a:r>
              <a:rPr dirty="0" sz="1150" spc="20">
                <a:latin typeface="Times New Roman"/>
                <a:cs typeface="Times New Roman"/>
              </a:rPr>
              <a:t>Address(A[I][J]= </a:t>
            </a:r>
            <a:r>
              <a:rPr dirty="0" sz="1150" spc="35">
                <a:latin typeface="Times New Roman"/>
                <a:cs typeface="Times New Roman"/>
              </a:rPr>
              <a:t>B_A </a:t>
            </a:r>
            <a:r>
              <a:rPr dirty="0" sz="1150" spc="15">
                <a:latin typeface="Times New Roman"/>
                <a:cs typeface="Times New Roman"/>
              </a:rPr>
              <a:t>+ </a:t>
            </a:r>
            <a:r>
              <a:rPr dirty="0" sz="1150" spc="20">
                <a:latin typeface="Times New Roman"/>
                <a:cs typeface="Times New Roman"/>
              </a:rPr>
              <a:t>w </a:t>
            </a:r>
            <a:r>
              <a:rPr dirty="0" sz="1150" spc="15">
                <a:latin typeface="Times New Roman"/>
                <a:cs typeface="Times New Roman"/>
              </a:rPr>
              <a:t>{ </a:t>
            </a:r>
            <a:r>
              <a:rPr dirty="0" sz="1150" spc="20">
                <a:latin typeface="Times New Roman"/>
                <a:cs typeface="Times New Roman"/>
              </a:rPr>
              <a:t>M(J-1) </a:t>
            </a:r>
            <a:r>
              <a:rPr dirty="0" sz="1150" spc="15">
                <a:latin typeface="Times New Roman"/>
                <a:cs typeface="Times New Roman"/>
              </a:rPr>
              <a:t>+ (I-1)} </a:t>
            </a:r>
            <a:r>
              <a:rPr dirty="0" sz="1150" spc="20">
                <a:latin typeface="Times New Roman"/>
                <a:cs typeface="Times New Roman"/>
              </a:rPr>
              <a:t>if </a:t>
            </a:r>
            <a:r>
              <a:rPr dirty="0" sz="1150" spc="15">
                <a:latin typeface="Times New Roman"/>
                <a:cs typeface="Times New Roman"/>
              </a:rPr>
              <a:t>the </a:t>
            </a:r>
            <a:r>
              <a:rPr dirty="0" sz="1150" spc="20">
                <a:latin typeface="Times New Roman"/>
                <a:cs typeface="Times New Roman"/>
              </a:rPr>
              <a:t>array elements </a:t>
            </a:r>
            <a:r>
              <a:rPr dirty="0" sz="1150" spc="25">
                <a:latin typeface="Times New Roman"/>
                <a:cs typeface="Times New Roman"/>
              </a:rPr>
              <a:t>are </a:t>
            </a:r>
            <a:r>
              <a:rPr dirty="0" sz="1150" spc="15">
                <a:latin typeface="Times New Roman"/>
                <a:cs typeface="Times New Roman"/>
              </a:rPr>
              <a:t>stored </a:t>
            </a:r>
            <a:r>
              <a:rPr dirty="0" sz="1150" spc="25">
                <a:latin typeface="Times New Roman"/>
                <a:cs typeface="Times New Roman"/>
              </a:rPr>
              <a:t>in </a:t>
            </a:r>
            <a:r>
              <a:rPr dirty="0" sz="1150" spc="20">
                <a:latin typeface="Times New Roman"/>
                <a:cs typeface="Times New Roman"/>
              </a:rPr>
              <a:t>column  major</a:t>
            </a:r>
            <a:r>
              <a:rPr dirty="0" sz="1150" spc="3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order.</a:t>
            </a:r>
            <a:endParaRPr sz="1150">
              <a:latin typeface="Times New Roman"/>
              <a:cs typeface="Times New Roman"/>
            </a:endParaRPr>
          </a:p>
          <a:p>
            <a:pPr marL="114300" marR="200025">
              <a:lnSpc>
                <a:spcPct val="110400"/>
              </a:lnSpc>
              <a:spcBef>
                <a:spcPts val="745"/>
              </a:spcBef>
            </a:pPr>
            <a:r>
              <a:rPr dirty="0" sz="1150" spc="20">
                <a:latin typeface="Times New Roman"/>
                <a:cs typeface="Times New Roman"/>
              </a:rPr>
              <a:t>Address(A[I][J]= </a:t>
            </a:r>
            <a:r>
              <a:rPr dirty="0" sz="1150" spc="25">
                <a:latin typeface="Times New Roman"/>
                <a:cs typeface="Times New Roman"/>
              </a:rPr>
              <a:t>B_A </a:t>
            </a:r>
            <a:r>
              <a:rPr dirty="0" sz="1150" spc="15">
                <a:latin typeface="Times New Roman"/>
                <a:cs typeface="Times New Roman"/>
              </a:rPr>
              <a:t>+ </a:t>
            </a:r>
            <a:r>
              <a:rPr dirty="0" sz="1150" spc="20">
                <a:latin typeface="Times New Roman"/>
                <a:cs typeface="Times New Roman"/>
              </a:rPr>
              <a:t>w </a:t>
            </a:r>
            <a:r>
              <a:rPr dirty="0" sz="1150" spc="15">
                <a:latin typeface="Times New Roman"/>
                <a:cs typeface="Times New Roman"/>
              </a:rPr>
              <a:t>{ </a:t>
            </a:r>
            <a:r>
              <a:rPr dirty="0" sz="1150" spc="20">
                <a:latin typeface="Times New Roman"/>
                <a:cs typeface="Times New Roman"/>
              </a:rPr>
              <a:t>N(I-1) </a:t>
            </a:r>
            <a:r>
              <a:rPr dirty="0" sz="1150" spc="15">
                <a:latin typeface="Times New Roman"/>
                <a:cs typeface="Times New Roman"/>
              </a:rPr>
              <a:t>+ (J-1)} </a:t>
            </a:r>
            <a:r>
              <a:rPr dirty="0" sz="1150" spc="10">
                <a:latin typeface="Times New Roman"/>
                <a:cs typeface="Times New Roman"/>
              </a:rPr>
              <a:t>if </a:t>
            </a:r>
            <a:r>
              <a:rPr dirty="0" sz="1150" spc="15">
                <a:latin typeface="Times New Roman"/>
                <a:cs typeface="Times New Roman"/>
              </a:rPr>
              <a:t>the array </a:t>
            </a:r>
            <a:r>
              <a:rPr dirty="0" sz="1150" spc="20">
                <a:latin typeface="Times New Roman"/>
                <a:cs typeface="Times New Roman"/>
              </a:rPr>
              <a:t>elements </a:t>
            </a:r>
            <a:r>
              <a:rPr dirty="0" sz="1150" spc="15">
                <a:latin typeface="Times New Roman"/>
                <a:cs typeface="Times New Roman"/>
              </a:rPr>
              <a:t>are stored </a:t>
            </a:r>
            <a:r>
              <a:rPr dirty="0" sz="1150" spc="20">
                <a:latin typeface="Times New Roman"/>
                <a:cs typeface="Times New Roman"/>
              </a:rPr>
              <a:t>in row major  </a:t>
            </a:r>
            <a:r>
              <a:rPr dirty="0" sz="1150" spc="15">
                <a:latin typeface="Times New Roman"/>
                <a:cs typeface="Times New Roman"/>
              </a:rPr>
              <a:t>order.</a:t>
            </a:r>
            <a:endParaRPr sz="1150">
              <a:latin typeface="Times New Roman"/>
              <a:cs typeface="Times New Roman"/>
            </a:endParaRPr>
          </a:p>
          <a:p>
            <a:pPr marL="114300" marR="66675">
              <a:lnSpc>
                <a:spcPct val="108700"/>
              </a:lnSpc>
              <a:spcBef>
                <a:spcPts val="765"/>
              </a:spcBef>
            </a:pPr>
            <a:r>
              <a:rPr dirty="0" sz="1150" spc="20">
                <a:latin typeface="Times New Roman"/>
                <a:cs typeface="Times New Roman"/>
              </a:rPr>
              <a:t>Where w </a:t>
            </a:r>
            <a:r>
              <a:rPr dirty="0" sz="1150" spc="15">
                <a:latin typeface="Times New Roman"/>
                <a:cs typeface="Times New Roman"/>
              </a:rPr>
              <a:t>is the </a:t>
            </a:r>
            <a:r>
              <a:rPr dirty="0" sz="1150" spc="20">
                <a:latin typeface="Times New Roman"/>
                <a:cs typeface="Times New Roman"/>
              </a:rPr>
              <a:t>word </a:t>
            </a:r>
            <a:r>
              <a:rPr dirty="0" sz="1150" spc="15">
                <a:latin typeface="Times New Roman"/>
                <a:cs typeface="Times New Roman"/>
              </a:rPr>
              <a:t>size, </a:t>
            </a:r>
            <a:r>
              <a:rPr dirty="0" sz="1150" spc="25">
                <a:latin typeface="Times New Roman"/>
                <a:cs typeface="Times New Roman"/>
              </a:rPr>
              <a:t>M </a:t>
            </a:r>
            <a:r>
              <a:rPr dirty="0" sz="1150" spc="15">
                <a:latin typeface="Times New Roman"/>
                <a:cs typeface="Times New Roman"/>
              </a:rPr>
              <a:t>is the </a:t>
            </a:r>
            <a:r>
              <a:rPr dirty="0" sz="1150" spc="20">
                <a:latin typeface="Times New Roman"/>
                <a:cs typeface="Times New Roman"/>
              </a:rPr>
              <a:t>number </a:t>
            </a:r>
            <a:r>
              <a:rPr dirty="0" sz="1150" spc="15">
                <a:latin typeface="Times New Roman"/>
                <a:cs typeface="Times New Roman"/>
              </a:rPr>
              <a:t>of </a:t>
            </a:r>
            <a:r>
              <a:rPr dirty="0" sz="1150" spc="20">
                <a:latin typeface="Times New Roman"/>
                <a:cs typeface="Times New Roman"/>
              </a:rPr>
              <a:t>rows, N is </a:t>
            </a:r>
            <a:r>
              <a:rPr dirty="0" sz="1150" spc="15">
                <a:latin typeface="Times New Roman"/>
                <a:cs typeface="Times New Roman"/>
              </a:rPr>
              <a:t>the </a:t>
            </a:r>
            <a:r>
              <a:rPr dirty="0" sz="1150" spc="20">
                <a:latin typeface="Times New Roman"/>
                <a:cs typeface="Times New Roman"/>
              </a:rPr>
              <a:t>number </a:t>
            </a:r>
            <a:r>
              <a:rPr dirty="0" sz="1150" spc="15">
                <a:latin typeface="Times New Roman"/>
                <a:cs typeface="Times New Roman"/>
              </a:rPr>
              <a:t>of </a:t>
            </a:r>
            <a:r>
              <a:rPr dirty="0" sz="1150" spc="20">
                <a:latin typeface="Times New Roman"/>
                <a:cs typeface="Times New Roman"/>
              </a:rPr>
              <a:t>columns, </a:t>
            </a:r>
            <a:r>
              <a:rPr dirty="0" sz="1150" spc="10">
                <a:latin typeface="Times New Roman"/>
                <a:cs typeface="Times New Roman"/>
              </a:rPr>
              <a:t>I </a:t>
            </a:r>
            <a:r>
              <a:rPr dirty="0" sz="1150" spc="20">
                <a:latin typeface="Times New Roman"/>
                <a:cs typeface="Times New Roman"/>
              </a:rPr>
              <a:t>and </a:t>
            </a:r>
            <a:r>
              <a:rPr dirty="0" sz="1150" spc="10">
                <a:latin typeface="Times New Roman"/>
                <a:cs typeface="Times New Roman"/>
              </a:rPr>
              <a:t>J </a:t>
            </a:r>
            <a:r>
              <a:rPr dirty="0" sz="1150" spc="15">
                <a:latin typeface="Times New Roman"/>
                <a:cs typeface="Times New Roman"/>
              </a:rPr>
              <a:t>are  the subscripts of the </a:t>
            </a:r>
            <a:r>
              <a:rPr dirty="0" sz="1150" spc="20">
                <a:latin typeface="Times New Roman"/>
                <a:cs typeface="Times New Roman"/>
              </a:rPr>
              <a:t>array element and </a:t>
            </a:r>
            <a:r>
              <a:rPr dirty="0" sz="1150" spc="25">
                <a:latin typeface="Times New Roman"/>
                <a:cs typeface="Times New Roman"/>
              </a:rPr>
              <a:t>B_A </a:t>
            </a:r>
            <a:r>
              <a:rPr dirty="0" sz="1150" spc="15">
                <a:latin typeface="Times New Roman"/>
                <a:cs typeface="Times New Roman"/>
              </a:rPr>
              <a:t>is the base</a:t>
            </a:r>
            <a:r>
              <a:rPr dirty="0" sz="1150" spc="5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address.</a:t>
            </a:r>
            <a:endParaRPr sz="1150">
              <a:latin typeface="Times New Roman"/>
              <a:cs typeface="Times New Roman"/>
            </a:endParaRPr>
          </a:p>
          <a:p>
            <a:pPr marL="114300" marR="25400">
              <a:lnSpc>
                <a:spcPct val="107900"/>
              </a:lnSpc>
              <a:spcBef>
                <a:spcPts val="790"/>
              </a:spcBef>
            </a:pPr>
            <a:r>
              <a:rPr dirty="0" sz="1150" spc="20">
                <a:latin typeface="Times New Roman"/>
                <a:cs typeface="Times New Roman"/>
              </a:rPr>
              <a:t>Example: Consider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15">
                <a:latin typeface="Times New Roman"/>
                <a:cs typeface="Times New Roman"/>
              </a:rPr>
              <a:t>20 </a:t>
            </a:r>
            <a:r>
              <a:rPr dirty="0" sz="1150" spc="20">
                <a:latin typeface="Times New Roman"/>
                <a:cs typeface="Times New Roman"/>
              </a:rPr>
              <a:t>X </a:t>
            </a:r>
            <a:r>
              <a:rPr dirty="0" sz="1150" spc="15">
                <a:latin typeface="Times New Roman"/>
                <a:cs typeface="Times New Roman"/>
              </a:rPr>
              <a:t>5 </a:t>
            </a:r>
            <a:r>
              <a:rPr dirty="0" sz="1150" spc="20">
                <a:latin typeface="Times New Roman"/>
                <a:cs typeface="Times New Roman"/>
              </a:rPr>
              <a:t>2D array Marks which </a:t>
            </a:r>
            <a:r>
              <a:rPr dirty="0" sz="1150" spc="15">
                <a:latin typeface="Times New Roman"/>
                <a:cs typeface="Times New Roman"/>
              </a:rPr>
              <a:t>has base </a:t>
            </a:r>
            <a:r>
              <a:rPr dirty="0" sz="1150" spc="20">
                <a:latin typeface="Times New Roman"/>
                <a:cs typeface="Times New Roman"/>
              </a:rPr>
              <a:t>address 1000 and </a:t>
            </a:r>
            <a:r>
              <a:rPr dirty="0" sz="1150" spc="15">
                <a:latin typeface="Times New Roman"/>
                <a:cs typeface="Times New Roman"/>
              </a:rPr>
              <a:t>the </a:t>
            </a:r>
            <a:r>
              <a:rPr dirty="0" sz="1150" spc="20">
                <a:latin typeface="Times New Roman"/>
                <a:cs typeface="Times New Roman"/>
              </a:rPr>
              <a:t>word </a:t>
            </a:r>
            <a:r>
              <a:rPr dirty="0" sz="1150" spc="15">
                <a:latin typeface="Times New Roman"/>
                <a:cs typeface="Times New Roman"/>
              </a:rPr>
              <a:t>size  </a:t>
            </a:r>
            <a:r>
              <a:rPr dirty="0" sz="1150" spc="10">
                <a:latin typeface="Times New Roman"/>
                <a:cs typeface="Times New Roman"/>
              </a:rPr>
              <a:t>is 2. </a:t>
            </a:r>
            <a:r>
              <a:rPr dirty="0" sz="1150" spc="25">
                <a:latin typeface="Times New Roman"/>
                <a:cs typeface="Times New Roman"/>
              </a:rPr>
              <a:t>Now </a:t>
            </a:r>
            <a:r>
              <a:rPr dirty="0" sz="1150" spc="20">
                <a:latin typeface="Times New Roman"/>
                <a:cs typeface="Times New Roman"/>
              </a:rPr>
              <a:t>compute </a:t>
            </a:r>
            <a:r>
              <a:rPr dirty="0" sz="1150" spc="15">
                <a:latin typeface="Times New Roman"/>
                <a:cs typeface="Times New Roman"/>
              </a:rPr>
              <a:t>the </a:t>
            </a:r>
            <a:r>
              <a:rPr dirty="0" sz="1150" spc="20">
                <a:latin typeface="Times New Roman"/>
                <a:cs typeface="Times New Roman"/>
              </a:rPr>
              <a:t>address </a:t>
            </a:r>
            <a:r>
              <a:rPr dirty="0" sz="1150" spc="15">
                <a:latin typeface="Times New Roman"/>
                <a:cs typeface="Times New Roman"/>
              </a:rPr>
              <a:t>of the </a:t>
            </a:r>
            <a:r>
              <a:rPr dirty="0" sz="1150" spc="20">
                <a:latin typeface="Times New Roman"/>
                <a:cs typeface="Times New Roman"/>
              </a:rPr>
              <a:t>element Marks[18][4] assuming </a:t>
            </a:r>
            <a:r>
              <a:rPr dirty="0" sz="1150" spc="15">
                <a:latin typeface="Times New Roman"/>
                <a:cs typeface="Times New Roman"/>
              </a:rPr>
              <a:t>that the </a:t>
            </a:r>
            <a:r>
              <a:rPr dirty="0" sz="1150" spc="20">
                <a:latin typeface="Times New Roman"/>
                <a:cs typeface="Times New Roman"/>
              </a:rPr>
              <a:t>elements </a:t>
            </a:r>
            <a:r>
              <a:rPr dirty="0" sz="1150" spc="15">
                <a:latin typeface="Times New Roman"/>
                <a:cs typeface="Times New Roman"/>
              </a:rPr>
              <a:t>are  stored </a:t>
            </a:r>
            <a:r>
              <a:rPr dirty="0" sz="1150" spc="20">
                <a:latin typeface="Times New Roman"/>
                <a:cs typeface="Times New Roman"/>
              </a:rPr>
              <a:t>in row major</a:t>
            </a:r>
            <a:r>
              <a:rPr dirty="0" sz="1150" spc="15">
                <a:latin typeface="Times New Roman"/>
                <a:cs typeface="Times New Roman"/>
              </a:rPr>
              <a:t> order.</a:t>
            </a:r>
            <a:endParaRPr sz="115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  <a:spcBef>
                <a:spcPts val="925"/>
              </a:spcBef>
            </a:pPr>
            <a:r>
              <a:rPr dirty="0" sz="1150" spc="20">
                <a:latin typeface="Times New Roman"/>
                <a:cs typeface="Times New Roman"/>
              </a:rPr>
              <a:t>Address(A[I][J]= </a:t>
            </a:r>
            <a:r>
              <a:rPr dirty="0" sz="1150" spc="25">
                <a:latin typeface="Times New Roman"/>
                <a:cs typeface="Times New Roman"/>
              </a:rPr>
              <a:t>B_A </a:t>
            </a:r>
            <a:r>
              <a:rPr dirty="0" sz="1150" spc="15">
                <a:latin typeface="Times New Roman"/>
                <a:cs typeface="Times New Roman"/>
              </a:rPr>
              <a:t>+ </a:t>
            </a:r>
            <a:r>
              <a:rPr dirty="0" sz="1150" spc="20">
                <a:latin typeface="Times New Roman"/>
                <a:cs typeface="Times New Roman"/>
              </a:rPr>
              <a:t>w </a:t>
            </a:r>
            <a:r>
              <a:rPr dirty="0" sz="1150" spc="15">
                <a:latin typeface="Times New Roman"/>
                <a:cs typeface="Times New Roman"/>
              </a:rPr>
              <a:t>{ </a:t>
            </a:r>
            <a:r>
              <a:rPr dirty="0" sz="1150" spc="25">
                <a:latin typeface="Times New Roman"/>
                <a:cs typeface="Times New Roman"/>
              </a:rPr>
              <a:t>N(I-1) </a:t>
            </a:r>
            <a:r>
              <a:rPr dirty="0" sz="1150" spc="15">
                <a:latin typeface="Times New Roman"/>
                <a:cs typeface="Times New Roman"/>
              </a:rPr>
              <a:t>+</a:t>
            </a:r>
            <a:r>
              <a:rPr dirty="0" sz="1150" spc="4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(J-1)}</a:t>
            </a:r>
            <a:endParaRPr sz="1150">
              <a:latin typeface="Times New Roman"/>
              <a:cs typeface="Times New Roman"/>
            </a:endParaRPr>
          </a:p>
          <a:p>
            <a:pPr marL="1061085">
              <a:lnSpc>
                <a:spcPct val="100000"/>
              </a:lnSpc>
              <a:spcBef>
                <a:spcPts val="925"/>
              </a:spcBef>
            </a:pPr>
            <a:r>
              <a:rPr dirty="0" sz="1150" spc="15">
                <a:latin typeface="Times New Roman"/>
                <a:cs typeface="Times New Roman"/>
              </a:rPr>
              <a:t>= 1000 +</a:t>
            </a:r>
            <a:r>
              <a:rPr dirty="0" sz="1150" spc="4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2{(5(18-1)+(4-1)}</a:t>
            </a:r>
            <a:endParaRPr sz="1150">
              <a:latin typeface="Times New Roman"/>
              <a:cs typeface="Times New Roman"/>
            </a:endParaRPr>
          </a:p>
          <a:p>
            <a:pPr marL="1030605">
              <a:lnSpc>
                <a:spcPct val="100000"/>
              </a:lnSpc>
              <a:spcBef>
                <a:spcPts val="890"/>
              </a:spcBef>
            </a:pPr>
            <a:r>
              <a:rPr dirty="0" sz="1150" spc="20">
                <a:latin typeface="Times New Roman"/>
                <a:cs typeface="Times New Roman"/>
              </a:rPr>
              <a:t>=1176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0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  <a:spcBef>
                <a:spcPts val="5"/>
              </a:spcBef>
            </a:pPr>
            <a:r>
              <a:rPr dirty="0" sz="1150" spc="30" b="1">
                <a:latin typeface="Times New Roman"/>
                <a:cs typeface="Times New Roman"/>
              </a:rPr>
              <a:t>INITIALIZING </a:t>
            </a:r>
            <a:r>
              <a:rPr dirty="0" sz="1150" spc="35" b="1">
                <a:latin typeface="Times New Roman"/>
                <a:cs typeface="Times New Roman"/>
              </a:rPr>
              <a:t>TWO-DIMENSIONAL</a:t>
            </a:r>
            <a:r>
              <a:rPr dirty="0" sz="1150" spc="5" b="1">
                <a:latin typeface="Times New Roman"/>
                <a:cs typeface="Times New Roman"/>
              </a:rPr>
              <a:t> </a:t>
            </a:r>
            <a:r>
              <a:rPr dirty="0" sz="1150" spc="35" b="1">
                <a:latin typeface="Times New Roman"/>
                <a:cs typeface="Times New Roman"/>
              </a:rPr>
              <a:t>ARRAYS</a:t>
            </a:r>
            <a:endParaRPr sz="1150">
              <a:latin typeface="Times New Roman"/>
              <a:cs typeface="Times New Roman"/>
            </a:endParaRPr>
          </a:p>
          <a:p>
            <a:pPr marL="571500">
              <a:lnSpc>
                <a:spcPct val="100000"/>
              </a:lnSpc>
              <a:spcBef>
                <a:spcPts val="885"/>
              </a:spcBef>
            </a:pPr>
            <a:r>
              <a:rPr dirty="0" sz="1150" spc="20">
                <a:latin typeface="Times New Roman"/>
                <a:cs typeface="Times New Roman"/>
              </a:rPr>
              <a:t>A two-dimensional array </a:t>
            </a:r>
            <a:r>
              <a:rPr dirty="0" sz="1150" spc="15">
                <a:latin typeface="Times New Roman"/>
                <a:cs typeface="Times New Roman"/>
              </a:rPr>
              <a:t>can be initialized as</a:t>
            </a:r>
            <a:r>
              <a:rPr dirty="0" sz="1150" spc="3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follows:</a:t>
            </a:r>
            <a:endParaRPr sz="115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  <a:spcBef>
                <a:spcPts val="925"/>
              </a:spcBef>
              <a:tabLst>
                <a:tab pos="1028700" algn="l"/>
              </a:tabLst>
            </a:pPr>
            <a:r>
              <a:rPr dirty="0" sz="1150" spc="25" b="1">
                <a:latin typeface="Times New Roman"/>
                <a:cs typeface="Times New Roman"/>
              </a:rPr>
              <a:t>Syntax:	</a:t>
            </a:r>
            <a:r>
              <a:rPr dirty="0" sz="1150" spc="20">
                <a:latin typeface="Times New Roman"/>
                <a:cs typeface="Times New Roman"/>
              </a:rPr>
              <a:t>data_type array_name[size]={list </a:t>
            </a:r>
            <a:r>
              <a:rPr dirty="0" sz="1150" spc="15">
                <a:latin typeface="Times New Roman"/>
                <a:cs typeface="Times New Roman"/>
              </a:rPr>
              <a:t>of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values}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  <a:tabLst>
                <a:tab pos="1028700" algn="l"/>
              </a:tabLst>
            </a:pPr>
            <a:r>
              <a:rPr dirty="0" sz="1150" spc="25" b="1">
                <a:latin typeface="Times New Roman"/>
                <a:cs typeface="Times New Roman"/>
              </a:rPr>
              <a:t>Examples:	</a:t>
            </a:r>
            <a:r>
              <a:rPr dirty="0" sz="1150" spc="5">
                <a:latin typeface="Times New Roman"/>
                <a:cs typeface="Times New Roman"/>
              </a:rPr>
              <a:t>int </a:t>
            </a:r>
            <a:r>
              <a:rPr dirty="0" sz="1150" spc="20">
                <a:latin typeface="Times New Roman"/>
                <a:cs typeface="Times New Roman"/>
              </a:rPr>
              <a:t>marks[3][4]={ </a:t>
            </a:r>
            <a:r>
              <a:rPr dirty="0" sz="1150" spc="15">
                <a:latin typeface="Times New Roman"/>
                <a:cs typeface="Times New Roman"/>
              </a:rPr>
              <a:t>1,2,3, </a:t>
            </a:r>
            <a:r>
              <a:rPr dirty="0" sz="1150" spc="10">
                <a:latin typeface="Times New Roman"/>
                <a:cs typeface="Times New Roman"/>
              </a:rPr>
              <a:t>4, 5, 6,</a:t>
            </a:r>
            <a:r>
              <a:rPr dirty="0" sz="1150" spc="4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7,8,9,10,11,12};</a:t>
            </a:r>
            <a:endParaRPr sz="115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  <a:spcBef>
                <a:spcPts val="900"/>
              </a:spcBef>
            </a:pPr>
            <a:r>
              <a:rPr dirty="0" sz="1150" spc="20">
                <a:latin typeface="Times New Roman"/>
                <a:cs typeface="Times New Roman"/>
              </a:rPr>
              <a:t>The </a:t>
            </a:r>
            <a:r>
              <a:rPr dirty="0" sz="1150" spc="15">
                <a:latin typeface="Times New Roman"/>
                <a:cs typeface="Times New Roman"/>
              </a:rPr>
              <a:t>initialization is done </a:t>
            </a:r>
            <a:r>
              <a:rPr dirty="0" sz="1150" spc="20">
                <a:latin typeface="Times New Roman"/>
                <a:cs typeface="Times New Roman"/>
              </a:rPr>
              <a:t>row </a:t>
            </a:r>
            <a:r>
              <a:rPr dirty="0" sz="1150" spc="15">
                <a:latin typeface="Times New Roman"/>
                <a:cs typeface="Times New Roman"/>
              </a:rPr>
              <a:t>by</a:t>
            </a:r>
            <a:r>
              <a:rPr dirty="0" sz="1150" spc="4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row.</a:t>
            </a:r>
            <a:endParaRPr sz="115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  <a:spcBef>
                <a:spcPts val="925"/>
              </a:spcBef>
            </a:pPr>
            <a:r>
              <a:rPr dirty="0" sz="1150" spc="20">
                <a:latin typeface="Times New Roman"/>
                <a:cs typeface="Times New Roman"/>
              </a:rPr>
              <a:t>The above </a:t>
            </a:r>
            <a:r>
              <a:rPr dirty="0" sz="1150" spc="15">
                <a:latin typeface="Times New Roman"/>
                <a:cs typeface="Times New Roman"/>
              </a:rPr>
              <a:t>statement </a:t>
            </a:r>
            <a:r>
              <a:rPr dirty="0" sz="1150" spc="20">
                <a:latin typeface="Times New Roman"/>
                <a:cs typeface="Times New Roman"/>
              </a:rPr>
              <a:t>can </a:t>
            </a:r>
            <a:r>
              <a:rPr dirty="0" sz="1150" spc="15">
                <a:latin typeface="Times New Roman"/>
                <a:cs typeface="Times New Roman"/>
              </a:rPr>
              <a:t>also be written</a:t>
            </a:r>
            <a:r>
              <a:rPr dirty="0" sz="1150" spc="5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as:</a:t>
            </a:r>
            <a:endParaRPr sz="1150">
              <a:latin typeface="Times New Roman"/>
              <a:cs typeface="Times New Roman"/>
            </a:endParaRPr>
          </a:p>
          <a:p>
            <a:pPr marL="571500">
              <a:lnSpc>
                <a:spcPct val="100000"/>
              </a:lnSpc>
              <a:spcBef>
                <a:spcPts val="925"/>
              </a:spcBef>
            </a:pPr>
            <a:r>
              <a:rPr dirty="0" sz="1150" spc="10">
                <a:latin typeface="Times New Roman"/>
                <a:cs typeface="Times New Roman"/>
              </a:rPr>
              <a:t>int </a:t>
            </a:r>
            <a:r>
              <a:rPr dirty="0" sz="1150" spc="20">
                <a:latin typeface="Times New Roman"/>
                <a:cs typeface="Times New Roman"/>
              </a:rPr>
              <a:t>marks[3][4]= {{1,2,3,4} {5,6,7,8}</a:t>
            </a:r>
            <a:r>
              <a:rPr dirty="0" sz="1150" spc="4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{9,10,11,12}};</a:t>
            </a:r>
            <a:endParaRPr sz="1150">
              <a:latin typeface="Times New Roman"/>
              <a:cs typeface="Times New Roman"/>
            </a:endParaRPr>
          </a:p>
          <a:p>
            <a:pPr marL="571500" marR="67310" indent="-228600">
              <a:lnSpc>
                <a:spcPct val="107000"/>
              </a:lnSpc>
              <a:spcBef>
                <a:spcPts val="875"/>
              </a:spcBef>
              <a:buFont typeface="Symbol"/>
              <a:buChar char=""/>
              <a:tabLst>
                <a:tab pos="571500" algn="l"/>
                <a:tab pos="572135" algn="l"/>
              </a:tabLst>
            </a:pPr>
            <a:r>
              <a:rPr dirty="0" sz="1150" spc="20">
                <a:latin typeface="Times New Roman"/>
                <a:cs typeface="Times New Roman"/>
              </a:rPr>
              <a:t>While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initializing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the</a:t>
            </a:r>
            <a:r>
              <a:rPr dirty="0" sz="1150" spc="3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size</a:t>
            </a:r>
            <a:r>
              <a:rPr dirty="0" sz="1150" spc="-5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of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the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first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dimension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can</a:t>
            </a:r>
            <a:r>
              <a:rPr dirty="0" sz="1150" spc="-1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be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omitted.</a:t>
            </a:r>
            <a:r>
              <a:rPr dirty="0" sz="1150" spc="-2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Therefore,</a:t>
            </a:r>
            <a:r>
              <a:rPr dirty="0" sz="1150" spc="-1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the</a:t>
            </a:r>
            <a:r>
              <a:rPr dirty="0" sz="1150" spc="-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below  </a:t>
            </a:r>
            <a:r>
              <a:rPr dirty="0" sz="1150" spc="15">
                <a:latin typeface="Times New Roman"/>
                <a:cs typeface="Times New Roman"/>
              </a:rPr>
              <a:t>statement is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valid.</a:t>
            </a:r>
            <a:endParaRPr sz="1150">
              <a:latin typeface="Times New Roman"/>
              <a:cs typeface="Times New Roman"/>
            </a:endParaRPr>
          </a:p>
          <a:p>
            <a:pPr marL="571500">
              <a:lnSpc>
                <a:spcPct val="100000"/>
              </a:lnSpc>
              <a:spcBef>
                <a:spcPts val="935"/>
              </a:spcBef>
            </a:pPr>
            <a:r>
              <a:rPr dirty="0" sz="1150" spc="10">
                <a:latin typeface="Times New Roman"/>
                <a:cs typeface="Times New Roman"/>
              </a:rPr>
              <a:t>int </a:t>
            </a:r>
            <a:r>
              <a:rPr dirty="0" sz="1150" spc="20">
                <a:latin typeface="Times New Roman"/>
                <a:cs typeface="Times New Roman"/>
              </a:rPr>
              <a:t>marks[][4]= {{1,2,3,4} {5,6,7,8}</a:t>
            </a:r>
            <a:r>
              <a:rPr dirty="0" sz="1150" spc="8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{9,10,11,12}};</a:t>
            </a:r>
            <a:endParaRPr sz="1150">
              <a:latin typeface="Times New Roman"/>
              <a:cs typeface="Times New Roman"/>
            </a:endParaRPr>
          </a:p>
          <a:p>
            <a:pPr marL="571500" marR="71755" indent="-228600">
              <a:lnSpc>
                <a:spcPct val="161700"/>
              </a:lnSpc>
              <a:spcBef>
                <a:spcPts val="110"/>
              </a:spcBef>
              <a:buFont typeface="Symbol"/>
              <a:buChar char=""/>
              <a:tabLst>
                <a:tab pos="571500" algn="l"/>
                <a:tab pos="572135" algn="l"/>
              </a:tabLst>
            </a:pPr>
            <a:r>
              <a:rPr dirty="0" sz="1150" spc="15">
                <a:latin typeface="Times New Roman"/>
                <a:cs typeface="Times New Roman"/>
              </a:rPr>
              <a:t>In</a:t>
            </a:r>
            <a:r>
              <a:rPr dirty="0" sz="1150" spc="-1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order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to</a:t>
            </a:r>
            <a:r>
              <a:rPr dirty="0" sz="1150" spc="-3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initialize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the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entire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2D</a:t>
            </a:r>
            <a:r>
              <a:rPr dirty="0" sz="1150" spc="-1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array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to</a:t>
            </a:r>
            <a:r>
              <a:rPr dirty="0" sz="1150" spc="3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zero,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we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can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write</a:t>
            </a:r>
            <a:r>
              <a:rPr dirty="0" sz="1150" spc="-3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the</a:t>
            </a:r>
            <a:r>
              <a:rPr dirty="0" sz="1150" spc="1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following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statement  </a:t>
            </a:r>
            <a:r>
              <a:rPr dirty="0" sz="1150" spc="5">
                <a:latin typeface="Times New Roman"/>
                <a:cs typeface="Times New Roman"/>
              </a:rPr>
              <a:t>int </a:t>
            </a:r>
            <a:r>
              <a:rPr dirty="0" sz="1150" spc="20">
                <a:latin typeface="Times New Roman"/>
                <a:cs typeface="Times New Roman"/>
              </a:rPr>
              <a:t>marks[3][4]=</a:t>
            </a:r>
            <a:r>
              <a:rPr dirty="0" sz="1150" spc="4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{0};</a:t>
            </a:r>
            <a:endParaRPr sz="1150">
              <a:latin typeface="Times New Roman"/>
              <a:cs typeface="Times New Roman"/>
            </a:endParaRPr>
          </a:p>
          <a:p>
            <a:pPr marL="571500" marR="223520" indent="-228600">
              <a:lnSpc>
                <a:spcPct val="107800"/>
              </a:lnSpc>
              <a:spcBef>
                <a:spcPts val="900"/>
              </a:spcBef>
              <a:buFont typeface="Symbol"/>
              <a:buChar char=""/>
              <a:tabLst>
                <a:tab pos="571500" algn="l"/>
                <a:tab pos="572135" algn="l"/>
              </a:tabLst>
            </a:pPr>
            <a:r>
              <a:rPr dirty="0" sz="1150" spc="10">
                <a:latin typeface="Times New Roman"/>
                <a:cs typeface="Times New Roman"/>
              </a:rPr>
              <a:t>If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some</a:t>
            </a:r>
            <a:r>
              <a:rPr dirty="0" sz="1150" spc="1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values</a:t>
            </a:r>
            <a:r>
              <a:rPr dirty="0" sz="1150" spc="-3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are</a:t>
            </a:r>
            <a:r>
              <a:rPr dirty="0" sz="1150" spc="3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missing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during</a:t>
            </a:r>
            <a:r>
              <a:rPr dirty="0" sz="1150" spc="-4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initialization,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30">
                <a:latin typeface="Times New Roman"/>
                <a:cs typeface="Times New Roman"/>
              </a:rPr>
              <a:t>then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it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is</a:t>
            </a:r>
            <a:r>
              <a:rPr dirty="0" sz="1150" spc="-3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automatically</a:t>
            </a:r>
            <a:r>
              <a:rPr dirty="0" sz="1150" spc="15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set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to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zero.  </a:t>
            </a:r>
            <a:r>
              <a:rPr dirty="0" sz="1150" spc="10">
                <a:latin typeface="Times New Roman"/>
                <a:cs typeface="Times New Roman"/>
              </a:rPr>
              <a:t>For </a:t>
            </a:r>
            <a:r>
              <a:rPr dirty="0" sz="1150" spc="20">
                <a:latin typeface="Times New Roman"/>
                <a:cs typeface="Times New Roman"/>
              </a:rPr>
              <a:t>example, the below statement </a:t>
            </a:r>
            <a:r>
              <a:rPr dirty="0" sz="1150" spc="10">
                <a:latin typeface="Times New Roman"/>
                <a:cs typeface="Times New Roman"/>
              </a:rPr>
              <a:t>will </a:t>
            </a:r>
            <a:r>
              <a:rPr dirty="0" sz="1150" spc="15">
                <a:latin typeface="Times New Roman"/>
                <a:cs typeface="Times New Roman"/>
              </a:rPr>
              <a:t>initialize </a:t>
            </a:r>
            <a:r>
              <a:rPr dirty="0" sz="1150" spc="25">
                <a:latin typeface="Times New Roman"/>
                <a:cs typeface="Times New Roman"/>
              </a:rPr>
              <a:t>the </a:t>
            </a:r>
            <a:r>
              <a:rPr dirty="0" sz="1150" spc="10">
                <a:latin typeface="Times New Roman"/>
                <a:cs typeface="Times New Roman"/>
              </a:rPr>
              <a:t>first </a:t>
            </a:r>
            <a:r>
              <a:rPr dirty="0" sz="1150" spc="30">
                <a:latin typeface="Times New Roman"/>
                <a:cs typeface="Times New Roman"/>
              </a:rPr>
              <a:t>row </a:t>
            </a:r>
            <a:r>
              <a:rPr dirty="0" sz="1150" spc="35">
                <a:latin typeface="Times New Roman"/>
                <a:cs typeface="Times New Roman"/>
              </a:rPr>
              <a:t>and </a:t>
            </a:r>
            <a:r>
              <a:rPr dirty="0" sz="1150" spc="20">
                <a:latin typeface="Times New Roman"/>
                <a:cs typeface="Times New Roman"/>
              </a:rPr>
              <a:t>the remaining  elements </a:t>
            </a:r>
            <a:r>
              <a:rPr dirty="0" sz="1150" spc="10">
                <a:latin typeface="Times New Roman"/>
                <a:cs typeface="Times New Roman"/>
              </a:rPr>
              <a:t>will </a:t>
            </a:r>
            <a:r>
              <a:rPr dirty="0" sz="1150" spc="15">
                <a:latin typeface="Times New Roman"/>
                <a:cs typeface="Times New Roman"/>
              </a:rPr>
              <a:t>be initialized </a:t>
            </a:r>
            <a:r>
              <a:rPr dirty="0" sz="1150" spc="20">
                <a:latin typeface="Times New Roman"/>
                <a:cs typeface="Times New Roman"/>
              </a:rPr>
              <a:t>to</a:t>
            </a:r>
            <a:r>
              <a:rPr dirty="0" sz="1150" spc="8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zero.</a:t>
            </a:r>
            <a:endParaRPr sz="1150">
              <a:latin typeface="Times New Roman"/>
              <a:cs typeface="Times New Roman"/>
            </a:endParaRPr>
          </a:p>
          <a:p>
            <a:pPr marL="571500">
              <a:lnSpc>
                <a:spcPct val="100000"/>
              </a:lnSpc>
              <a:spcBef>
                <a:spcPts val="880"/>
              </a:spcBef>
            </a:pPr>
            <a:r>
              <a:rPr dirty="0" sz="1150" spc="10">
                <a:latin typeface="Times New Roman"/>
                <a:cs typeface="Times New Roman"/>
              </a:rPr>
              <a:t>int </a:t>
            </a:r>
            <a:r>
              <a:rPr dirty="0" sz="1150" spc="20">
                <a:latin typeface="Times New Roman"/>
                <a:cs typeface="Times New Roman"/>
              </a:rPr>
              <a:t>marks[3][4]=</a:t>
            </a:r>
            <a:r>
              <a:rPr dirty="0" sz="1150" spc="3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{{1,2,3,4}};</a:t>
            </a:r>
            <a:endParaRPr sz="1150">
              <a:latin typeface="Times New Roman"/>
              <a:cs typeface="Times New Roman"/>
            </a:endParaRPr>
          </a:p>
          <a:p>
            <a:pPr marL="571500" indent="-229235">
              <a:lnSpc>
                <a:spcPct val="100000"/>
              </a:lnSpc>
              <a:spcBef>
                <a:spcPts val="994"/>
              </a:spcBef>
              <a:buFont typeface="Symbol"/>
              <a:buChar char=""/>
              <a:tabLst>
                <a:tab pos="571500" algn="l"/>
                <a:tab pos="572135" algn="l"/>
              </a:tabLst>
            </a:pPr>
            <a:r>
              <a:rPr dirty="0" sz="1150" spc="15">
                <a:latin typeface="Times New Roman"/>
                <a:cs typeface="Times New Roman"/>
              </a:rPr>
              <a:t>Individual</a:t>
            </a:r>
            <a:r>
              <a:rPr dirty="0" sz="1150" spc="-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elements</a:t>
            </a:r>
            <a:r>
              <a:rPr dirty="0" sz="1150" spc="-1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can</a:t>
            </a:r>
            <a:r>
              <a:rPr dirty="0" sz="1150" spc="-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also</a:t>
            </a:r>
            <a:r>
              <a:rPr dirty="0" sz="1150" spc="-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be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initialized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using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assignment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operator</a:t>
            </a:r>
            <a:r>
              <a:rPr dirty="0" sz="1150" spc="-20">
                <a:latin typeface="Times New Roman"/>
                <a:cs typeface="Times New Roman"/>
              </a:rPr>
              <a:t> </a:t>
            </a:r>
            <a:r>
              <a:rPr dirty="0" sz="1150" spc="30">
                <a:latin typeface="Times New Roman"/>
                <a:cs typeface="Times New Roman"/>
              </a:rPr>
              <a:t>as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shown</a:t>
            </a:r>
            <a:r>
              <a:rPr dirty="0" sz="1150" spc="-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below: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9896" y="1031493"/>
            <a:ext cx="5843905" cy="6468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1500">
              <a:lnSpc>
                <a:spcPct val="100000"/>
              </a:lnSpc>
              <a:spcBef>
                <a:spcPts val="100"/>
              </a:spcBef>
            </a:pPr>
            <a:r>
              <a:rPr dirty="0" sz="1150" spc="20">
                <a:latin typeface="Times New Roman"/>
                <a:cs typeface="Times New Roman"/>
              </a:rPr>
              <a:t>marks[1][2]=10;</a:t>
            </a:r>
            <a:endParaRPr sz="1150">
              <a:latin typeface="Times New Roman"/>
              <a:cs typeface="Times New Roman"/>
            </a:endParaRPr>
          </a:p>
          <a:p>
            <a:pPr marL="571500">
              <a:lnSpc>
                <a:spcPct val="100000"/>
              </a:lnSpc>
              <a:spcBef>
                <a:spcPts val="925"/>
              </a:spcBef>
            </a:pPr>
            <a:r>
              <a:rPr dirty="0" sz="1150" spc="20">
                <a:latin typeface="Times New Roman"/>
                <a:cs typeface="Times New Roman"/>
              </a:rPr>
              <a:t>marks[2][1]=marks[1][1] </a:t>
            </a:r>
            <a:r>
              <a:rPr dirty="0" sz="1150" spc="15">
                <a:latin typeface="Times New Roman"/>
                <a:cs typeface="Times New Roman"/>
              </a:rPr>
              <a:t>+</a:t>
            </a:r>
            <a:r>
              <a:rPr dirty="0" sz="1150" spc="-114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10;</a:t>
            </a:r>
            <a:endParaRPr sz="1150">
              <a:latin typeface="Times New Roman"/>
              <a:cs typeface="Times New Roman"/>
            </a:endParaRPr>
          </a:p>
          <a:p>
            <a:pPr marL="571500" marR="419734" indent="-571500">
              <a:lnSpc>
                <a:spcPct val="106100"/>
              </a:lnSpc>
              <a:spcBef>
                <a:spcPts val="875"/>
              </a:spcBef>
              <a:buFont typeface="Symbol"/>
              <a:buChar char=""/>
              <a:tabLst>
                <a:tab pos="571500" algn="l"/>
                <a:tab pos="572135" algn="l"/>
              </a:tabLst>
            </a:pPr>
            <a:r>
              <a:rPr dirty="0" sz="1150" spc="15">
                <a:latin typeface="Times New Roman"/>
                <a:cs typeface="Times New Roman"/>
              </a:rPr>
              <a:t>In order </a:t>
            </a:r>
            <a:r>
              <a:rPr dirty="0" sz="1150" spc="25">
                <a:latin typeface="Times New Roman"/>
                <a:cs typeface="Times New Roman"/>
              </a:rPr>
              <a:t>to </a:t>
            </a:r>
            <a:r>
              <a:rPr dirty="0" sz="1150" spc="15">
                <a:latin typeface="Times New Roman"/>
                <a:cs typeface="Times New Roman"/>
              </a:rPr>
              <a:t>input </a:t>
            </a:r>
            <a:r>
              <a:rPr dirty="0" sz="1150" spc="20">
                <a:latin typeface="Times New Roman"/>
                <a:cs typeface="Times New Roman"/>
              </a:rPr>
              <a:t>the values from </a:t>
            </a:r>
            <a:r>
              <a:rPr dirty="0" sz="1150" spc="15">
                <a:latin typeface="Times New Roman"/>
                <a:cs typeface="Times New Roman"/>
              </a:rPr>
              <a:t>the keyboard, </a:t>
            </a:r>
            <a:r>
              <a:rPr dirty="0" sz="1150" spc="20">
                <a:latin typeface="Times New Roman"/>
                <a:cs typeface="Times New Roman"/>
              </a:rPr>
              <a:t>we </a:t>
            </a:r>
            <a:r>
              <a:rPr dirty="0" sz="1150" spc="15">
                <a:latin typeface="Times New Roman"/>
                <a:cs typeface="Times New Roman"/>
              </a:rPr>
              <a:t>must use the </a:t>
            </a:r>
            <a:r>
              <a:rPr dirty="0" sz="1150" spc="20">
                <a:latin typeface="Times New Roman"/>
                <a:cs typeface="Times New Roman"/>
              </a:rPr>
              <a:t>following</a:t>
            </a:r>
            <a:r>
              <a:rPr dirty="0" sz="1150" spc="-15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code:  for(i=0; i&lt;3;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i++)</a:t>
            </a:r>
            <a:endParaRPr sz="1150">
              <a:latin typeface="Times New Roman"/>
              <a:cs typeface="Times New Roman"/>
            </a:endParaRPr>
          </a:p>
          <a:p>
            <a:pPr marL="1030605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for(j=0;j&lt;4;j++)</a:t>
            </a:r>
            <a:endParaRPr sz="1150">
              <a:latin typeface="Times New Roman"/>
              <a:cs typeface="Times New Roman"/>
            </a:endParaRPr>
          </a:p>
          <a:p>
            <a:pPr marL="1030605">
              <a:lnSpc>
                <a:spcPct val="100000"/>
              </a:lnSpc>
              <a:spcBef>
                <a:spcPts val="135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1030605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scanf(“ </a:t>
            </a:r>
            <a:r>
              <a:rPr dirty="0" sz="1150" spc="20">
                <a:latin typeface="Times New Roman"/>
                <a:cs typeface="Times New Roman"/>
              </a:rPr>
              <a:t>%d”,</a:t>
            </a:r>
            <a:r>
              <a:rPr dirty="0" sz="1150" spc="4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&amp;marks[i][j]);</a:t>
            </a:r>
            <a:endParaRPr sz="1150">
              <a:latin typeface="Times New Roman"/>
              <a:cs typeface="Times New Roman"/>
            </a:endParaRPr>
          </a:p>
          <a:p>
            <a:pPr marL="1030605">
              <a:lnSpc>
                <a:spcPct val="100000"/>
              </a:lnSpc>
              <a:spcBef>
                <a:spcPts val="130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  <a:spcBef>
                <a:spcPts val="960"/>
              </a:spcBef>
            </a:pPr>
            <a:r>
              <a:rPr dirty="0" sz="1150" spc="30" b="1">
                <a:latin typeface="Times New Roman"/>
                <a:cs typeface="Times New Roman"/>
              </a:rPr>
              <a:t>ACCESSING </a:t>
            </a:r>
            <a:r>
              <a:rPr dirty="0" sz="1150" spc="40" b="1">
                <a:latin typeface="Times New Roman"/>
                <a:cs typeface="Times New Roman"/>
              </a:rPr>
              <a:t>THE </a:t>
            </a:r>
            <a:r>
              <a:rPr dirty="0" sz="1150" spc="35" b="1">
                <a:latin typeface="Times New Roman"/>
                <a:cs typeface="Times New Roman"/>
              </a:rPr>
              <a:t>ELEMENTS </a:t>
            </a:r>
            <a:r>
              <a:rPr dirty="0" sz="1150" spc="40" b="1">
                <a:latin typeface="Times New Roman"/>
                <a:cs typeface="Times New Roman"/>
              </a:rPr>
              <a:t>OF </a:t>
            </a:r>
            <a:r>
              <a:rPr dirty="0" sz="1150" spc="35" b="1">
                <a:latin typeface="Times New Roman"/>
                <a:cs typeface="Times New Roman"/>
              </a:rPr>
              <a:t>TWO-DIMENSIONAL</a:t>
            </a:r>
            <a:r>
              <a:rPr dirty="0" sz="1150" spc="-75" b="1">
                <a:latin typeface="Times New Roman"/>
                <a:cs typeface="Times New Roman"/>
              </a:rPr>
              <a:t> </a:t>
            </a:r>
            <a:r>
              <a:rPr dirty="0" sz="1150" spc="35" b="1">
                <a:latin typeface="Times New Roman"/>
                <a:cs typeface="Times New Roman"/>
              </a:rPr>
              <a:t>ARRAYS</a:t>
            </a:r>
            <a:endParaRPr sz="1150">
              <a:latin typeface="Times New Roman"/>
              <a:cs typeface="Times New Roman"/>
            </a:endParaRPr>
          </a:p>
          <a:p>
            <a:pPr marL="114300" marR="5080" indent="456565">
              <a:lnSpc>
                <a:spcPct val="107800"/>
              </a:lnSpc>
              <a:spcBef>
                <a:spcPts val="750"/>
              </a:spcBef>
            </a:pPr>
            <a:r>
              <a:rPr dirty="0" sz="1150" spc="20">
                <a:latin typeface="Times New Roman"/>
                <a:cs typeface="Times New Roman"/>
              </a:rPr>
              <a:t>The elements </a:t>
            </a:r>
            <a:r>
              <a:rPr dirty="0" sz="1150" spc="15">
                <a:latin typeface="Times New Roman"/>
                <a:cs typeface="Times New Roman"/>
              </a:rPr>
              <a:t>of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20">
                <a:latin typeface="Times New Roman"/>
                <a:cs typeface="Times New Roman"/>
              </a:rPr>
              <a:t>2D array </a:t>
            </a:r>
            <a:r>
              <a:rPr dirty="0" sz="1150" spc="15">
                <a:latin typeface="Times New Roman"/>
                <a:cs typeface="Times New Roman"/>
              </a:rPr>
              <a:t>are stored </a:t>
            </a:r>
            <a:r>
              <a:rPr dirty="0" sz="1150" spc="20">
                <a:latin typeface="Times New Roman"/>
                <a:cs typeface="Times New Roman"/>
              </a:rPr>
              <a:t>in contiguous </a:t>
            </a:r>
            <a:r>
              <a:rPr dirty="0" sz="1150" spc="25">
                <a:latin typeface="Times New Roman"/>
                <a:cs typeface="Times New Roman"/>
              </a:rPr>
              <a:t>memory </a:t>
            </a:r>
            <a:r>
              <a:rPr dirty="0" sz="1150" spc="15">
                <a:latin typeface="Times New Roman"/>
                <a:cs typeface="Times New Roman"/>
              </a:rPr>
              <a:t>locations. </a:t>
            </a:r>
            <a:r>
              <a:rPr dirty="0" sz="1150" spc="30">
                <a:latin typeface="Times New Roman"/>
                <a:cs typeface="Times New Roman"/>
              </a:rPr>
              <a:t>Two </a:t>
            </a:r>
            <a:r>
              <a:rPr dirty="0" sz="1150" spc="15">
                <a:latin typeface="Times New Roman"/>
                <a:cs typeface="Times New Roman"/>
              </a:rPr>
              <a:t>for </a:t>
            </a:r>
            <a:r>
              <a:rPr dirty="0" sz="1150" spc="20">
                <a:latin typeface="Times New Roman"/>
                <a:cs typeface="Times New Roman"/>
              </a:rPr>
              <a:t>loops  </a:t>
            </a:r>
            <a:r>
              <a:rPr dirty="0" sz="1150" spc="15">
                <a:latin typeface="Times New Roman"/>
                <a:cs typeface="Times New Roman"/>
              </a:rPr>
              <a:t>are used </a:t>
            </a:r>
            <a:r>
              <a:rPr dirty="0" sz="1150" spc="20">
                <a:latin typeface="Times New Roman"/>
                <a:cs typeface="Times New Roman"/>
              </a:rPr>
              <a:t>to </a:t>
            </a:r>
            <a:r>
              <a:rPr dirty="0" sz="1150" spc="15">
                <a:latin typeface="Times New Roman"/>
                <a:cs typeface="Times New Roman"/>
              </a:rPr>
              <a:t>scan the </a:t>
            </a:r>
            <a:r>
              <a:rPr dirty="0" sz="1150" spc="20">
                <a:latin typeface="Times New Roman"/>
                <a:cs typeface="Times New Roman"/>
              </a:rPr>
              <a:t>elements. </a:t>
            </a:r>
            <a:r>
              <a:rPr dirty="0" sz="1150" spc="25">
                <a:latin typeface="Times New Roman"/>
                <a:cs typeface="Times New Roman"/>
              </a:rPr>
              <a:t>The </a:t>
            </a:r>
            <a:r>
              <a:rPr dirty="0" sz="1150" spc="15">
                <a:latin typeface="Times New Roman"/>
                <a:cs typeface="Times New Roman"/>
              </a:rPr>
              <a:t>first for </a:t>
            </a:r>
            <a:r>
              <a:rPr dirty="0" sz="1150" spc="20">
                <a:latin typeface="Times New Roman"/>
                <a:cs typeface="Times New Roman"/>
              </a:rPr>
              <a:t>loop </a:t>
            </a:r>
            <a:r>
              <a:rPr dirty="0" sz="1150" spc="15">
                <a:latin typeface="Times New Roman"/>
                <a:cs typeface="Times New Roman"/>
              </a:rPr>
              <a:t>will scan </a:t>
            </a:r>
            <a:r>
              <a:rPr dirty="0" sz="1150" spc="20">
                <a:latin typeface="Times New Roman"/>
                <a:cs typeface="Times New Roman"/>
              </a:rPr>
              <a:t>each row in </a:t>
            </a:r>
            <a:r>
              <a:rPr dirty="0" sz="1150" spc="15">
                <a:latin typeface="Times New Roman"/>
                <a:cs typeface="Times New Roman"/>
              </a:rPr>
              <a:t>the </a:t>
            </a:r>
            <a:r>
              <a:rPr dirty="0" sz="1150" spc="20">
                <a:latin typeface="Times New Roman"/>
                <a:cs typeface="Times New Roman"/>
              </a:rPr>
              <a:t>2D array and </a:t>
            </a:r>
            <a:r>
              <a:rPr dirty="0" sz="1150" spc="15">
                <a:latin typeface="Times New Roman"/>
                <a:cs typeface="Times New Roman"/>
              </a:rPr>
              <a:t>the  second for </a:t>
            </a:r>
            <a:r>
              <a:rPr dirty="0" sz="1150" spc="20">
                <a:latin typeface="Times New Roman"/>
                <a:cs typeface="Times New Roman"/>
              </a:rPr>
              <a:t>loop </a:t>
            </a:r>
            <a:r>
              <a:rPr dirty="0" sz="1150" spc="15">
                <a:latin typeface="Times New Roman"/>
                <a:cs typeface="Times New Roman"/>
              </a:rPr>
              <a:t>will scan individual </a:t>
            </a:r>
            <a:r>
              <a:rPr dirty="0" sz="1150" spc="20">
                <a:latin typeface="Times New Roman"/>
                <a:cs typeface="Times New Roman"/>
              </a:rPr>
              <a:t>columns </a:t>
            </a:r>
            <a:r>
              <a:rPr dirty="0" sz="1150" spc="15">
                <a:latin typeface="Times New Roman"/>
                <a:cs typeface="Times New Roman"/>
              </a:rPr>
              <a:t>for </a:t>
            </a:r>
            <a:r>
              <a:rPr dirty="0" sz="1150" spc="20">
                <a:latin typeface="Times New Roman"/>
                <a:cs typeface="Times New Roman"/>
              </a:rPr>
              <a:t>every row in </a:t>
            </a:r>
            <a:r>
              <a:rPr dirty="0" sz="1150" spc="15">
                <a:latin typeface="Times New Roman"/>
                <a:cs typeface="Times New Roman"/>
              </a:rPr>
              <a:t>the</a:t>
            </a:r>
            <a:r>
              <a:rPr dirty="0" sz="1150" spc="11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array.</a:t>
            </a:r>
            <a:endParaRPr sz="1150">
              <a:latin typeface="Times New Roman"/>
              <a:cs typeface="Times New Roman"/>
            </a:endParaRPr>
          </a:p>
          <a:p>
            <a:pPr marL="114300" marR="2528570" indent="34925">
              <a:lnSpc>
                <a:spcPct val="162600"/>
              </a:lnSpc>
              <a:spcBef>
                <a:spcPts val="70"/>
              </a:spcBef>
            </a:pPr>
            <a:r>
              <a:rPr dirty="0" sz="1150" spc="20">
                <a:latin typeface="Times New Roman"/>
                <a:cs typeface="Times New Roman"/>
              </a:rPr>
              <a:t>Write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20">
                <a:latin typeface="Times New Roman"/>
                <a:cs typeface="Times New Roman"/>
              </a:rPr>
              <a:t>program to </a:t>
            </a:r>
            <a:r>
              <a:rPr dirty="0" sz="1150" spc="15">
                <a:latin typeface="Times New Roman"/>
                <a:cs typeface="Times New Roman"/>
              </a:rPr>
              <a:t>print the </a:t>
            </a:r>
            <a:r>
              <a:rPr dirty="0" sz="1150" spc="20">
                <a:latin typeface="Times New Roman"/>
                <a:cs typeface="Times New Roman"/>
              </a:rPr>
              <a:t>elements </a:t>
            </a:r>
            <a:r>
              <a:rPr dirty="0" sz="1150" spc="15">
                <a:latin typeface="Times New Roman"/>
                <a:cs typeface="Times New Roman"/>
              </a:rPr>
              <a:t>of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20">
                <a:latin typeface="Times New Roman"/>
                <a:cs typeface="Times New Roman"/>
              </a:rPr>
              <a:t>2D array  #include&lt;stdio.h&gt;</a:t>
            </a:r>
            <a:endParaRPr sz="115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  <a:spcBef>
                <a:spcPts val="110"/>
              </a:spcBef>
            </a:pPr>
            <a:r>
              <a:rPr dirty="0" sz="1150" spc="10">
                <a:latin typeface="Times New Roman"/>
                <a:cs typeface="Times New Roman"/>
              </a:rPr>
              <a:t>int</a:t>
            </a:r>
            <a:r>
              <a:rPr dirty="0" sz="1150" spc="20">
                <a:latin typeface="Times New Roman"/>
                <a:cs typeface="Times New Roman"/>
              </a:rPr>
              <a:t> main(){</a:t>
            </a:r>
            <a:endParaRPr sz="1150">
              <a:latin typeface="Times New Roman"/>
              <a:cs typeface="Times New Roman"/>
            </a:endParaRPr>
          </a:p>
          <a:p>
            <a:pPr marL="571500">
              <a:lnSpc>
                <a:spcPct val="100000"/>
              </a:lnSpc>
              <a:spcBef>
                <a:spcPts val="105"/>
              </a:spcBef>
            </a:pPr>
            <a:r>
              <a:rPr dirty="0" sz="1150" spc="10">
                <a:latin typeface="Times New Roman"/>
                <a:cs typeface="Times New Roman"/>
              </a:rPr>
              <a:t>int </a:t>
            </a:r>
            <a:r>
              <a:rPr dirty="0" sz="1150" spc="15">
                <a:latin typeface="Times New Roman"/>
                <a:cs typeface="Times New Roman"/>
              </a:rPr>
              <a:t>rows,</a:t>
            </a:r>
            <a:r>
              <a:rPr dirty="0" sz="1150" spc="3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columns;</a:t>
            </a:r>
            <a:endParaRPr sz="1150">
              <a:latin typeface="Times New Roman"/>
              <a:cs typeface="Times New Roman"/>
            </a:endParaRPr>
          </a:p>
          <a:p>
            <a:pPr marL="571500">
              <a:lnSpc>
                <a:spcPct val="100000"/>
              </a:lnSpc>
              <a:spcBef>
                <a:spcPts val="135"/>
              </a:spcBef>
            </a:pPr>
            <a:r>
              <a:rPr dirty="0" sz="1150" spc="10">
                <a:latin typeface="Times New Roman"/>
                <a:cs typeface="Times New Roman"/>
              </a:rPr>
              <a:t>int </a:t>
            </a:r>
            <a:r>
              <a:rPr dirty="0" sz="1150" spc="15">
                <a:latin typeface="Times New Roman"/>
                <a:cs typeface="Times New Roman"/>
              </a:rPr>
              <a:t>a[2][2] = {{10, 20}, {30,</a:t>
            </a:r>
            <a:r>
              <a:rPr dirty="0" sz="1150" spc="8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70}};</a:t>
            </a:r>
            <a:endParaRPr sz="1150">
              <a:latin typeface="Times New Roman"/>
              <a:cs typeface="Times New Roman"/>
            </a:endParaRPr>
          </a:p>
          <a:p>
            <a:pPr marL="1384300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printf("\nPrinting the </a:t>
            </a:r>
            <a:r>
              <a:rPr dirty="0" sz="1150" spc="20">
                <a:latin typeface="Times New Roman"/>
                <a:cs typeface="Times New Roman"/>
              </a:rPr>
              <a:t>2D</a:t>
            </a:r>
            <a:r>
              <a:rPr dirty="0" sz="1150" spc="4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Array\n")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50" spc="15">
                <a:latin typeface="Times New Roman"/>
                <a:cs typeface="Times New Roman"/>
              </a:rPr>
              <a:t>for(int </a:t>
            </a:r>
            <a:r>
              <a:rPr dirty="0" sz="1150" spc="20">
                <a:latin typeface="Times New Roman"/>
                <a:cs typeface="Times New Roman"/>
              </a:rPr>
              <a:t>rows </a:t>
            </a:r>
            <a:r>
              <a:rPr dirty="0" sz="1150" spc="15">
                <a:latin typeface="Times New Roman"/>
                <a:cs typeface="Times New Roman"/>
              </a:rPr>
              <a:t>= </a:t>
            </a:r>
            <a:r>
              <a:rPr dirty="0" sz="1150" spc="10">
                <a:latin typeface="Times New Roman"/>
                <a:cs typeface="Times New Roman"/>
              </a:rPr>
              <a:t>0; </a:t>
            </a:r>
            <a:r>
              <a:rPr dirty="0" sz="1150" spc="20">
                <a:latin typeface="Times New Roman"/>
                <a:cs typeface="Times New Roman"/>
              </a:rPr>
              <a:t>rows </a:t>
            </a:r>
            <a:r>
              <a:rPr dirty="0" sz="1150" spc="15">
                <a:latin typeface="Times New Roman"/>
                <a:cs typeface="Times New Roman"/>
              </a:rPr>
              <a:t>&lt; </a:t>
            </a:r>
            <a:r>
              <a:rPr dirty="0" sz="1150" spc="10">
                <a:latin typeface="Times New Roman"/>
                <a:cs typeface="Times New Roman"/>
              </a:rPr>
              <a:t>2;</a:t>
            </a:r>
            <a:r>
              <a:rPr dirty="0" sz="1150" spc="8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rows++)</a:t>
            </a:r>
            <a:endParaRPr sz="1150">
              <a:latin typeface="Times New Roman"/>
              <a:cs typeface="Times New Roman"/>
            </a:endParaRPr>
          </a:p>
          <a:p>
            <a:pPr marL="571500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1030605">
              <a:lnSpc>
                <a:spcPct val="100000"/>
              </a:lnSpc>
              <a:spcBef>
                <a:spcPts val="135"/>
              </a:spcBef>
            </a:pPr>
            <a:r>
              <a:rPr dirty="0" sz="1150" spc="15">
                <a:latin typeface="Times New Roman"/>
                <a:cs typeface="Times New Roman"/>
              </a:rPr>
              <a:t>for(int </a:t>
            </a:r>
            <a:r>
              <a:rPr dirty="0" sz="1150" spc="20">
                <a:latin typeface="Times New Roman"/>
                <a:cs typeface="Times New Roman"/>
              </a:rPr>
              <a:t>columns </a:t>
            </a:r>
            <a:r>
              <a:rPr dirty="0" sz="1150" spc="15">
                <a:latin typeface="Times New Roman"/>
                <a:cs typeface="Times New Roman"/>
              </a:rPr>
              <a:t>= 0; </a:t>
            </a:r>
            <a:r>
              <a:rPr dirty="0" sz="1150" spc="20">
                <a:latin typeface="Times New Roman"/>
                <a:cs typeface="Times New Roman"/>
              </a:rPr>
              <a:t>columns </a:t>
            </a:r>
            <a:r>
              <a:rPr dirty="0" sz="1150" spc="15">
                <a:latin typeface="Times New Roman"/>
                <a:cs typeface="Times New Roman"/>
              </a:rPr>
              <a:t>&lt; </a:t>
            </a:r>
            <a:r>
              <a:rPr dirty="0" sz="1150" spc="10">
                <a:latin typeface="Times New Roman"/>
                <a:cs typeface="Times New Roman"/>
              </a:rPr>
              <a:t>2;</a:t>
            </a:r>
            <a:r>
              <a:rPr dirty="0" sz="1150" spc="7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columns++)</a:t>
            </a:r>
            <a:endParaRPr sz="1150">
              <a:latin typeface="Times New Roman"/>
              <a:cs typeface="Times New Roman"/>
            </a:endParaRPr>
          </a:p>
          <a:p>
            <a:pPr marL="1030605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1487805">
              <a:lnSpc>
                <a:spcPct val="100000"/>
              </a:lnSpc>
              <a:spcBef>
                <a:spcPts val="95"/>
              </a:spcBef>
            </a:pPr>
            <a:r>
              <a:rPr dirty="0" sz="1150" spc="20">
                <a:latin typeface="Times New Roman"/>
                <a:cs typeface="Times New Roman"/>
              </a:rPr>
              <a:t>printf("%d </a:t>
            </a:r>
            <a:r>
              <a:rPr dirty="0" sz="1150" spc="10">
                <a:latin typeface="Times New Roman"/>
                <a:cs typeface="Times New Roman"/>
              </a:rPr>
              <a:t>",</a:t>
            </a:r>
            <a:r>
              <a:rPr dirty="0" sz="1150" spc="3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a[rows][columns]);</a:t>
            </a:r>
            <a:endParaRPr sz="1150">
              <a:latin typeface="Times New Roman"/>
              <a:cs typeface="Times New Roman"/>
            </a:endParaRPr>
          </a:p>
          <a:p>
            <a:pPr marL="1030605">
              <a:lnSpc>
                <a:spcPct val="100000"/>
              </a:lnSpc>
              <a:spcBef>
                <a:spcPts val="130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1030605">
              <a:lnSpc>
                <a:spcPct val="100000"/>
              </a:lnSpc>
              <a:spcBef>
                <a:spcPts val="100"/>
              </a:spcBef>
            </a:pPr>
            <a:r>
              <a:rPr dirty="0" sz="1150" spc="15">
                <a:latin typeface="Times New Roman"/>
                <a:cs typeface="Times New Roman"/>
              </a:rPr>
              <a:t>printf("\n");</a:t>
            </a:r>
            <a:endParaRPr sz="1150">
              <a:latin typeface="Times New Roman"/>
              <a:cs typeface="Times New Roman"/>
            </a:endParaRPr>
          </a:p>
          <a:p>
            <a:pPr marL="571500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571500">
              <a:lnSpc>
                <a:spcPct val="100000"/>
              </a:lnSpc>
              <a:spcBef>
                <a:spcPts val="130"/>
              </a:spcBef>
            </a:pPr>
            <a:r>
              <a:rPr dirty="0" sz="1150" spc="15">
                <a:latin typeface="Times New Roman"/>
                <a:cs typeface="Times New Roman"/>
              </a:rPr>
              <a:t>return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0;</a:t>
            </a:r>
            <a:endParaRPr sz="115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  <a:spcBef>
                <a:spcPts val="110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  <a:spcBef>
                <a:spcPts val="120"/>
              </a:spcBef>
            </a:pPr>
            <a:r>
              <a:rPr dirty="0" sz="1150" spc="15">
                <a:latin typeface="Times New Roman"/>
                <a:cs typeface="Times New Roman"/>
              </a:rPr>
              <a:t>Output:</a:t>
            </a:r>
            <a:endParaRPr sz="115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Printing the </a:t>
            </a:r>
            <a:r>
              <a:rPr dirty="0" sz="1150" spc="20">
                <a:latin typeface="Times New Roman"/>
                <a:cs typeface="Times New Roman"/>
              </a:rPr>
              <a:t>2D</a:t>
            </a:r>
            <a:r>
              <a:rPr dirty="0" sz="1150" spc="-7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array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7470191"/>
            <a:ext cx="180975" cy="40957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1150" spc="35">
                <a:latin typeface="Times New Roman"/>
                <a:cs typeface="Times New Roman"/>
              </a:rPr>
              <a:t>10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20">
                <a:latin typeface="Times New Roman"/>
                <a:cs typeface="Times New Roman"/>
              </a:rPr>
              <a:t>30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7630" y="7470191"/>
            <a:ext cx="182880" cy="40957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1150" spc="35">
                <a:latin typeface="Times New Roman"/>
                <a:cs typeface="Times New Roman"/>
              </a:rPr>
              <a:t>20</a:t>
            </a:r>
            <a:endParaRPr sz="115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130"/>
              </a:spcBef>
            </a:pPr>
            <a:r>
              <a:rPr dirty="0" sz="1150" spc="35">
                <a:latin typeface="Times New Roman"/>
                <a:cs typeface="Times New Roman"/>
              </a:rPr>
              <a:t>40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6604" y="8024412"/>
            <a:ext cx="5750560" cy="1334135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70"/>
              </a:spcBef>
            </a:pPr>
            <a:r>
              <a:rPr dirty="0" sz="1400" spc="-5" b="1">
                <a:latin typeface="Times New Roman"/>
                <a:cs typeface="Times New Roman"/>
              </a:rPr>
              <a:t>OPERATIONS </a:t>
            </a:r>
            <a:r>
              <a:rPr dirty="0" sz="1400" b="1">
                <a:latin typeface="Times New Roman"/>
                <a:cs typeface="Times New Roman"/>
              </a:rPr>
              <a:t>ON </a:t>
            </a:r>
            <a:r>
              <a:rPr dirty="0" sz="1400" spc="-5" b="1">
                <a:latin typeface="Times New Roman"/>
                <a:cs typeface="Times New Roman"/>
              </a:rPr>
              <a:t>TWO-DIMENSIONAL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ARRAY</a:t>
            </a:r>
            <a:endParaRPr sz="1400">
              <a:latin typeface="Times New Roman"/>
              <a:cs typeface="Times New Roman"/>
            </a:endParaRPr>
          </a:p>
          <a:p>
            <a:pPr marL="494665">
              <a:lnSpc>
                <a:spcPct val="100000"/>
              </a:lnSpc>
              <a:spcBef>
                <a:spcPts val="145"/>
              </a:spcBef>
            </a:pPr>
            <a:r>
              <a:rPr dirty="0" sz="1150" spc="25">
                <a:latin typeface="Times New Roman"/>
                <a:cs typeface="Times New Roman"/>
              </a:rPr>
              <a:t>Two </a:t>
            </a:r>
            <a:r>
              <a:rPr dirty="0" sz="1150" spc="20">
                <a:latin typeface="Times New Roman"/>
                <a:cs typeface="Times New Roman"/>
              </a:rPr>
              <a:t>dimensional </a:t>
            </a:r>
            <a:r>
              <a:rPr dirty="0" sz="1150" spc="15">
                <a:latin typeface="Times New Roman"/>
                <a:cs typeface="Times New Roman"/>
              </a:rPr>
              <a:t>arrays can be used </a:t>
            </a:r>
            <a:r>
              <a:rPr dirty="0" sz="1150" spc="20">
                <a:latin typeface="Times New Roman"/>
                <a:cs typeface="Times New Roman"/>
              </a:rPr>
              <a:t>to implement mathematical concept </a:t>
            </a:r>
            <a:r>
              <a:rPr dirty="0" sz="1150" spc="15">
                <a:latin typeface="Times New Roman"/>
                <a:cs typeface="Times New Roman"/>
              </a:rPr>
              <a:t>of</a:t>
            </a:r>
            <a:r>
              <a:rPr dirty="0" sz="1150" spc="15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matrices.</a:t>
            </a:r>
            <a:endParaRPr sz="11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150" spc="20">
                <a:latin typeface="Times New Roman"/>
                <a:cs typeface="Times New Roman"/>
              </a:rPr>
              <a:t>Matrix </a:t>
            </a:r>
            <a:r>
              <a:rPr dirty="0" sz="1150" spc="15">
                <a:latin typeface="Times New Roman"/>
                <a:cs typeface="Times New Roman"/>
              </a:rPr>
              <a:t>is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15">
                <a:latin typeface="Times New Roman"/>
                <a:cs typeface="Times New Roman"/>
              </a:rPr>
              <a:t>grid of </a:t>
            </a:r>
            <a:r>
              <a:rPr dirty="0" sz="1150" spc="25">
                <a:latin typeface="Times New Roman"/>
                <a:cs typeface="Times New Roman"/>
              </a:rPr>
              <a:t>numbers </a:t>
            </a:r>
            <a:r>
              <a:rPr dirty="0" sz="1150" spc="20">
                <a:latin typeface="Times New Roman"/>
                <a:cs typeface="Times New Roman"/>
              </a:rPr>
              <a:t>arranged in rows and</a:t>
            </a:r>
            <a:r>
              <a:rPr dirty="0" sz="1150" spc="4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columns.</a:t>
            </a:r>
            <a:endParaRPr sz="11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dirty="0" sz="1400" spc="30" b="1">
                <a:latin typeface="Times New Roman"/>
                <a:cs typeface="Times New Roman"/>
              </a:rPr>
              <a:t>Transpose: </a:t>
            </a:r>
            <a:r>
              <a:rPr dirty="0" sz="1150" spc="20">
                <a:latin typeface="Times New Roman"/>
                <a:cs typeface="Times New Roman"/>
              </a:rPr>
              <a:t>Transpose </a:t>
            </a:r>
            <a:r>
              <a:rPr dirty="0" sz="1150" spc="15">
                <a:latin typeface="Times New Roman"/>
                <a:cs typeface="Times New Roman"/>
              </a:rPr>
              <a:t>of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25">
                <a:latin typeface="Times New Roman"/>
                <a:cs typeface="Times New Roman"/>
              </a:rPr>
              <a:t>m </a:t>
            </a:r>
            <a:r>
              <a:rPr dirty="0" sz="1150" spc="20">
                <a:latin typeface="Times New Roman"/>
                <a:cs typeface="Times New Roman"/>
              </a:rPr>
              <a:t>X </a:t>
            </a:r>
            <a:r>
              <a:rPr dirty="0" sz="1150" spc="15">
                <a:latin typeface="Times New Roman"/>
                <a:cs typeface="Times New Roman"/>
              </a:rPr>
              <a:t>n </a:t>
            </a:r>
            <a:r>
              <a:rPr dirty="0" sz="1150" spc="20">
                <a:latin typeface="Times New Roman"/>
                <a:cs typeface="Times New Roman"/>
              </a:rPr>
              <a:t>matrix A </a:t>
            </a:r>
            <a:r>
              <a:rPr dirty="0" sz="1150" spc="15">
                <a:latin typeface="Times New Roman"/>
                <a:cs typeface="Times New Roman"/>
              </a:rPr>
              <a:t>is </a:t>
            </a:r>
            <a:r>
              <a:rPr dirty="0" sz="1150" spc="20">
                <a:latin typeface="Times New Roman"/>
                <a:cs typeface="Times New Roman"/>
              </a:rPr>
              <a:t>given </a:t>
            </a:r>
            <a:r>
              <a:rPr dirty="0" sz="1150" spc="15">
                <a:latin typeface="Times New Roman"/>
                <a:cs typeface="Times New Roman"/>
              </a:rPr>
              <a:t>as n </a:t>
            </a:r>
            <a:r>
              <a:rPr dirty="0" sz="1150" spc="20">
                <a:latin typeface="Times New Roman"/>
                <a:cs typeface="Times New Roman"/>
              </a:rPr>
              <a:t>X </a:t>
            </a:r>
            <a:r>
              <a:rPr dirty="0" sz="1150" spc="25">
                <a:latin typeface="Times New Roman"/>
                <a:cs typeface="Times New Roman"/>
              </a:rPr>
              <a:t>m </a:t>
            </a:r>
            <a:r>
              <a:rPr dirty="0" sz="1150" spc="20">
                <a:latin typeface="Times New Roman"/>
                <a:cs typeface="Times New Roman"/>
              </a:rPr>
              <a:t>matrix B</a:t>
            </a:r>
            <a:r>
              <a:rPr dirty="0" sz="1150" spc="7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where</a:t>
            </a:r>
            <a:endParaRPr sz="1150">
              <a:latin typeface="Times New Roman"/>
              <a:cs typeface="Times New Roman"/>
            </a:endParaRPr>
          </a:p>
          <a:p>
            <a:pPr marL="1410970">
              <a:lnSpc>
                <a:spcPts val="1835"/>
              </a:lnSpc>
              <a:spcBef>
                <a:spcPts val="260"/>
              </a:spcBef>
            </a:pPr>
            <a:r>
              <a:rPr dirty="0" baseline="5376" sz="2325" spc="-7">
                <a:latin typeface="Times New Roman"/>
                <a:cs typeface="Times New Roman"/>
              </a:rPr>
              <a:t>B </a:t>
            </a:r>
            <a:r>
              <a:rPr dirty="0" sz="1050" spc="-5">
                <a:latin typeface="Times New Roman"/>
                <a:cs typeface="Times New Roman"/>
              </a:rPr>
              <a:t>i, </a:t>
            </a:r>
            <a:r>
              <a:rPr dirty="0" sz="1050">
                <a:latin typeface="Times New Roman"/>
                <a:cs typeface="Times New Roman"/>
              </a:rPr>
              <a:t>j </a:t>
            </a:r>
            <a:r>
              <a:rPr dirty="0" baseline="5376" sz="2325" spc="-7">
                <a:latin typeface="Times New Roman"/>
                <a:cs typeface="Times New Roman"/>
              </a:rPr>
              <a:t>= A </a:t>
            </a:r>
            <a:r>
              <a:rPr dirty="0" sz="1050" spc="-5">
                <a:latin typeface="Times New Roman"/>
                <a:cs typeface="Times New Roman"/>
              </a:rPr>
              <a:t>j,</a:t>
            </a:r>
            <a:r>
              <a:rPr dirty="0" sz="1050">
                <a:latin typeface="Times New Roman"/>
                <a:cs typeface="Times New Roman"/>
              </a:rPr>
              <a:t> i</a:t>
            </a:r>
            <a:endParaRPr sz="1050">
              <a:latin typeface="Times New Roman"/>
              <a:cs typeface="Times New Roman"/>
            </a:endParaRPr>
          </a:p>
          <a:p>
            <a:pPr marL="38100">
              <a:lnSpc>
                <a:spcPts val="1655"/>
              </a:lnSpc>
            </a:pPr>
            <a:r>
              <a:rPr dirty="0" sz="1400" spc="35" b="1">
                <a:latin typeface="Times New Roman"/>
                <a:cs typeface="Times New Roman"/>
              </a:rPr>
              <a:t>Sum: </a:t>
            </a:r>
            <a:r>
              <a:rPr dirty="0" sz="1150" spc="25">
                <a:latin typeface="Times New Roman"/>
                <a:cs typeface="Times New Roman"/>
              </a:rPr>
              <a:t>Two </a:t>
            </a:r>
            <a:r>
              <a:rPr dirty="0" sz="1150" spc="20">
                <a:latin typeface="Times New Roman"/>
                <a:cs typeface="Times New Roman"/>
              </a:rPr>
              <a:t>matrices </a:t>
            </a:r>
            <a:r>
              <a:rPr dirty="0" sz="1150" spc="15">
                <a:latin typeface="Times New Roman"/>
                <a:cs typeface="Times New Roman"/>
              </a:rPr>
              <a:t>that are </a:t>
            </a:r>
            <a:r>
              <a:rPr dirty="0" sz="1150" spc="20">
                <a:latin typeface="Times New Roman"/>
                <a:cs typeface="Times New Roman"/>
              </a:rPr>
              <a:t>compatible can </a:t>
            </a:r>
            <a:r>
              <a:rPr dirty="0" sz="1150" spc="15">
                <a:latin typeface="Times New Roman"/>
                <a:cs typeface="Times New Roman"/>
              </a:rPr>
              <a:t>be </a:t>
            </a:r>
            <a:r>
              <a:rPr dirty="0" sz="1150" spc="20">
                <a:latin typeface="Times New Roman"/>
                <a:cs typeface="Times New Roman"/>
              </a:rPr>
              <a:t>added </a:t>
            </a:r>
            <a:r>
              <a:rPr dirty="0" sz="1150" spc="15">
                <a:latin typeface="Times New Roman"/>
                <a:cs typeface="Times New Roman"/>
              </a:rPr>
              <a:t>together storing the result </a:t>
            </a:r>
            <a:r>
              <a:rPr dirty="0" sz="1150" spc="20">
                <a:latin typeface="Times New Roman"/>
                <a:cs typeface="Times New Roman"/>
              </a:rPr>
              <a:t>in </a:t>
            </a:r>
            <a:r>
              <a:rPr dirty="0" sz="1150" spc="15">
                <a:latin typeface="Times New Roman"/>
                <a:cs typeface="Times New Roman"/>
              </a:rPr>
              <a:t>the</a:t>
            </a:r>
            <a:r>
              <a:rPr dirty="0" sz="1150" spc="10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third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0996" y="1019606"/>
            <a:ext cx="6073775" cy="8186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3200" marR="132080">
              <a:lnSpc>
                <a:spcPct val="107000"/>
              </a:lnSpc>
              <a:spcBef>
                <a:spcPts val="100"/>
              </a:spcBef>
            </a:pPr>
            <a:r>
              <a:rPr dirty="0" sz="1150" spc="15">
                <a:latin typeface="Times New Roman"/>
                <a:cs typeface="Times New Roman"/>
              </a:rPr>
              <a:t>matrix. </a:t>
            </a:r>
            <a:r>
              <a:rPr dirty="0" sz="1150" spc="25">
                <a:latin typeface="Times New Roman"/>
                <a:cs typeface="Times New Roman"/>
              </a:rPr>
              <a:t>Two </a:t>
            </a:r>
            <a:r>
              <a:rPr dirty="0" sz="1150" spc="20">
                <a:latin typeface="Times New Roman"/>
                <a:cs typeface="Times New Roman"/>
              </a:rPr>
              <a:t>matrices </a:t>
            </a:r>
            <a:r>
              <a:rPr dirty="0" sz="1150" spc="15">
                <a:latin typeface="Times New Roman"/>
                <a:cs typeface="Times New Roman"/>
              </a:rPr>
              <a:t>are said </a:t>
            </a:r>
            <a:r>
              <a:rPr dirty="0" sz="1150" spc="20">
                <a:latin typeface="Times New Roman"/>
                <a:cs typeface="Times New Roman"/>
              </a:rPr>
              <a:t>to </a:t>
            </a:r>
            <a:r>
              <a:rPr dirty="0" sz="1150" spc="15">
                <a:latin typeface="Times New Roman"/>
                <a:cs typeface="Times New Roman"/>
              </a:rPr>
              <a:t>be </a:t>
            </a:r>
            <a:r>
              <a:rPr dirty="0" sz="1150" spc="20">
                <a:latin typeface="Times New Roman"/>
                <a:cs typeface="Times New Roman"/>
              </a:rPr>
              <a:t>compatible </a:t>
            </a:r>
            <a:r>
              <a:rPr dirty="0" sz="1150" spc="25">
                <a:latin typeface="Times New Roman"/>
                <a:cs typeface="Times New Roman"/>
              </a:rPr>
              <a:t>when </a:t>
            </a:r>
            <a:r>
              <a:rPr dirty="0" sz="1150" spc="20">
                <a:latin typeface="Times New Roman"/>
                <a:cs typeface="Times New Roman"/>
              </a:rPr>
              <a:t>they have </a:t>
            </a:r>
            <a:r>
              <a:rPr dirty="0" sz="1150" spc="15">
                <a:latin typeface="Times New Roman"/>
                <a:cs typeface="Times New Roman"/>
              </a:rPr>
              <a:t>the </a:t>
            </a:r>
            <a:r>
              <a:rPr dirty="0" sz="1150" spc="20">
                <a:latin typeface="Times New Roman"/>
                <a:cs typeface="Times New Roman"/>
              </a:rPr>
              <a:t>same number </a:t>
            </a:r>
            <a:r>
              <a:rPr dirty="0" sz="1150" spc="15">
                <a:latin typeface="Times New Roman"/>
                <a:cs typeface="Times New Roman"/>
              </a:rPr>
              <a:t>of </a:t>
            </a:r>
            <a:r>
              <a:rPr dirty="0" sz="1150" spc="20">
                <a:latin typeface="Times New Roman"/>
                <a:cs typeface="Times New Roman"/>
              </a:rPr>
              <a:t>rows and  columns.</a:t>
            </a:r>
            <a:endParaRPr sz="1150">
              <a:latin typeface="Times New Roman"/>
              <a:cs typeface="Times New Roman"/>
            </a:endParaRPr>
          </a:p>
          <a:p>
            <a:pPr marL="1119505">
              <a:lnSpc>
                <a:spcPct val="100000"/>
              </a:lnSpc>
              <a:spcBef>
                <a:spcPts val="1000"/>
              </a:spcBef>
              <a:tabLst>
                <a:tab pos="2128520" algn="l"/>
              </a:tabLst>
            </a:pPr>
            <a:r>
              <a:rPr dirty="0" baseline="5376" sz="2325" spc="-7">
                <a:latin typeface="Times New Roman"/>
                <a:cs typeface="Times New Roman"/>
              </a:rPr>
              <a:t>C </a:t>
            </a:r>
            <a:r>
              <a:rPr dirty="0" sz="1050" spc="-5">
                <a:latin typeface="Times New Roman"/>
                <a:cs typeface="Times New Roman"/>
              </a:rPr>
              <a:t>i, </a:t>
            </a:r>
            <a:r>
              <a:rPr dirty="0" sz="1050">
                <a:latin typeface="Times New Roman"/>
                <a:cs typeface="Times New Roman"/>
              </a:rPr>
              <a:t>j  </a:t>
            </a:r>
            <a:r>
              <a:rPr dirty="0" baseline="5376" sz="2325" spc="-7">
                <a:latin typeface="Times New Roman"/>
                <a:cs typeface="Times New Roman"/>
              </a:rPr>
              <a:t>= A</a:t>
            </a:r>
            <a:r>
              <a:rPr dirty="0" baseline="5376" sz="2325" spc="-82">
                <a:latin typeface="Times New Roman"/>
                <a:cs typeface="Times New Roman"/>
              </a:rPr>
              <a:t> </a:t>
            </a:r>
            <a:r>
              <a:rPr dirty="0" sz="1050" spc="-5">
                <a:latin typeface="Times New Roman"/>
                <a:cs typeface="Times New Roman"/>
              </a:rPr>
              <a:t>i,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j	</a:t>
            </a:r>
            <a:r>
              <a:rPr dirty="0" baseline="5376" sz="2325" spc="-7">
                <a:latin typeface="Times New Roman"/>
                <a:cs typeface="Times New Roman"/>
              </a:rPr>
              <a:t>+ B </a:t>
            </a:r>
            <a:r>
              <a:rPr dirty="0" sz="1050" spc="-5">
                <a:latin typeface="Times New Roman"/>
                <a:cs typeface="Times New Roman"/>
              </a:rPr>
              <a:t>i,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j</a:t>
            </a:r>
            <a:endParaRPr sz="1050">
              <a:latin typeface="Times New Roman"/>
              <a:cs typeface="Times New Roman"/>
            </a:endParaRPr>
          </a:p>
          <a:p>
            <a:pPr algn="just" marL="203200" marR="396240">
              <a:lnSpc>
                <a:spcPct val="108900"/>
              </a:lnSpc>
              <a:spcBef>
                <a:spcPts val="600"/>
              </a:spcBef>
            </a:pPr>
            <a:r>
              <a:rPr dirty="0" sz="1400" spc="25" b="1">
                <a:latin typeface="Times New Roman"/>
                <a:cs typeface="Times New Roman"/>
              </a:rPr>
              <a:t>Difference:</a:t>
            </a:r>
            <a:r>
              <a:rPr dirty="0" sz="1400" spc="-90" b="1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Two</a:t>
            </a:r>
            <a:r>
              <a:rPr dirty="0" sz="1150" spc="-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matrices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that</a:t>
            </a:r>
            <a:r>
              <a:rPr dirty="0" sz="1150" spc="-35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are</a:t>
            </a:r>
            <a:r>
              <a:rPr dirty="0" sz="1150" spc="-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compatible</a:t>
            </a:r>
            <a:r>
              <a:rPr dirty="0" sz="1150" spc="-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can</a:t>
            </a:r>
            <a:r>
              <a:rPr dirty="0" sz="1150" spc="-1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be</a:t>
            </a:r>
            <a:r>
              <a:rPr dirty="0" sz="1150" spc="3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subtracted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storing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the</a:t>
            </a:r>
            <a:r>
              <a:rPr dirty="0" sz="1150" spc="-4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result</a:t>
            </a:r>
            <a:r>
              <a:rPr dirty="0" sz="1150" spc="-1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in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the  third matrix. </a:t>
            </a:r>
            <a:r>
              <a:rPr dirty="0" sz="1150" spc="25">
                <a:latin typeface="Times New Roman"/>
                <a:cs typeface="Times New Roman"/>
              </a:rPr>
              <a:t>Two </a:t>
            </a:r>
            <a:r>
              <a:rPr dirty="0" sz="1150" spc="20">
                <a:latin typeface="Times New Roman"/>
                <a:cs typeface="Times New Roman"/>
              </a:rPr>
              <a:t>matrices </a:t>
            </a:r>
            <a:r>
              <a:rPr dirty="0" sz="1150" spc="15">
                <a:latin typeface="Times New Roman"/>
                <a:cs typeface="Times New Roman"/>
              </a:rPr>
              <a:t>are said </a:t>
            </a:r>
            <a:r>
              <a:rPr dirty="0" sz="1150" spc="25">
                <a:latin typeface="Times New Roman"/>
                <a:cs typeface="Times New Roman"/>
              </a:rPr>
              <a:t>to </a:t>
            </a:r>
            <a:r>
              <a:rPr dirty="0" sz="1150" spc="15">
                <a:latin typeface="Times New Roman"/>
                <a:cs typeface="Times New Roman"/>
              </a:rPr>
              <a:t>be </a:t>
            </a:r>
            <a:r>
              <a:rPr dirty="0" sz="1150" spc="20">
                <a:latin typeface="Times New Roman"/>
                <a:cs typeface="Times New Roman"/>
              </a:rPr>
              <a:t>compatible when they have </a:t>
            </a:r>
            <a:r>
              <a:rPr dirty="0" sz="1150" spc="15">
                <a:latin typeface="Times New Roman"/>
                <a:cs typeface="Times New Roman"/>
              </a:rPr>
              <a:t>the </a:t>
            </a:r>
            <a:r>
              <a:rPr dirty="0" sz="1150" spc="20">
                <a:latin typeface="Times New Roman"/>
                <a:cs typeface="Times New Roman"/>
              </a:rPr>
              <a:t>same number </a:t>
            </a:r>
            <a:r>
              <a:rPr dirty="0" sz="1150" spc="15">
                <a:latin typeface="Times New Roman"/>
                <a:cs typeface="Times New Roman"/>
              </a:rPr>
              <a:t>of  </a:t>
            </a:r>
            <a:r>
              <a:rPr dirty="0" sz="1150" spc="20">
                <a:latin typeface="Times New Roman"/>
                <a:cs typeface="Times New Roman"/>
              </a:rPr>
              <a:t>rows and</a:t>
            </a:r>
            <a:r>
              <a:rPr dirty="0" sz="1150" spc="-2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columns.</a:t>
            </a:r>
            <a:endParaRPr sz="1150">
              <a:latin typeface="Times New Roman"/>
              <a:cs typeface="Times New Roman"/>
            </a:endParaRPr>
          </a:p>
          <a:p>
            <a:pPr marL="1119505">
              <a:lnSpc>
                <a:spcPct val="100000"/>
              </a:lnSpc>
              <a:spcBef>
                <a:spcPts val="969"/>
              </a:spcBef>
              <a:tabLst>
                <a:tab pos="2128520" algn="l"/>
              </a:tabLst>
            </a:pPr>
            <a:r>
              <a:rPr dirty="0" baseline="5376" sz="2325" spc="-7">
                <a:latin typeface="Times New Roman"/>
                <a:cs typeface="Times New Roman"/>
              </a:rPr>
              <a:t>C </a:t>
            </a:r>
            <a:r>
              <a:rPr dirty="0" sz="1050" spc="-5">
                <a:latin typeface="Times New Roman"/>
                <a:cs typeface="Times New Roman"/>
              </a:rPr>
              <a:t>i, </a:t>
            </a:r>
            <a:r>
              <a:rPr dirty="0" sz="1050">
                <a:latin typeface="Times New Roman"/>
                <a:cs typeface="Times New Roman"/>
              </a:rPr>
              <a:t>j  </a:t>
            </a:r>
            <a:r>
              <a:rPr dirty="0" baseline="5376" sz="2325" spc="-7">
                <a:latin typeface="Times New Roman"/>
                <a:cs typeface="Times New Roman"/>
              </a:rPr>
              <a:t>= A</a:t>
            </a:r>
            <a:r>
              <a:rPr dirty="0" baseline="5376" sz="2325" spc="-82">
                <a:latin typeface="Times New Roman"/>
                <a:cs typeface="Times New Roman"/>
              </a:rPr>
              <a:t> </a:t>
            </a:r>
            <a:r>
              <a:rPr dirty="0" sz="1050" spc="-5">
                <a:latin typeface="Times New Roman"/>
                <a:cs typeface="Times New Roman"/>
              </a:rPr>
              <a:t>i,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j	</a:t>
            </a:r>
            <a:r>
              <a:rPr dirty="0" baseline="5376" sz="2325" spc="-7">
                <a:latin typeface="Times New Roman"/>
                <a:cs typeface="Times New Roman"/>
              </a:rPr>
              <a:t>- B </a:t>
            </a:r>
            <a:r>
              <a:rPr dirty="0" sz="1050" spc="-5">
                <a:latin typeface="Times New Roman"/>
                <a:cs typeface="Times New Roman"/>
              </a:rPr>
              <a:t>i,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j</a:t>
            </a:r>
            <a:endParaRPr sz="1050">
              <a:latin typeface="Times New Roman"/>
              <a:cs typeface="Times New Roman"/>
            </a:endParaRPr>
          </a:p>
          <a:p>
            <a:pPr marL="203200" marR="172720">
              <a:lnSpc>
                <a:spcPct val="109000"/>
              </a:lnSpc>
              <a:spcBef>
                <a:spcPts val="610"/>
              </a:spcBef>
            </a:pPr>
            <a:r>
              <a:rPr dirty="0" sz="1400" spc="25" b="1">
                <a:latin typeface="Times New Roman"/>
                <a:cs typeface="Times New Roman"/>
              </a:rPr>
              <a:t>Product: </a:t>
            </a:r>
            <a:r>
              <a:rPr dirty="0" sz="1150" spc="25">
                <a:latin typeface="Times New Roman"/>
                <a:cs typeface="Times New Roman"/>
              </a:rPr>
              <a:t>Two </a:t>
            </a:r>
            <a:r>
              <a:rPr dirty="0" sz="1150" spc="20">
                <a:latin typeface="Times New Roman"/>
                <a:cs typeface="Times New Roman"/>
              </a:rPr>
              <a:t>matrices can </a:t>
            </a:r>
            <a:r>
              <a:rPr dirty="0" sz="1150" spc="15">
                <a:latin typeface="Times New Roman"/>
                <a:cs typeface="Times New Roman"/>
              </a:rPr>
              <a:t>be multiplied </a:t>
            </a:r>
            <a:r>
              <a:rPr dirty="0" sz="1150" spc="20">
                <a:latin typeface="Times New Roman"/>
                <a:cs typeface="Times New Roman"/>
              </a:rPr>
              <a:t>with each </a:t>
            </a:r>
            <a:r>
              <a:rPr dirty="0" sz="1150" spc="15">
                <a:latin typeface="Times New Roman"/>
                <a:cs typeface="Times New Roman"/>
              </a:rPr>
              <a:t>other if the </a:t>
            </a:r>
            <a:r>
              <a:rPr dirty="0" sz="1150" spc="20">
                <a:latin typeface="Times New Roman"/>
                <a:cs typeface="Times New Roman"/>
              </a:rPr>
              <a:t>number </a:t>
            </a:r>
            <a:r>
              <a:rPr dirty="0" sz="1150" spc="15">
                <a:latin typeface="Times New Roman"/>
                <a:cs typeface="Times New Roman"/>
              </a:rPr>
              <a:t>of </a:t>
            </a:r>
            <a:r>
              <a:rPr dirty="0" sz="1150" spc="20">
                <a:latin typeface="Times New Roman"/>
                <a:cs typeface="Times New Roman"/>
              </a:rPr>
              <a:t>columns in </a:t>
            </a:r>
            <a:r>
              <a:rPr dirty="0" sz="1150" spc="15">
                <a:latin typeface="Times New Roman"/>
                <a:cs typeface="Times New Roman"/>
              </a:rPr>
              <a:t>the  </a:t>
            </a:r>
            <a:r>
              <a:rPr dirty="0" sz="1150" spc="10">
                <a:latin typeface="Times New Roman"/>
                <a:cs typeface="Times New Roman"/>
              </a:rPr>
              <a:t>first </a:t>
            </a:r>
            <a:r>
              <a:rPr dirty="0" sz="1150" spc="20">
                <a:latin typeface="Times New Roman"/>
                <a:cs typeface="Times New Roman"/>
              </a:rPr>
              <a:t>matrix </a:t>
            </a:r>
            <a:r>
              <a:rPr dirty="0" sz="1150" spc="15">
                <a:latin typeface="Times New Roman"/>
                <a:cs typeface="Times New Roman"/>
              </a:rPr>
              <a:t>is equal </a:t>
            </a:r>
            <a:r>
              <a:rPr dirty="0" sz="1150" spc="20">
                <a:latin typeface="Times New Roman"/>
                <a:cs typeface="Times New Roman"/>
              </a:rPr>
              <a:t>to </a:t>
            </a:r>
            <a:r>
              <a:rPr dirty="0" sz="1150" spc="15">
                <a:latin typeface="Times New Roman"/>
                <a:cs typeface="Times New Roman"/>
              </a:rPr>
              <a:t>the </a:t>
            </a:r>
            <a:r>
              <a:rPr dirty="0" sz="1150" spc="20">
                <a:latin typeface="Times New Roman"/>
                <a:cs typeface="Times New Roman"/>
              </a:rPr>
              <a:t>number </a:t>
            </a:r>
            <a:r>
              <a:rPr dirty="0" sz="1150" spc="15">
                <a:latin typeface="Times New Roman"/>
                <a:cs typeface="Times New Roman"/>
              </a:rPr>
              <a:t>of </a:t>
            </a:r>
            <a:r>
              <a:rPr dirty="0" sz="1150" spc="20">
                <a:latin typeface="Times New Roman"/>
                <a:cs typeface="Times New Roman"/>
              </a:rPr>
              <a:t>rows in </a:t>
            </a:r>
            <a:r>
              <a:rPr dirty="0" sz="1150" spc="15">
                <a:latin typeface="Times New Roman"/>
                <a:cs typeface="Times New Roman"/>
              </a:rPr>
              <a:t>the second </a:t>
            </a:r>
            <a:r>
              <a:rPr dirty="0" sz="1150" spc="20">
                <a:latin typeface="Times New Roman"/>
                <a:cs typeface="Times New Roman"/>
              </a:rPr>
              <a:t>matrix. A matrix </a:t>
            </a:r>
            <a:r>
              <a:rPr dirty="0" sz="1150" spc="15">
                <a:latin typeface="Times New Roman"/>
                <a:cs typeface="Times New Roman"/>
              </a:rPr>
              <a:t>of order </a:t>
            </a:r>
            <a:r>
              <a:rPr dirty="0" sz="1150" spc="25">
                <a:latin typeface="Times New Roman"/>
                <a:cs typeface="Times New Roman"/>
              </a:rPr>
              <a:t>m </a:t>
            </a:r>
            <a:r>
              <a:rPr dirty="0" sz="1150" spc="20">
                <a:latin typeface="Times New Roman"/>
                <a:cs typeface="Times New Roman"/>
              </a:rPr>
              <a:t>X </a:t>
            </a:r>
            <a:r>
              <a:rPr dirty="0" sz="1150" spc="15">
                <a:latin typeface="Times New Roman"/>
                <a:cs typeface="Times New Roman"/>
              </a:rPr>
              <a:t>n can  be multiplied with the </a:t>
            </a:r>
            <a:r>
              <a:rPr dirty="0" sz="1150" spc="20">
                <a:latin typeface="Times New Roman"/>
                <a:cs typeface="Times New Roman"/>
              </a:rPr>
              <a:t>matrix </a:t>
            </a:r>
            <a:r>
              <a:rPr dirty="0" sz="1150" spc="10">
                <a:latin typeface="Times New Roman"/>
                <a:cs typeface="Times New Roman"/>
              </a:rPr>
              <a:t>of </a:t>
            </a:r>
            <a:r>
              <a:rPr dirty="0" sz="1150" spc="15">
                <a:latin typeface="Times New Roman"/>
                <a:cs typeface="Times New Roman"/>
              </a:rPr>
              <a:t>order p </a:t>
            </a:r>
            <a:r>
              <a:rPr dirty="0" sz="1150" spc="20">
                <a:latin typeface="Times New Roman"/>
                <a:cs typeface="Times New Roman"/>
              </a:rPr>
              <a:t>X </a:t>
            </a:r>
            <a:r>
              <a:rPr dirty="0" sz="1150" spc="15">
                <a:latin typeface="Times New Roman"/>
                <a:cs typeface="Times New Roman"/>
              </a:rPr>
              <a:t>q </a:t>
            </a:r>
            <a:r>
              <a:rPr dirty="0" sz="1150" spc="10">
                <a:latin typeface="Times New Roman"/>
                <a:cs typeface="Times New Roman"/>
              </a:rPr>
              <a:t>if </a:t>
            </a:r>
            <a:r>
              <a:rPr dirty="0" sz="1150" spc="15">
                <a:latin typeface="Times New Roman"/>
                <a:cs typeface="Times New Roman"/>
              </a:rPr>
              <a:t>n is equal </a:t>
            </a:r>
            <a:r>
              <a:rPr dirty="0" sz="1150" spc="20">
                <a:latin typeface="Times New Roman"/>
                <a:cs typeface="Times New Roman"/>
              </a:rPr>
              <a:t>to</a:t>
            </a:r>
            <a:r>
              <a:rPr dirty="0" sz="1150" spc="185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p.</a:t>
            </a:r>
            <a:endParaRPr sz="1150">
              <a:latin typeface="Times New Roman"/>
              <a:cs typeface="Times New Roman"/>
            </a:endParaRPr>
          </a:p>
          <a:p>
            <a:pPr marL="660400">
              <a:lnSpc>
                <a:spcPct val="100000"/>
              </a:lnSpc>
              <a:spcBef>
                <a:spcPts val="910"/>
              </a:spcBef>
            </a:pPr>
            <a:r>
              <a:rPr dirty="0" baseline="3584" sz="2325" spc="-7">
                <a:latin typeface="Times New Roman"/>
                <a:cs typeface="Times New Roman"/>
              </a:rPr>
              <a:t>C </a:t>
            </a:r>
            <a:r>
              <a:rPr dirty="0" sz="1000" spc="-5">
                <a:latin typeface="Times New Roman"/>
                <a:cs typeface="Times New Roman"/>
              </a:rPr>
              <a:t>i, j </a:t>
            </a:r>
            <a:r>
              <a:rPr dirty="0" baseline="3584" sz="2325" spc="-7">
                <a:latin typeface="Times New Roman"/>
                <a:cs typeface="Times New Roman"/>
              </a:rPr>
              <a:t>= </a:t>
            </a:r>
            <a:r>
              <a:rPr dirty="0" baseline="3584" sz="2325">
                <a:latin typeface="Times New Roman"/>
                <a:cs typeface="Times New Roman"/>
              </a:rPr>
              <a:t>∑A </a:t>
            </a:r>
            <a:r>
              <a:rPr dirty="0" sz="1000" spc="-5">
                <a:latin typeface="Times New Roman"/>
                <a:cs typeface="Times New Roman"/>
              </a:rPr>
              <a:t>i, k </a:t>
            </a:r>
            <a:r>
              <a:rPr dirty="0" baseline="3584" sz="2325" spc="-7">
                <a:latin typeface="Times New Roman"/>
                <a:cs typeface="Times New Roman"/>
              </a:rPr>
              <a:t>B </a:t>
            </a:r>
            <a:r>
              <a:rPr dirty="0" sz="1000">
                <a:latin typeface="Times New Roman"/>
                <a:cs typeface="Times New Roman"/>
              </a:rPr>
              <a:t>k, </a:t>
            </a:r>
            <a:r>
              <a:rPr dirty="0" sz="1000" spc="-5">
                <a:latin typeface="Times New Roman"/>
                <a:cs typeface="Times New Roman"/>
              </a:rPr>
              <a:t>j </a:t>
            </a:r>
            <a:r>
              <a:rPr dirty="0" baseline="3584" sz="2325" spc="-7">
                <a:latin typeface="Times New Roman"/>
                <a:cs typeface="Times New Roman"/>
              </a:rPr>
              <a:t>for k=1 to</a:t>
            </a:r>
            <a:r>
              <a:rPr dirty="0" baseline="3584" sz="2325" spc="-202">
                <a:latin typeface="Times New Roman"/>
                <a:cs typeface="Times New Roman"/>
              </a:rPr>
              <a:t> </a:t>
            </a:r>
            <a:r>
              <a:rPr dirty="0" baseline="3584" sz="2325" spc="-7">
                <a:latin typeface="Times New Roman"/>
                <a:cs typeface="Times New Roman"/>
              </a:rPr>
              <a:t>k&lt;n</a:t>
            </a:r>
            <a:endParaRPr baseline="3584" sz="2325">
              <a:latin typeface="Times New Roman"/>
              <a:cs typeface="Times New Roman"/>
            </a:endParaRPr>
          </a:p>
          <a:p>
            <a:pPr algn="just" marL="203200">
              <a:lnSpc>
                <a:spcPct val="100000"/>
              </a:lnSpc>
              <a:spcBef>
                <a:spcPts val="1025"/>
              </a:spcBef>
            </a:pPr>
            <a:r>
              <a:rPr dirty="0" sz="1400" spc="-5">
                <a:latin typeface="Times New Roman"/>
                <a:cs typeface="Times New Roman"/>
              </a:rPr>
              <a:t>Write </a:t>
            </a:r>
            <a:r>
              <a:rPr dirty="0" sz="1400">
                <a:latin typeface="Times New Roman"/>
                <a:cs typeface="Times New Roman"/>
              </a:rPr>
              <a:t>a </a:t>
            </a:r>
            <a:r>
              <a:rPr dirty="0" sz="1400" spc="-5">
                <a:latin typeface="Times New Roman"/>
                <a:cs typeface="Times New Roman"/>
              </a:rPr>
              <a:t>program to transpose </a:t>
            </a:r>
            <a:r>
              <a:rPr dirty="0" sz="1400">
                <a:latin typeface="Times New Roman"/>
                <a:cs typeface="Times New Roman"/>
              </a:rPr>
              <a:t>a </a:t>
            </a:r>
            <a:r>
              <a:rPr dirty="0" sz="1400" spc="-5">
                <a:latin typeface="Times New Roman"/>
                <a:cs typeface="Times New Roman"/>
              </a:rPr>
              <a:t>matrix in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</a:t>
            </a:r>
            <a:endParaRPr sz="1400">
              <a:latin typeface="Times New Roman"/>
              <a:cs typeface="Times New Roman"/>
            </a:endParaRPr>
          </a:p>
          <a:p>
            <a:pPr marL="254000" marR="4714240" indent="-50800">
              <a:lnSpc>
                <a:spcPts val="1320"/>
              </a:lnSpc>
              <a:spcBef>
                <a:spcPts val="1030"/>
              </a:spcBef>
            </a:pPr>
            <a:r>
              <a:rPr dirty="0" sz="1150" spc="20">
                <a:latin typeface="Times New Roman"/>
                <a:cs typeface="Times New Roman"/>
              </a:rPr>
              <a:t>#include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&lt;stdio.h&gt;  int </a:t>
            </a:r>
            <a:r>
              <a:rPr dirty="0" sz="1150" spc="20">
                <a:latin typeface="Times New Roman"/>
                <a:cs typeface="Times New Roman"/>
              </a:rPr>
              <a:t>main()</a:t>
            </a:r>
            <a:endParaRPr sz="1150">
              <a:latin typeface="Times New Roman"/>
              <a:cs typeface="Times New Roman"/>
            </a:endParaRPr>
          </a:p>
          <a:p>
            <a:pPr marL="139700">
              <a:lnSpc>
                <a:spcPts val="1285"/>
              </a:lnSpc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276860">
              <a:lnSpc>
                <a:spcPct val="100000"/>
              </a:lnSpc>
              <a:spcBef>
                <a:spcPts val="95"/>
              </a:spcBef>
            </a:pPr>
            <a:r>
              <a:rPr dirty="0" sz="1150" spc="10">
                <a:latin typeface="Times New Roman"/>
                <a:cs typeface="Times New Roman"/>
              </a:rPr>
              <a:t>int </a:t>
            </a:r>
            <a:r>
              <a:rPr dirty="0" sz="1150" spc="15">
                <a:latin typeface="Times New Roman"/>
                <a:cs typeface="Times New Roman"/>
              </a:rPr>
              <a:t>a[10][10], transpose[10][10], </a:t>
            </a:r>
            <a:r>
              <a:rPr dirty="0" sz="1150" spc="5">
                <a:latin typeface="Times New Roman"/>
                <a:cs typeface="Times New Roman"/>
              </a:rPr>
              <a:t>r,</a:t>
            </a:r>
            <a:r>
              <a:rPr dirty="0" sz="1150" spc="-85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c,i,j;</a:t>
            </a:r>
            <a:endParaRPr sz="1150">
              <a:latin typeface="Times New Roman"/>
              <a:cs typeface="Times New Roman"/>
            </a:endParaRPr>
          </a:p>
          <a:p>
            <a:pPr marL="276860" marR="3544570">
              <a:lnSpc>
                <a:spcPct val="108200"/>
              </a:lnSpc>
              <a:spcBef>
                <a:spcPts val="5"/>
              </a:spcBef>
            </a:pPr>
            <a:r>
              <a:rPr dirty="0" sz="1150" spc="15">
                <a:latin typeface="Times New Roman"/>
                <a:cs typeface="Times New Roman"/>
              </a:rPr>
              <a:t>printf("Enter </a:t>
            </a:r>
            <a:r>
              <a:rPr dirty="0" sz="1150" spc="30">
                <a:latin typeface="Times New Roman"/>
                <a:cs typeface="Times New Roman"/>
              </a:rPr>
              <a:t>rows </a:t>
            </a:r>
            <a:r>
              <a:rPr dirty="0" sz="1150" spc="20">
                <a:latin typeface="Times New Roman"/>
                <a:cs typeface="Times New Roman"/>
              </a:rPr>
              <a:t>and columns: </a:t>
            </a:r>
            <a:r>
              <a:rPr dirty="0" sz="1150" spc="10">
                <a:latin typeface="Times New Roman"/>
                <a:cs typeface="Times New Roman"/>
              </a:rPr>
              <a:t>");  </a:t>
            </a:r>
            <a:r>
              <a:rPr dirty="0" sz="1150" spc="20">
                <a:latin typeface="Times New Roman"/>
                <a:cs typeface="Times New Roman"/>
              </a:rPr>
              <a:t>scanf("%d </a:t>
            </a:r>
            <a:r>
              <a:rPr dirty="0" sz="1150" spc="15">
                <a:latin typeface="Times New Roman"/>
                <a:cs typeface="Times New Roman"/>
              </a:rPr>
              <a:t>%d", &amp;r, &amp;c);  </a:t>
            </a:r>
            <a:r>
              <a:rPr dirty="0" sz="1150" spc="20">
                <a:latin typeface="Times New Roman"/>
                <a:cs typeface="Times New Roman"/>
              </a:rPr>
              <a:t>printf("\nEnter matrix</a:t>
            </a:r>
            <a:r>
              <a:rPr dirty="0" sz="1150" spc="-4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elements:\n");  </a:t>
            </a:r>
            <a:r>
              <a:rPr dirty="0" sz="1150" spc="15">
                <a:latin typeface="Times New Roman"/>
                <a:cs typeface="Times New Roman"/>
              </a:rPr>
              <a:t>for </a:t>
            </a:r>
            <a:r>
              <a:rPr dirty="0" sz="1150" spc="10">
                <a:latin typeface="Times New Roman"/>
                <a:cs typeface="Times New Roman"/>
              </a:rPr>
              <a:t>( </a:t>
            </a:r>
            <a:r>
              <a:rPr dirty="0" sz="1150" spc="5">
                <a:latin typeface="Times New Roman"/>
                <a:cs typeface="Times New Roman"/>
              </a:rPr>
              <a:t>i </a:t>
            </a:r>
            <a:r>
              <a:rPr dirty="0" sz="1150" spc="15">
                <a:latin typeface="Times New Roman"/>
                <a:cs typeface="Times New Roman"/>
              </a:rPr>
              <a:t>= </a:t>
            </a:r>
            <a:r>
              <a:rPr dirty="0" sz="1150" spc="10">
                <a:latin typeface="Times New Roman"/>
                <a:cs typeface="Times New Roman"/>
              </a:rPr>
              <a:t>0; </a:t>
            </a:r>
            <a:r>
              <a:rPr dirty="0" sz="1150" spc="5">
                <a:latin typeface="Times New Roman"/>
                <a:cs typeface="Times New Roman"/>
              </a:rPr>
              <a:t>i </a:t>
            </a:r>
            <a:r>
              <a:rPr dirty="0" sz="1150" spc="15">
                <a:latin typeface="Times New Roman"/>
                <a:cs typeface="Times New Roman"/>
              </a:rPr>
              <a:t>&lt; </a:t>
            </a:r>
            <a:r>
              <a:rPr dirty="0" sz="1150" spc="5">
                <a:latin typeface="Times New Roman"/>
                <a:cs typeface="Times New Roman"/>
              </a:rPr>
              <a:t>r;</a:t>
            </a:r>
            <a:r>
              <a:rPr dirty="0" sz="1150" spc="4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i++)</a:t>
            </a:r>
            <a:endParaRPr sz="1150">
              <a:latin typeface="Times New Roman"/>
              <a:cs typeface="Times New Roman"/>
            </a:endParaRPr>
          </a:p>
          <a:p>
            <a:pPr marL="281305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for </a:t>
            </a:r>
            <a:r>
              <a:rPr dirty="0" sz="1150" spc="5">
                <a:latin typeface="Times New Roman"/>
                <a:cs typeface="Times New Roman"/>
              </a:rPr>
              <a:t>(j </a:t>
            </a:r>
            <a:r>
              <a:rPr dirty="0" sz="1150" spc="15">
                <a:latin typeface="Times New Roman"/>
                <a:cs typeface="Times New Roman"/>
              </a:rPr>
              <a:t>= </a:t>
            </a:r>
            <a:r>
              <a:rPr dirty="0" sz="1150" spc="10">
                <a:latin typeface="Times New Roman"/>
                <a:cs typeface="Times New Roman"/>
              </a:rPr>
              <a:t>0; </a:t>
            </a:r>
            <a:r>
              <a:rPr dirty="0" sz="1150" spc="5">
                <a:latin typeface="Times New Roman"/>
                <a:cs typeface="Times New Roman"/>
              </a:rPr>
              <a:t>j </a:t>
            </a:r>
            <a:r>
              <a:rPr dirty="0" sz="1150" spc="15">
                <a:latin typeface="Times New Roman"/>
                <a:cs typeface="Times New Roman"/>
              </a:rPr>
              <a:t>&lt; </a:t>
            </a:r>
            <a:r>
              <a:rPr dirty="0" sz="1150" spc="10">
                <a:latin typeface="Times New Roman"/>
                <a:cs typeface="Times New Roman"/>
              </a:rPr>
              <a:t>c;</a:t>
            </a:r>
            <a:r>
              <a:rPr dirty="0" sz="1150" spc="-4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j++)</a:t>
            </a:r>
            <a:endParaRPr sz="115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  <a:spcBef>
                <a:spcPts val="100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509905">
              <a:lnSpc>
                <a:spcPct val="100000"/>
              </a:lnSpc>
              <a:spcBef>
                <a:spcPts val="130"/>
              </a:spcBef>
            </a:pPr>
            <a:r>
              <a:rPr dirty="0" sz="1150" spc="20">
                <a:latin typeface="Times New Roman"/>
                <a:cs typeface="Times New Roman"/>
              </a:rPr>
              <a:t>scanf("%d", </a:t>
            </a:r>
            <a:r>
              <a:rPr dirty="0" sz="1150" spc="15">
                <a:latin typeface="Times New Roman"/>
                <a:cs typeface="Times New Roman"/>
              </a:rPr>
              <a:t>&amp;a[i][j]);</a:t>
            </a:r>
            <a:endParaRPr sz="1150">
              <a:latin typeface="Times New Roman"/>
              <a:cs typeface="Times New Roman"/>
            </a:endParaRPr>
          </a:p>
          <a:p>
            <a:pPr marL="276860">
              <a:lnSpc>
                <a:spcPct val="100000"/>
              </a:lnSpc>
              <a:spcBef>
                <a:spcPts val="110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00">
              <a:latin typeface="Times New Roman"/>
              <a:cs typeface="Times New Roman"/>
            </a:endParaRPr>
          </a:p>
          <a:p>
            <a:pPr marL="281305" marR="4497705">
              <a:lnSpc>
                <a:spcPct val="107000"/>
              </a:lnSpc>
            </a:pPr>
            <a:r>
              <a:rPr dirty="0" sz="1150" spc="15">
                <a:latin typeface="Times New Roman"/>
                <a:cs typeface="Times New Roman"/>
              </a:rPr>
              <a:t>for </a:t>
            </a:r>
            <a:r>
              <a:rPr dirty="0" sz="1150" spc="10">
                <a:latin typeface="Times New Roman"/>
                <a:cs typeface="Times New Roman"/>
              </a:rPr>
              <a:t>( </a:t>
            </a:r>
            <a:r>
              <a:rPr dirty="0" sz="1150" spc="5">
                <a:latin typeface="Times New Roman"/>
                <a:cs typeface="Times New Roman"/>
              </a:rPr>
              <a:t>i </a:t>
            </a:r>
            <a:r>
              <a:rPr dirty="0" sz="1150" spc="15">
                <a:latin typeface="Times New Roman"/>
                <a:cs typeface="Times New Roman"/>
              </a:rPr>
              <a:t>= </a:t>
            </a:r>
            <a:r>
              <a:rPr dirty="0" sz="1150" spc="10">
                <a:latin typeface="Times New Roman"/>
                <a:cs typeface="Times New Roman"/>
              </a:rPr>
              <a:t>0; </a:t>
            </a:r>
            <a:r>
              <a:rPr dirty="0" sz="1150" spc="5">
                <a:latin typeface="Times New Roman"/>
                <a:cs typeface="Times New Roman"/>
              </a:rPr>
              <a:t>i </a:t>
            </a:r>
            <a:r>
              <a:rPr dirty="0" sz="1150" spc="15">
                <a:latin typeface="Times New Roman"/>
                <a:cs typeface="Times New Roman"/>
              </a:rPr>
              <a:t>&lt; </a:t>
            </a:r>
            <a:r>
              <a:rPr dirty="0" sz="1150" spc="5">
                <a:latin typeface="Times New Roman"/>
                <a:cs typeface="Times New Roman"/>
              </a:rPr>
              <a:t>r; </a:t>
            </a:r>
            <a:r>
              <a:rPr dirty="0" sz="1150" spc="20">
                <a:latin typeface="Times New Roman"/>
                <a:cs typeface="Times New Roman"/>
              </a:rPr>
              <a:t>i++)  </a:t>
            </a:r>
            <a:r>
              <a:rPr dirty="0" sz="1150" spc="15">
                <a:latin typeface="Times New Roman"/>
                <a:cs typeface="Times New Roman"/>
              </a:rPr>
              <a:t>for </a:t>
            </a:r>
            <a:r>
              <a:rPr dirty="0" sz="1150" spc="10">
                <a:latin typeface="Times New Roman"/>
                <a:cs typeface="Times New Roman"/>
              </a:rPr>
              <a:t>( </a:t>
            </a:r>
            <a:r>
              <a:rPr dirty="0" sz="1150" spc="5">
                <a:latin typeface="Times New Roman"/>
                <a:cs typeface="Times New Roman"/>
              </a:rPr>
              <a:t>j </a:t>
            </a:r>
            <a:r>
              <a:rPr dirty="0" sz="1150" spc="15">
                <a:latin typeface="Times New Roman"/>
                <a:cs typeface="Times New Roman"/>
              </a:rPr>
              <a:t>= </a:t>
            </a:r>
            <a:r>
              <a:rPr dirty="0" sz="1150" spc="10">
                <a:latin typeface="Times New Roman"/>
                <a:cs typeface="Times New Roman"/>
              </a:rPr>
              <a:t>0; </a:t>
            </a:r>
            <a:r>
              <a:rPr dirty="0" sz="1150" spc="5">
                <a:latin typeface="Times New Roman"/>
                <a:cs typeface="Times New Roman"/>
              </a:rPr>
              <a:t>j </a:t>
            </a:r>
            <a:r>
              <a:rPr dirty="0" sz="1150" spc="15">
                <a:latin typeface="Times New Roman"/>
                <a:cs typeface="Times New Roman"/>
              </a:rPr>
              <a:t>&lt; </a:t>
            </a:r>
            <a:r>
              <a:rPr dirty="0" sz="1150" spc="10">
                <a:latin typeface="Times New Roman"/>
                <a:cs typeface="Times New Roman"/>
              </a:rPr>
              <a:t>c;</a:t>
            </a:r>
            <a:r>
              <a:rPr dirty="0" sz="1150" spc="20">
                <a:latin typeface="Times New Roman"/>
                <a:cs typeface="Times New Roman"/>
              </a:rPr>
              <a:t> j++)</a:t>
            </a:r>
            <a:endParaRPr sz="115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  <a:spcBef>
                <a:spcPts val="120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354330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transpose[j][i] =</a:t>
            </a:r>
            <a:r>
              <a:rPr dirty="0" sz="1150" spc="3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a[i][j];</a:t>
            </a:r>
            <a:endParaRPr sz="1150">
              <a:latin typeface="Times New Roman"/>
              <a:cs typeface="Times New Roman"/>
            </a:endParaRPr>
          </a:p>
          <a:p>
            <a:pPr marL="276860">
              <a:lnSpc>
                <a:spcPct val="100000"/>
              </a:lnSpc>
              <a:spcBef>
                <a:spcPts val="100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281305" marR="3460750" indent="-5080">
              <a:lnSpc>
                <a:spcPct val="107000"/>
              </a:lnSpc>
              <a:spcBef>
                <a:spcPts val="35"/>
              </a:spcBef>
            </a:pPr>
            <a:r>
              <a:rPr dirty="0" sz="1150" spc="15">
                <a:latin typeface="Times New Roman"/>
                <a:cs typeface="Times New Roman"/>
              </a:rPr>
              <a:t>printf("\nTranspose of the matrix:\n");  for </a:t>
            </a:r>
            <a:r>
              <a:rPr dirty="0" sz="1150" spc="10">
                <a:latin typeface="Times New Roman"/>
                <a:cs typeface="Times New Roman"/>
              </a:rPr>
              <a:t>( </a:t>
            </a:r>
            <a:r>
              <a:rPr dirty="0" sz="1150" spc="5">
                <a:latin typeface="Times New Roman"/>
                <a:cs typeface="Times New Roman"/>
              </a:rPr>
              <a:t>i </a:t>
            </a:r>
            <a:r>
              <a:rPr dirty="0" sz="1150" spc="15">
                <a:latin typeface="Times New Roman"/>
                <a:cs typeface="Times New Roman"/>
              </a:rPr>
              <a:t>= </a:t>
            </a:r>
            <a:r>
              <a:rPr dirty="0" sz="1150" spc="10">
                <a:latin typeface="Times New Roman"/>
                <a:cs typeface="Times New Roman"/>
              </a:rPr>
              <a:t>0; </a:t>
            </a:r>
            <a:r>
              <a:rPr dirty="0" sz="1150" spc="5">
                <a:latin typeface="Times New Roman"/>
                <a:cs typeface="Times New Roman"/>
              </a:rPr>
              <a:t>i </a:t>
            </a:r>
            <a:r>
              <a:rPr dirty="0" sz="1150" spc="15">
                <a:latin typeface="Times New Roman"/>
                <a:cs typeface="Times New Roman"/>
              </a:rPr>
              <a:t>&lt; </a:t>
            </a:r>
            <a:r>
              <a:rPr dirty="0" sz="1150" spc="5">
                <a:latin typeface="Times New Roman"/>
                <a:cs typeface="Times New Roman"/>
              </a:rPr>
              <a:t>c;</a:t>
            </a:r>
            <a:r>
              <a:rPr dirty="0" sz="1150" spc="6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i++)</a:t>
            </a:r>
            <a:endParaRPr sz="115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  <a:spcBef>
                <a:spcPts val="85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281305">
              <a:lnSpc>
                <a:spcPct val="100000"/>
              </a:lnSpc>
              <a:spcBef>
                <a:spcPts val="145"/>
              </a:spcBef>
            </a:pPr>
            <a:r>
              <a:rPr dirty="0" sz="1150" spc="15">
                <a:latin typeface="Times New Roman"/>
                <a:cs typeface="Times New Roman"/>
              </a:rPr>
              <a:t>for </a:t>
            </a:r>
            <a:r>
              <a:rPr dirty="0" sz="1150" spc="10">
                <a:latin typeface="Times New Roman"/>
                <a:cs typeface="Times New Roman"/>
              </a:rPr>
              <a:t>( </a:t>
            </a:r>
            <a:r>
              <a:rPr dirty="0" sz="1150" spc="5">
                <a:latin typeface="Times New Roman"/>
                <a:cs typeface="Times New Roman"/>
              </a:rPr>
              <a:t>j </a:t>
            </a:r>
            <a:r>
              <a:rPr dirty="0" sz="1150" spc="15">
                <a:latin typeface="Times New Roman"/>
                <a:cs typeface="Times New Roman"/>
              </a:rPr>
              <a:t>= </a:t>
            </a:r>
            <a:r>
              <a:rPr dirty="0" sz="1150" spc="10">
                <a:latin typeface="Times New Roman"/>
                <a:cs typeface="Times New Roman"/>
              </a:rPr>
              <a:t>0; </a:t>
            </a:r>
            <a:r>
              <a:rPr dirty="0" sz="1150" spc="5">
                <a:latin typeface="Times New Roman"/>
                <a:cs typeface="Times New Roman"/>
              </a:rPr>
              <a:t>j </a:t>
            </a:r>
            <a:r>
              <a:rPr dirty="0" sz="1150" spc="15">
                <a:latin typeface="Times New Roman"/>
                <a:cs typeface="Times New Roman"/>
              </a:rPr>
              <a:t>&lt; </a:t>
            </a:r>
            <a:r>
              <a:rPr dirty="0" sz="1150" spc="5">
                <a:latin typeface="Times New Roman"/>
                <a:cs typeface="Times New Roman"/>
              </a:rPr>
              <a:t>r;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j++)</a:t>
            </a:r>
            <a:endParaRPr sz="115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354330">
              <a:lnSpc>
                <a:spcPct val="100000"/>
              </a:lnSpc>
              <a:spcBef>
                <a:spcPts val="130"/>
              </a:spcBef>
            </a:pPr>
            <a:r>
              <a:rPr dirty="0" sz="1150" spc="20">
                <a:latin typeface="Times New Roman"/>
                <a:cs typeface="Times New Roman"/>
              </a:rPr>
              <a:t>printf("%d </a:t>
            </a:r>
            <a:r>
              <a:rPr dirty="0" sz="1150" spc="10">
                <a:latin typeface="Times New Roman"/>
                <a:cs typeface="Times New Roman"/>
              </a:rPr>
              <a:t>",</a:t>
            </a:r>
            <a:r>
              <a:rPr dirty="0" sz="1150" spc="2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transpose[i][j]);</a:t>
            </a:r>
            <a:endParaRPr sz="1150">
              <a:latin typeface="Times New Roman"/>
              <a:cs typeface="Times New Roman"/>
            </a:endParaRPr>
          </a:p>
          <a:p>
            <a:pPr marL="427355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  <a:spcBef>
                <a:spcPts val="100"/>
              </a:spcBef>
            </a:pPr>
            <a:r>
              <a:rPr dirty="0" sz="1150" spc="15">
                <a:latin typeface="Times New Roman"/>
                <a:cs typeface="Times New Roman"/>
              </a:rPr>
              <a:t>printf("\n");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016558"/>
            <a:ext cx="619760" cy="59118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  <a:spcBef>
                <a:spcPts val="110"/>
              </a:spcBef>
            </a:pPr>
            <a:r>
              <a:rPr dirty="0" sz="1150" spc="15">
                <a:latin typeface="Times New Roman"/>
                <a:cs typeface="Times New Roman"/>
              </a:rPr>
              <a:t>return</a:t>
            </a:r>
            <a:r>
              <a:rPr dirty="0" sz="1150" spc="-4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0;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1773986"/>
            <a:ext cx="1548765" cy="153924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1150" spc="15">
                <a:latin typeface="Times New Roman"/>
                <a:cs typeface="Times New Roman"/>
              </a:rPr>
              <a:t>Output:</a:t>
            </a:r>
            <a:endParaRPr sz="1150">
              <a:latin typeface="Times New Roman"/>
              <a:cs typeface="Times New Roman"/>
            </a:endParaRPr>
          </a:p>
          <a:p>
            <a:pPr marL="12700" marR="5080">
              <a:lnSpc>
                <a:spcPts val="1510"/>
              </a:lnSpc>
              <a:spcBef>
                <a:spcPts val="35"/>
              </a:spcBef>
            </a:pPr>
            <a:r>
              <a:rPr dirty="0" sz="1150" spc="20">
                <a:latin typeface="Times New Roman"/>
                <a:cs typeface="Times New Roman"/>
              </a:rPr>
              <a:t>Enter rows and</a:t>
            </a:r>
            <a:r>
              <a:rPr dirty="0" sz="1150" spc="-5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columns:  </a:t>
            </a:r>
            <a:r>
              <a:rPr dirty="0" sz="1150" spc="15">
                <a:latin typeface="Times New Roman"/>
                <a:cs typeface="Times New Roman"/>
              </a:rPr>
              <a:t>2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150" spc="15">
                <a:latin typeface="Times New Roman"/>
                <a:cs typeface="Times New Roman"/>
              </a:rPr>
              <a:t>3</a:t>
            </a:r>
            <a:endParaRPr sz="1150">
              <a:latin typeface="Times New Roman"/>
              <a:cs typeface="Times New Roman"/>
            </a:endParaRPr>
          </a:p>
          <a:p>
            <a:pPr marL="12700" marR="30480">
              <a:lnSpc>
                <a:spcPct val="107000"/>
              </a:lnSpc>
              <a:spcBef>
                <a:spcPts val="35"/>
              </a:spcBef>
              <a:tabLst>
                <a:tab pos="469265" algn="l"/>
                <a:tab pos="926465" algn="l"/>
                <a:tab pos="1385570" algn="l"/>
              </a:tabLst>
            </a:pPr>
            <a:r>
              <a:rPr dirty="0" sz="1150" spc="20">
                <a:latin typeface="Times New Roman"/>
                <a:cs typeface="Times New Roman"/>
              </a:rPr>
              <a:t>Enter matrix elements:  </a:t>
            </a:r>
            <a:r>
              <a:rPr dirty="0" sz="1150" spc="15">
                <a:latin typeface="Times New Roman"/>
                <a:cs typeface="Times New Roman"/>
              </a:rPr>
              <a:t>1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15">
                <a:latin typeface="Times New Roman"/>
                <a:cs typeface="Times New Roman"/>
              </a:rPr>
              <a:t>4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15">
                <a:latin typeface="Times New Roman"/>
                <a:cs typeface="Times New Roman"/>
              </a:rPr>
              <a:t>0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>
                <a:latin typeface="Times New Roman"/>
                <a:cs typeface="Times New Roman"/>
              </a:rPr>
              <a:t>-</a:t>
            </a:r>
            <a:r>
              <a:rPr dirty="0" sz="1150" spc="15">
                <a:latin typeface="Times New Roman"/>
                <a:cs typeface="Times New Roman"/>
              </a:rPr>
              <a:t>5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50" spc="20">
                <a:latin typeface="Times New Roman"/>
                <a:cs typeface="Times New Roman"/>
              </a:rPr>
              <a:t>Transpose </a:t>
            </a:r>
            <a:r>
              <a:rPr dirty="0" sz="1150" spc="10">
                <a:latin typeface="Times New Roman"/>
                <a:cs typeface="Times New Roman"/>
              </a:rPr>
              <a:t>of </a:t>
            </a:r>
            <a:r>
              <a:rPr dirty="0" sz="1150" spc="15">
                <a:latin typeface="Times New Roman"/>
                <a:cs typeface="Times New Roman"/>
              </a:rPr>
              <a:t>the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matrix: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32658" y="2732278"/>
            <a:ext cx="10096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15">
                <a:latin typeface="Times New Roman"/>
                <a:cs typeface="Times New Roman"/>
              </a:rPr>
              <a:t>2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89858" y="2732278"/>
            <a:ext cx="10096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15">
                <a:latin typeface="Times New Roman"/>
                <a:cs typeface="Times New Roman"/>
              </a:rPr>
              <a:t>7</a:t>
            </a:r>
            <a:endParaRPr sz="115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87526" y="3325169"/>
          <a:ext cx="684530" cy="534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815"/>
                <a:gridCol w="386079"/>
              </a:tblGrid>
              <a:tr h="176260">
                <a:tc>
                  <a:txBody>
                    <a:bodyPr/>
                    <a:lstStyle/>
                    <a:p>
                      <a:pPr marL="31750">
                        <a:lnSpc>
                          <a:spcPts val="1255"/>
                        </a:lnSpc>
                      </a:pPr>
                      <a:r>
                        <a:rPr dirty="0" sz="1150">
                          <a:latin typeface="Times New Roman"/>
                          <a:cs typeface="Times New Roman"/>
                        </a:rPr>
                        <a:t>1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27329">
                        <a:lnSpc>
                          <a:spcPts val="1255"/>
                        </a:lnSpc>
                      </a:pPr>
                      <a:r>
                        <a:rPr dirty="0" sz="1150" spc="15">
                          <a:latin typeface="Times New Roman"/>
                          <a:cs typeface="Times New Roman"/>
                        </a:rPr>
                        <a:t>-5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85928">
                <a:tc>
                  <a:txBody>
                    <a:bodyPr/>
                    <a:lstStyle/>
                    <a:p>
                      <a:pPr marL="31750">
                        <a:lnSpc>
                          <a:spcPts val="1365"/>
                        </a:lnSpc>
                      </a:pPr>
                      <a:r>
                        <a:rPr dirty="0" sz="1150">
                          <a:latin typeface="Times New Roman"/>
                          <a:cs typeface="Times New Roman"/>
                        </a:rPr>
                        <a:t>4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27329">
                        <a:lnSpc>
                          <a:spcPts val="1365"/>
                        </a:lnSpc>
                      </a:pPr>
                      <a:r>
                        <a:rPr dirty="0" sz="1150">
                          <a:latin typeface="Times New Roman"/>
                          <a:cs typeface="Times New Roman"/>
                        </a:rPr>
                        <a:t>2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71688">
                <a:tc>
                  <a:txBody>
                    <a:bodyPr/>
                    <a:lstStyle/>
                    <a:p>
                      <a:pPr marL="31750">
                        <a:lnSpc>
                          <a:spcPts val="1250"/>
                        </a:lnSpc>
                      </a:pPr>
                      <a:r>
                        <a:rPr dirty="0" sz="1150">
                          <a:latin typeface="Times New Roman"/>
                          <a:cs typeface="Times New Roman"/>
                        </a:rPr>
                        <a:t>0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ts val="1250"/>
                        </a:lnSpc>
                      </a:pPr>
                      <a:r>
                        <a:rPr dirty="0" sz="1150">
                          <a:latin typeface="Times New Roman"/>
                          <a:cs typeface="Times New Roman"/>
                        </a:rPr>
                        <a:t>7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302889"/>
            <a:ext cx="3388995" cy="7738109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dirty="0" sz="1400" b="1">
                <a:latin typeface="Times New Roman"/>
                <a:cs typeface="Times New Roman"/>
              </a:rPr>
              <a:t>Write a </a:t>
            </a:r>
            <a:r>
              <a:rPr dirty="0" sz="1400" spc="-5" b="1">
                <a:latin typeface="Times New Roman"/>
                <a:cs typeface="Times New Roman"/>
              </a:rPr>
              <a:t>program </a:t>
            </a:r>
            <a:r>
              <a:rPr dirty="0" sz="1400" spc="-10" b="1">
                <a:latin typeface="Times New Roman"/>
                <a:cs typeface="Times New Roman"/>
              </a:rPr>
              <a:t>to </a:t>
            </a:r>
            <a:r>
              <a:rPr dirty="0" sz="1400" b="1">
                <a:latin typeface="Times New Roman"/>
                <a:cs typeface="Times New Roman"/>
              </a:rPr>
              <a:t>add </a:t>
            </a:r>
            <a:r>
              <a:rPr dirty="0" sz="1400" spc="-5" b="1">
                <a:latin typeface="Times New Roman"/>
                <a:cs typeface="Times New Roman"/>
              </a:rPr>
              <a:t>two matrix </a:t>
            </a:r>
            <a:r>
              <a:rPr dirty="0" sz="1400" b="1">
                <a:latin typeface="Times New Roman"/>
                <a:cs typeface="Times New Roman"/>
              </a:rPr>
              <a:t>in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</a:t>
            </a:r>
            <a:endParaRPr sz="1400">
              <a:latin typeface="Times New Roman"/>
              <a:cs typeface="Times New Roman"/>
            </a:endParaRPr>
          </a:p>
          <a:p>
            <a:pPr marL="12700" marR="2221230">
              <a:lnSpc>
                <a:spcPct val="107800"/>
              </a:lnSpc>
              <a:spcBef>
                <a:spcPts val="20"/>
              </a:spcBef>
            </a:pPr>
            <a:r>
              <a:rPr dirty="0" sz="1150" spc="20">
                <a:latin typeface="Times New Roman"/>
                <a:cs typeface="Times New Roman"/>
              </a:rPr>
              <a:t>#include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&lt;stdio.h&gt;  </a:t>
            </a:r>
            <a:r>
              <a:rPr dirty="0" sz="1150" spc="10">
                <a:latin typeface="Times New Roman"/>
                <a:cs typeface="Times New Roman"/>
              </a:rPr>
              <a:t>int</a:t>
            </a:r>
            <a:r>
              <a:rPr dirty="0" sz="1150" spc="1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main()</a:t>
            </a:r>
            <a:endParaRPr sz="1150">
              <a:latin typeface="Times New Roman"/>
              <a:cs typeface="Times New Roman"/>
            </a:endParaRPr>
          </a:p>
          <a:p>
            <a:pPr marL="48895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  <a:spcBef>
                <a:spcPts val="110"/>
              </a:spcBef>
            </a:pPr>
            <a:r>
              <a:rPr dirty="0" sz="1150" spc="10">
                <a:latin typeface="Times New Roman"/>
                <a:cs typeface="Times New Roman"/>
              </a:rPr>
              <a:t>int </a:t>
            </a:r>
            <a:r>
              <a:rPr dirty="0" sz="1150" spc="5">
                <a:latin typeface="Times New Roman"/>
                <a:cs typeface="Times New Roman"/>
              </a:rPr>
              <a:t>r, </a:t>
            </a:r>
            <a:r>
              <a:rPr dirty="0" sz="1150" spc="10">
                <a:latin typeface="Times New Roman"/>
                <a:cs typeface="Times New Roman"/>
              </a:rPr>
              <a:t>c, </a:t>
            </a:r>
            <a:r>
              <a:rPr dirty="0" sz="1150" spc="15">
                <a:latin typeface="Times New Roman"/>
                <a:cs typeface="Times New Roman"/>
              </a:rPr>
              <a:t>a[100][100], b[100][100], </a:t>
            </a:r>
            <a:r>
              <a:rPr dirty="0" sz="1150" spc="20">
                <a:latin typeface="Times New Roman"/>
                <a:cs typeface="Times New Roman"/>
              </a:rPr>
              <a:t>sum[100][100], </a:t>
            </a:r>
            <a:r>
              <a:rPr dirty="0" sz="1150" spc="10">
                <a:latin typeface="Times New Roman"/>
                <a:cs typeface="Times New Roman"/>
              </a:rPr>
              <a:t>i,</a:t>
            </a:r>
            <a:r>
              <a:rPr dirty="0" sz="1150" spc="135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j;</a:t>
            </a:r>
            <a:endParaRPr sz="1150">
              <a:latin typeface="Times New Roman"/>
              <a:cs typeface="Times New Roman"/>
            </a:endParaRPr>
          </a:p>
          <a:p>
            <a:pPr marL="90170" marR="1102995" indent="-5080">
              <a:lnSpc>
                <a:spcPct val="107000"/>
              </a:lnSpc>
              <a:spcBef>
                <a:spcPts val="35"/>
              </a:spcBef>
            </a:pPr>
            <a:r>
              <a:rPr dirty="0" sz="1150" spc="15">
                <a:latin typeface="Times New Roman"/>
                <a:cs typeface="Times New Roman"/>
              </a:rPr>
              <a:t>printf("Enter </a:t>
            </a:r>
            <a:r>
              <a:rPr dirty="0" sz="1150" spc="20">
                <a:latin typeface="Times New Roman"/>
                <a:cs typeface="Times New Roman"/>
              </a:rPr>
              <a:t>the number </a:t>
            </a:r>
            <a:r>
              <a:rPr dirty="0" sz="1150" spc="15">
                <a:latin typeface="Times New Roman"/>
                <a:cs typeface="Times New Roman"/>
              </a:rPr>
              <a:t>of </a:t>
            </a:r>
            <a:r>
              <a:rPr dirty="0" sz="1150" spc="30">
                <a:latin typeface="Times New Roman"/>
                <a:cs typeface="Times New Roman"/>
              </a:rPr>
              <a:t>rows</a:t>
            </a:r>
            <a:r>
              <a:rPr dirty="0" sz="1150" spc="-14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");  </a:t>
            </a:r>
            <a:r>
              <a:rPr dirty="0" sz="1150" spc="20">
                <a:latin typeface="Times New Roman"/>
                <a:cs typeface="Times New Roman"/>
              </a:rPr>
              <a:t>scanf("%d",</a:t>
            </a:r>
            <a:r>
              <a:rPr dirty="0" sz="1150" spc="4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&amp;r);</a:t>
            </a:r>
            <a:endParaRPr sz="1150">
              <a:latin typeface="Times New Roman"/>
              <a:cs typeface="Times New Roman"/>
            </a:endParaRPr>
          </a:p>
          <a:p>
            <a:pPr marL="90170" marR="887730" indent="-5080">
              <a:lnSpc>
                <a:spcPts val="1500"/>
              </a:lnSpc>
              <a:spcBef>
                <a:spcPts val="45"/>
              </a:spcBef>
            </a:pPr>
            <a:r>
              <a:rPr dirty="0" sz="1150" spc="15">
                <a:latin typeface="Times New Roman"/>
                <a:cs typeface="Times New Roman"/>
              </a:rPr>
              <a:t>printf("Enter </a:t>
            </a:r>
            <a:r>
              <a:rPr dirty="0" sz="1150" spc="35">
                <a:latin typeface="Times New Roman"/>
                <a:cs typeface="Times New Roman"/>
              </a:rPr>
              <a:t>thenumber </a:t>
            </a:r>
            <a:r>
              <a:rPr dirty="0" sz="1150" spc="15">
                <a:latin typeface="Times New Roman"/>
                <a:cs typeface="Times New Roman"/>
              </a:rPr>
              <a:t>of </a:t>
            </a:r>
            <a:r>
              <a:rPr dirty="0" sz="1150" spc="20">
                <a:latin typeface="Times New Roman"/>
                <a:cs typeface="Times New Roman"/>
              </a:rPr>
              <a:t>columns </a:t>
            </a:r>
            <a:r>
              <a:rPr dirty="0" sz="1150" spc="10">
                <a:latin typeface="Times New Roman"/>
                <a:cs typeface="Times New Roman"/>
              </a:rPr>
              <a:t>");  </a:t>
            </a:r>
            <a:r>
              <a:rPr dirty="0" sz="1150" spc="20">
                <a:latin typeface="Times New Roman"/>
                <a:cs typeface="Times New Roman"/>
              </a:rPr>
              <a:t>scanf("%d",</a:t>
            </a:r>
            <a:r>
              <a:rPr dirty="0" sz="1150" spc="4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&amp;c);</a:t>
            </a:r>
            <a:endParaRPr sz="1150">
              <a:latin typeface="Times New Roman"/>
              <a:cs typeface="Times New Roman"/>
            </a:endParaRPr>
          </a:p>
          <a:p>
            <a:pPr marL="90170" marR="668655" indent="-5080">
              <a:lnSpc>
                <a:spcPts val="1480"/>
              </a:lnSpc>
              <a:spcBef>
                <a:spcPts val="20"/>
              </a:spcBef>
            </a:pPr>
            <a:r>
              <a:rPr dirty="0" sz="1150" spc="20">
                <a:latin typeface="Times New Roman"/>
                <a:cs typeface="Times New Roman"/>
              </a:rPr>
              <a:t>printf("\nEnter elements </a:t>
            </a:r>
            <a:r>
              <a:rPr dirty="0" sz="1150" spc="15">
                <a:latin typeface="Times New Roman"/>
                <a:cs typeface="Times New Roman"/>
              </a:rPr>
              <a:t>of </a:t>
            </a:r>
            <a:r>
              <a:rPr dirty="0" sz="1150" spc="10">
                <a:latin typeface="Times New Roman"/>
                <a:cs typeface="Times New Roman"/>
              </a:rPr>
              <a:t>1st </a:t>
            </a:r>
            <a:r>
              <a:rPr dirty="0" sz="1150" spc="20">
                <a:latin typeface="Times New Roman"/>
                <a:cs typeface="Times New Roman"/>
              </a:rPr>
              <a:t>matrix:\n");  </a:t>
            </a:r>
            <a:r>
              <a:rPr dirty="0" sz="1150" spc="15">
                <a:latin typeface="Times New Roman"/>
                <a:cs typeface="Times New Roman"/>
              </a:rPr>
              <a:t>for </a:t>
            </a:r>
            <a:r>
              <a:rPr dirty="0" sz="1150" spc="5">
                <a:latin typeface="Times New Roman"/>
                <a:cs typeface="Times New Roman"/>
              </a:rPr>
              <a:t>(i </a:t>
            </a:r>
            <a:r>
              <a:rPr dirty="0" sz="1150" spc="15">
                <a:latin typeface="Times New Roman"/>
                <a:cs typeface="Times New Roman"/>
              </a:rPr>
              <a:t>= </a:t>
            </a:r>
            <a:r>
              <a:rPr dirty="0" sz="1150" spc="10">
                <a:latin typeface="Times New Roman"/>
                <a:cs typeface="Times New Roman"/>
              </a:rPr>
              <a:t>0; </a:t>
            </a:r>
            <a:r>
              <a:rPr dirty="0" sz="1150" spc="5">
                <a:latin typeface="Times New Roman"/>
                <a:cs typeface="Times New Roman"/>
              </a:rPr>
              <a:t>i </a:t>
            </a:r>
            <a:r>
              <a:rPr dirty="0" sz="1150" spc="15">
                <a:latin typeface="Times New Roman"/>
                <a:cs typeface="Times New Roman"/>
              </a:rPr>
              <a:t>&lt; </a:t>
            </a:r>
            <a:r>
              <a:rPr dirty="0" sz="1150" spc="5">
                <a:latin typeface="Times New Roman"/>
                <a:cs typeface="Times New Roman"/>
              </a:rPr>
              <a:t>r;</a:t>
            </a:r>
            <a:r>
              <a:rPr dirty="0" sz="1150" spc="8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i++)</a:t>
            </a:r>
            <a:endParaRPr sz="1150">
              <a:latin typeface="Times New Roman"/>
              <a:cs typeface="Times New Roman"/>
            </a:endParaRPr>
          </a:p>
          <a:p>
            <a:pPr marL="163195">
              <a:lnSpc>
                <a:spcPct val="100000"/>
              </a:lnSpc>
              <a:spcBef>
                <a:spcPts val="25"/>
              </a:spcBef>
            </a:pPr>
            <a:r>
              <a:rPr dirty="0" sz="1150" spc="15">
                <a:latin typeface="Times New Roman"/>
                <a:cs typeface="Times New Roman"/>
              </a:rPr>
              <a:t>for </a:t>
            </a:r>
            <a:r>
              <a:rPr dirty="0" sz="1150" spc="5">
                <a:latin typeface="Times New Roman"/>
                <a:cs typeface="Times New Roman"/>
              </a:rPr>
              <a:t>(j </a:t>
            </a:r>
            <a:r>
              <a:rPr dirty="0" sz="1150" spc="15">
                <a:latin typeface="Times New Roman"/>
                <a:cs typeface="Times New Roman"/>
              </a:rPr>
              <a:t>= </a:t>
            </a:r>
            <a:r>
              <a:rPr dirty="0" sz="1150" spc="10">
                <a:latin typeface="Times New Roman"/>
                <a:cs typeface="Times New Roman"/>
              </a:rPr>
              <a:t>0; </a:t>
            </a:r>
            <a:r>
              <a:rPr dirty="0" sz="1150" spc="5">
                <a:latin typeface="Times New Roman"/>
                <a:cs typeface="Times New Roman"/>
              </a:rPr>
              <a:t>j </a:t>
            </a:r>
            <a:r>
              <a:rPr dirty="0" sz="1150" spc="15">
                <a:latin typeface="Times New Roman"/>
                <a:cs typeface="Times New Roman"/>
              </a:rPr>
              <a:t>&lt; </a:t>
            </a:r>
            <a:r>
              <a:rPr dirty="0" sz="1150" spc="10">
                <a:latin typeface="Times New Roman"/>
                <a:cs typeface="Times New Roman"/>
              </a:rPr>
              <a:t>c;</a:t>
            </a:r>
            <a:r>
              <a:rPr dirty="0" sz="1150" spc="9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j++)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scanf("%d", </a:t>
            </a:r>
            <a:r>
              <a:rPr dirty="0" sz="1150" spc="15">
                <a:latin typeface="Times New Roman"/>
                <a:cs typeface="Times New Roman"/>
              </a:rPr>
              <a:t>&amp;a[i][j]);</a:t>
            </a:r>
            <a:endParaRPr sz="115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Times New Roman"/>
              <a:cs typeface="Times New Roman"/>
            </a:endParaRPr>
          </a:p>
          <a:p>
            <a:pPr marL="90170" marR="735330" indent="-5080">
              <a:lnSpc>
                <a:spcPct val="107800"/>
              </a:lnSpc>
            </a:pPr>
            <a:r>
              <a:rPr dirty="0" sz="1150" spc="15">
                <a:latin typeface="Times New Roman"/>
                <a:cs typeface="Times New Roman"/>
              </a:rPr>
              <a:t>printf("Enter </a:t>
            </a:r>
            <a:r>
              <a:rPr dirty="0" sz="1150" spc="20">
                <a:latin typeface="Times New Roman"/>
                <a:cs typeface="Times New Roman"/>
              </a:rPr>
              <a:t>elements </a:t>
            </a:r>
            <a:r>
              <a:rPr dirty="0" sz="1150" spc="15">
                <a:latin typeface="Times New Roman"/>
                <a:cs typeface="Times New Roman"/>
              </a:rPr>
              <a:t>of 2nd </a:t>
            </a:r>
            <a:r>
              <a:rPr dirty="0" sz="1150" spc="20">
                <a:latin typeface="Times New Roman"/>
                <a:cs typeface="Times New Roman"/>
              </a:rPr>
              <a:t>matrix:\n");  </a:t>
            </a:r>
            <a:r>
              <a:rPr dirty="0" sz="1150" spc="15">
                <a:latin typeface="Times New Roman"/>
                <a:cs typeface="Times New Roman"/>
              </a:rPr>
              <a:t>for </a:t>
            </a:r>
            <a:r>
              <a:rPr dirty="0" sz="1150" spc="5">
                <a:latin typeface="Times New Roman"/>
                <a:cs typeface="Times New Roman"/>
              </a:rPr>
              <a:t>(i </a:t>
            </a:r>
            <a:r>
              <a:rPr dirty="0" sz="1150" spc="15">
                <a:latin typeface="Times New Roman"/>
                <a:cs typeface="Times New Roman"/>
              </a:rPr>
              <a:t>= </a:t>
            </a:r>
            <a:r>
              <a:rPr dirty="0" sz="1150" spc="10">
                <a:latin typeface="Times New Roman"/>
                <a:cs typeface="Times New Roman"/>
              </a:rPr>
              <a:t>0; </a:t>
            </a:r>
            <a:r>
              <a:rPr dirty="0" sz="1150" spc="5">
                <a:latin typeface="Times New Roman"/>
                <a:cs typeface="Times New Roman"/>
              </a:rPr>
              <a:t>i </a:t>
            </a:r>
            <a:r>
              <a:rPr dirty="0" sz="1150" spc="15">
                <a:latin typeface="Times New Roman"/>
                <a:cs typeface="Times New Roman"/>
              </a:rPr>
              <a:t>&lt; </a:t>
            </a:r>
            <a:r>
              <a:rPr dirty="0" sz="1150" spc="5">
                <a:latin typeface="Times New Roman"/>
                <a:cs typeface="Times New Roman"/>
              </a:rPr>
              <a:t>r;</a:t>
            </a:r>
            <a:r>
              <a:rPr dirty="0" sz="1150" spc="8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i++)</a:t>
            </a:r>
            <a:endParaRPr sz="1150">
              <a:latin typeface="Times New Roman"/>
              <a:cs typeface="Times New Roman"/>
            </a:endParaRPr>
          </a:p>
          <a:p>
            <a:pPr marL="163195">
              <a:lnSpc>
                <a:spcPct val="100000"/>
              </a:lnSpc>
              <a:spcBef>
                <a:spcPts val="70"/>
              </a:spcBef>
            </a:pPr>
            <a:r>
              <a:rPr dirty="0" sz="1150" spc="15">
                <a:latin typeface="Times New Roman"/>
                <a:cs typeface="Times New Roman"/>
              </a:rPr>
              <a:t>for </a:t>
            </a:r>
            <a:r>
              <a:rPr dirty="0" sz="1150" spc="5">
                <a:latin typeface="Times New Roman"/>
                <a:cs typeface="Times New Roman"/>
              </a:rPr>
              <a:t>(j </a:t>
            </a:r>
            <a:r>
              <a:rPr dirty="0" sz="1150" spc="15">
                <a:latin typeface="Times New Roman"/>
                <a:cs typeface="Times New Roman"/>
              </a:rPr>
              <a:t>= </a:t>
            </a:r>
            <a:r>
              <a:rPr dirty="0" sz="1150" spc="10">
                <a:latin typeface="Times New Roman"/>
                <a:cs typeface="Times New Roman"/>
              </a:rPr>
              <a:t>0; </a:t>
            </a:r>
            <a:r>
              <a:rPr dirty="0" sz="1150" spc="5">
                <a:latin typeface="Times New Roman"/>
                <a:cs typeface="Times New Roman"/>
              </a:rPr>
              <a:t>j </a:t>
            </a:r>
            <a:r>
              <a:rPr dirty="0" sz="1150" spc="15">
                <a:latin typeface="Times New Roman"/>
                <a:cs typeface="Times New Roman"/>
              </a:rPr>
              <a:t>&lt; </a:t>
            </a:r>
            <a:r>
              <a:rPr dirty="0" sz="1150" spc="10">
                <a:latin typeface="Times New Roman"/>
                <a:cs typeface="Times New Roman"/>
              </a:rPr>
              <a:t>c;</a:t>
            </a:r>
            <a:r>
              <a:rPr dirty="0" sz="1150" spc="9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j++)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 sz="1150" spc="20">
                <a:latin typeface="Times New Roman"/>
                <a:cs typeface="Times New Roman"/>
              </a:rPr>
              <a:t>scanf("%d", </a:t>
            </a:r>
            <a:r>
              <a:rPr dirty="0" sz="1150" spc="15">
                <a:latin typeface="Times New Roman"/>
                <a:cs typeface="Times New Roman"/>
              </a:rPr>
              <a:t>&amp;b[i][j]);</a:t>
            </a:r>
            <a:endParaRPr sz="115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  <a:spcBef>
                <a:spcPts val="110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163195" marR="1968500" indent="-74930">
              <a:lnSpc>
                <a:spcPct val="107000"/>
              </a:lnSpc>
              <a:spcBef>
                <a:spcPts val="40"/>
              </a:spcBef>
            </a:pPr>
            <a:r>
              <a:rPr dirty="0" sz="1150" spc="15">
                <a:latin typeface="Times New Roman"/>
                <a:cs typeface="Times New Roman"/>
              </a:rPr>
              <a:t>for </a:t>
            </a:r>
            <a:r>
              <a:rPr dirty="0" sz="1150" spc="5">
                <a:latin typeface="Times New Roman"/>
                <a:cs typeface="Times New Roman"/>
              </a:rPr>
              <a:t>(i </a:t>
            </a:r>
            <a:r>
              <a:rPr dirty="0" sz="1150" spc="15">
                <a:latin typeface="Times New Roman"/>
                <a:cs typeface="Times New Roman"/>
              </a:rPr>
              <a:t>= </a:t>
            </a:r>
            <a:r>
              <a:rPr dirty="0" sz="1150" spc="10">
                <a:latin typeface="Times New Roman"/>
                <a:cs typeface="Times New Roman"/>
              </a:rPr>
              <a:t>0; </a:t>
            </a:r>
            <a:r>
              <a:rPr dirty="0" sz="1150" spc="5">
                <a:latin typeface="Times New Roman"/>
                <a:cs typeface="Times New Roman"/>
              </a:rPr>
              <a:t>i </a:t>
            </a:r>
            <a:r>
              <a:rPr dirty="0" sz="1150" spc="15">
                <a:latin typeface="Times New Roman"/>
                <a:cs typeface="Times New Roman"/>
              </a:rPr>
              <a:t>&lt; </a:t>
            </a:r>
            <a:r>
              <a:rPr dirty="0" sz="1150" spc="5">
                <a:latin typeface="Times New Roman"/>
                <a:cs typeface="Times New Roman"/>
              </a:rPr>
              <a:t>r; </a:t>
            </a:r>
            <a:r>
              <a:rPr dirty="0" sz="1150" spc="25">
                <a:latin typeface="Times New Roman"/>
                <a:cs typeface="Times New Roman"/>
              </a:rPr>
              <a:t>i++)  </a:t>
            </a:r>
            <a:r>
              <a:rPr dirty="0" sz="1150" spc="15">
                <a:latin typeface="Times New Roman"/>
                <a:cs typeface="Times New Roman"/>
              </a:rPr>
              <a:t>for </a:t>
            </a:r>
            <a:r>
              <a:rPr dirty="0" sz="1150" spc="5">
                <a:latin typeface="Times New Roman"/>
                <a:cs typeface="Times New Roman"/>
              </a:rPr>
              <a:t>(j </a:t>
            </a:r>
            <a:r>
              <a:rPr dirty="0" sz="1150" spc="15">
                <a:latin typeface="Times New Roman"/>
                <a:cs typeface="Times New Roman"/>
              </a:rPr>
              <a:t>= </a:t>
            </a:r>
            <a:r>
              <a:rPr dirty="0" sz="1150" spc="10">
                <a:latin typeface="Times New Roman"/>
                <a:cs typeface="Times New Roman"/>
              </a:rPr>
              <a:t>0; </a:t>
            </a:r>
            <a:r>
              <a:rPr dirty="0" sz="1150" spc="5">
                <a:latin typeface="Times New Roman"/>
                <a:cs typeface="Times New Roman"/>
              </a:rPr>
              <a:t>j </a:t>
            </a:r>
            <a:r>
              <a:rPr dirty="0" sz="1150" spc="15">
                <a:latin typeface="Times New Roman"/>
                <a:cs typeface="Times New Roman"/>
              </a:rPr>
              <a:t>&lt; </a:t>
            </a:r>
            <a:r>
              <a:rPr dirty="0" sz="1150" spc="10">
                <a:latin typeface="Times New Roman"/>
                <a:cs typeface="Times New Roman"/>
              </a:rPr>
              <a:t>c;</a:t>
            </a:r>
            <a:r>
              <a:rPr dirty="0" sz="1150" spc="3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j++)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sum[i][j] = a[i][j] +</a:t>
            </a:r>
            <a:r>
              <a:rPr dirty="0" sz="1150" spc="4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b[i][j];</a:t>
            </a:r>
            <a:endParaRPr sz="115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90170" marR="1130300" indent="-41275">
              <a:lnSpc>
                <a:spcPct val="107000"/>
              </a:lnSpc>
              <a:spcBef>
                <a:spcPts val="35"/>
              </a:spcBef>
            </a:pPr>
            <a:r>
              <a:rPr dirty="0" sz="1150" spc="20">
                <a:latin typeface="Times New Roman"/>
                <a:cs typeface="Times New Roman"/>
              </a:rPr>
              <a:t>printf("\nSum </a:t>
            </a:r>
            <a:r>
              <a:rPr dirty="0" sz="1150" spc="15">
                <a:latin typeface="Times New Roman"/>
                <a:cs typeface="Times New Roman"/>
              </a:rPr>
              <a:t>of </a:t>
            </a:r>
            <a:r>
              <a:rPr dirty="0" sz="1150" spc="20">
                <a:latin typeface="Times New Roman"/>
                <a:cs typeface="Times New Roman"/>
              </a:rPr>
              <a:t>two </a:t>
            </a:r>
            <a:r>
              <a:rPr dirty="0" sz="1150" spc="15">
                <a:latin typeface="Times New Roman"/>
                <a:cs typeface="Times New Roman"/>
              </a:rPr>
              <a:t>matrices: \n");  for </a:t>
            </a:r>
            <a:r>
              <a:rPr dirty="0" sz="1150" spc="5">
                <a:latin typeface="Times New Roman"/>
                <a:cs typeface="Times New Roman"/>
              </a:rPr>
              <a:t>(i </a:t>
            </a:r>
            <a:r>
              <a:rPr dirty="0" sz="1150" spc="15">
                <a:latin typeface="Times New Roman"/>
                <a:cs typeface="Times New Roman"/>
              </a:rPr>
              <a:t>= </a:t>
            </a:r>
            <a:r>
              <a:rPr dirty="0" sz="1150" spc="10">
                <a:latin typeface="Times New Roman"/>
                <a:cs typeface="Times New Roman"/>
              </a:rPr>
              <a:t>0; </a:t>
            </a:r>
            <a:r>
              <a:rPr dirty="0" sz="1150" spc="5">
                <a:latin typeface="Times New Roman"/>
                <a:cs typeface="Times New Roman"/>
              </a:rPr>
              <a:t>i </a:t>
            </a:r>
            <a:r>
              <a:rPr dirty="0" sz="1150" spc="15">
                <a:latin typeface="Times New Roman"/>
                <a:cs typeface="Times New Roman"/>
              </a:rPr>
              <a:t>&lt; </a:t>
            </a:r>
            <a:r>
              <a:rPr dirty="0" sz="1150" spc="5">
                <a:latin typeface="Times New Roman"/>
                <a:cs typeface="Times New Roman"/>
              </a:rPr>
              <a:t>r;</a:t>
            </a:r>
            <a:r>
              <a:rPr dirty="0" sz="1150" spc="8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i++)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163195">
              <a:lnSpc>
                <a:spcPct val="100000"/>
              </a:lnSpc>
              <a:spcBef>
                <a:spcPts val="145"/>
              </a:spcBef>
            </a:pPr>
            <a:r>
              <a:rPr dirty="0" sz="1150" spc="15">
                <a:latin typeface="Times New Roman"/>
                <a:cs typeface="Times New Roman"/>
              </a:rPr>
              <a:t>for </a:t>
            </a:r>
            <a:r>
              <a:rPr dirty="0" sz="1150" spc="5">
                <a:latin typeface="Times New Roman"/>
                <a:cs typeface="Times New Roman"/>
              </a:rPr>
              <a:t>(j </a:t>
            </a:r>
            <a:r>
              <a:rPr dirty="0" sz="1150" spc="15">
                <a:latin typeface="Times New Roman"/>
                <a:cs typeface="Times New Roman"/>
              </a:rPr>
              <a:t>= </a:t>
            </a:r>
            <a:r>
              <a:rPr dirty="0" sz="1150" spc="10">
                <a:latin typeface="Times New Roman"/>
                <a:cs typeface="Times New Roman"/>
              </a:rPr>
              <a:t>0; </a:t>
            </a:r>
            <a:r>
              <a:rPr dirty="0" sz="1150" spc="5">
                <a:latin typeface="Times New Roman"/>
                <a:cs typeface="Times New Roman"/>
              </a:rPr>
              <a:t>j </a:t>
            </a:r>
            <a:r>
              <a:rPr dirty="0" sz="1150" spc="15">
                <a:latin typeface="Times New Roman"/>
                <a:cs typeface="Times New Roman"/>
              </a:rPr>
              <a:t>&lt; </a:t>
            </a:r>
            <a:r>
              <a:rPr dirty="0" sz="1150" spc="10">
                <a:latin typeface="Times New Roman"/>
                <a:cs typeface="Times New Roman"/>
              </a:rPr>
              <a:t>c;</a:t>
            </a:r>
            <a:r>
              <a:rPr dirty="0" sz="1150" spc="9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i++)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dirty="0" sz="1150" spc="20">
                <a:latin typeface="Times New Roman"/>
                <a:cs typeface="Times New Roman"/>
              </a:rPr>
              <a:t>printf("%d </a:t>
            </a:r>
            <a:r>
              <a:rPr dirty="0" sz="1150" spc="10">
                <a:latin typeface="Times New Roman"/>
                <a:cs typeface="Times New Roman"/>
              </a:rPr>
              <a:t>",</a:t>
            </a:r>
            <a:r>
              <a:rPr dirty="0" sz="1150" spc="3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sum[i][j]);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314325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printf("\n");</a:t>
            </a:r>
            <a:endParaRPr sz="1150">
              <a:latin typeface="Times New Roman"/>
              <a:cs typeface="Times New Roman"/>
            </a:endParaRPr>
          </a:p>
          <a:p>
            <a:pPr marL="48895">
              <a:lnSpc>
                <a:spcPct val="100000"/>
              </a:lnSpc>
              <a:spcBef>
                <a:spcPts val="135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return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0;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50" spc="15">
                <a:latin typeface="Times New Roman"/>
                <a:cs typeface="Times New Roman"/>
              </a:rPr>
              <a:t>Output: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150" spc="20">
                <a:latin typeface="Times New Roman"/>
                <a:cs typeface="Times New Roman"/>
              </a:rPr>
              <a:t>Enter </a:t>
            </a:r>
            <a:r>
              <a:rPr dirty="0" sz="1150" spc="15">
                <a:latin typeface="Times New Roman"/>
                <a:cs typeface="Times New Roman"/>
              </a:rPr>
              <a:t>the </a:t>
            </a:r>
            <a:r>
              <a:rPr dirty="0" sz="1150" spc="20">
                <a:latin typeface="Times New Roman"/>
                <a:cs typeface="Times New Roman"/>
              </a:rPr>
              <a:t>number </a:t>
            </a:r>
            <a:r>
              <a:rPr dirty="0" sz="1150" spc="10">
                <a:latin typeface="Times New Roman"/>
                <a:cs typeface="Times New Roman"/>
              </a:rPr>
              <a:t>of </a:t>
            </a:r>
            <a:r>
              <a:rPr dirty="0" sz="1150" spc="20">
                <a:latin typeface="Times New Roman"/>
                <a:cs typeface="Times New Roman"/>
              </a:rPr>
              <a:t>rows:</a:t>
            </a:r>
            <a:r>
              <a:rPr dirty="0" sz="1150" spc="4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2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336293"/>
            <a:ext cx="1966595" cy="1073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20">
                <a:latin typeface="Times New Roman"/>
                <a:cs typeface="Times New Roman"/>
              </a:rPr>
              <a:t>Enter </a:t>
            </a:r>
            <a:r>
              <a:rPr dirty="0" sz="1150" spc="15">
                <a:latin typeface="Times New Roman"/>
                <a:cs typeface="Times New Roman"/>
              </a:rPr>
              <a:t>the </a:t>
            </a:r>
            <a:r>
              <a:rPr dirty="0" sz="1150" spc="20">
                <a:latin typeface="Times New Roman"/>
                <a:cs typeface="Times New Roman"/>
              </a:rPr>
              <a:t>number </a:t>
            </a:r>
            <a:r>
              <a:rPr dirty="0" sz="1150" spc="10">
                <a:latin typeface="Times New Roman"/>
                <a:cs typeface="Times New Roman"/>
              </a:rPr>
              <a:t>of </a:t>
            </a:r>
            <a:r>
              <a:rPr dirty="0" sz="1150" spc="20">
                <a:latin typeface="Times New Roman"/>
                <a:cs typeface="Times New Roman"/>
              </a:rPr>
              <a:t>columns: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3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1150" spc="20">
                <a:latin typeface="Times New Roman"/>
                <a:cs typeface="Times New Roman"/>
              </a:rPr>
              <a:t>Enter elements </a:t>
            </a:r>
            <a:r>
              <a:rPr dirty="0" sz="1150" spc="15">
                <a:latin typeface="Times New Roman"/>
                <a:cs typeface="Times New Roman"/>
              </a:rPr>
              <a:t>of </a:t>
            </a:r>
            <a:r>
              <a:rPr dirty="0" sz="1150" spc="10">
                <a:latin typeface="Times New Roman"/>
                <a:cs typeface="Times New Roman"/>
              </a:rPr>
              <a:t>1st </a:t>
            </a:r>
            <a:r>
              <a:rPr dirty="0" sz="1150" spc="20">
                <a:latin typeface="Times New Roman"/>
                <a:cs typeface="Times New Roman"/>
              </a:rPr>
              <a:t>matrix:</a:t>
            </a:r>
            <a:endParaRPr sz="1150">
              <a:latin typeface="Times New Roman"/>
              <a:cs typeface="Times New Roman"/>
            </a:endParaRPr>
          </a:p>
          <a:p>
            <a:pPr marL="48895">
              <a:lnSpc>
                <a:spcPct val="100000"/>
              </a:lnSpc>
              <a:spcBef>
                <a:spcPts val="910"/>
              </a:spcBef>
              <a:tabLst>
                <a:tab pos="469265" algn="l"/>
                <a:tab pos="926465" algn="l"/>
                <a:tab pos="1385570" algn="l"/>
                <a:tab pos="1842770" algn="l"/>
              </a:tabLst>
            </a:pPr>
            <a:r>
              <a:rPr dirty="0" sz="1150" spc="15">
                <a:latin typeface="Times New Roman"/>
                <a:cs typeface="Times New Roman"/>
              </a:rPr>
              <a:t>2	3	4	5	2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150" spc="20">
                <a:latin typeface="Times New Roman"/>
                <a:cs typeface="Times New Roman"/>
              </a:rPr>
              <a:t>Enter elements </a:t>
            </a:r>
            <a:r>
              <a:rPr dirty="0" sz="1150" spc="15">
                <a:latin typeface="Times New Roman"/>
                <a:cs typeface="Times New Roman"/>
              </a:rPr>
              <a:t>of 2nd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matrix: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89858" y="1915414"/>
            <a:ext cx="10096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15">
                <a:latin typeface="Times New Roman"/>
                <a:cs typeface="Times New Roman"/>
              </a:rPr>
              <a:t>3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2497581"/>
            <a:ext cx="1337945" cy="1075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  <a:tab pos="926465" algn="l"/>
              </a:tabLst>
            </a:pPr>
            <a:r>
              <a:rPr dirty="0" sz="1150" spc="5">
                <a:latin typeface="Times New Roman"/>
                <a:cs typeface="Times New Roman"/>
              </a:rPr>
              <a:t>-4	</a:t>
            </a:r>
            <a:r>
              <a:rPr dirty="0" sz="1150" spc="15">
                <a:latin typeface="Times New Roman"/>
                <a:cs typeface="Times New Roman"/>
              </a:rPr>
              <a:t>5	3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150" spc="25">
                <a:latin typeface="Times New Roman"/>
                <a:cs typeface="Times New Roman"/>
              </a:rPr>
              <a:t>Sum </a:t>
            </a:r>
            <a:r>
              <a:rPr dirty="0" sz="1150" spc="15">
                <a:latin typeface="Times New Roman"/>
                <a:cs typeface="Times New Roman"/>
              </a:rPr>
              <a:t>of </a:t>
            </a:r>
            <a:r>
              <a:rPr dirty="0" sz="1150" spc="20">
                <a:latin typeface="Times New Roman"/>
                <a:cs typeface="Times New Roman"/>
              </a:rPr>
              <a:t>two</a:t>
            </a:r>
            <a:r>
              <a:rPr dirty="0" sz="1150" spc="-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matrices: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1150" spc="15">
                <a:latin typeface="Times New Roman"/>
                <a:cs typeface="Times New Roman"/>
              </a:rPr>
              <a:t>-2 8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7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150" spc="15">
                <a:latin typeface="Times New Roman"/>
                <a:cs typeface="Times New Roman"/>
              </a:rPr>
              <a:t>10 8</a:t>
            </a:r>
            <a:r>
              <a:rPr dirty="0" sz="1150" spc="2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6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75458" y="2497581"/>
            <a:ext cx="55816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dirty="0" sz="1150" spc="15">
                <a:latin typeface="Times New Roman"/>
                <a:cs typeface="Times New Roman"/>
              </a:rPr>
              <a:t>5</a:t>
            </a:r>
            <a:r>
              <a:rPr dirty="0" sz="1150" spc="15">
                <a:latin typeface="Times New Roman"/>
                <a:cs typeface="Times New Roman"/>
              </a:rPr>
              <a:t>	</a:t>
            </a:r>
            <a:r>
              <a:rPr dirty="0" sz="1150" spc="15">
                <a:latin typeface="Times New Roman"/>
                <a:cs typeface="Times New Roman"/>
              </a:rPr>
              <a:t>6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89858" y="2497581"/>
            <a:ext cx="10096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15">
                <a:latin typeface="Times New Roman"/>
                <a:cs typeface="Times New Roman"/>
              </a:rPr>
              <a:t>3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04" y="3869563"/>
            <a:ext cx="5700395" cy="5063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30" b="1">
                <a:latin typeface="Times New Roman"/>
                <a:cs typeface="Times New Roman"/>
              </a:rPr>
              <a:t>PASSING </a:t>
            </a:r>
            <a:r>
              <a:rPr dirty="0" sz="1150" spc="35" b="1">
                <a:latin typeface="Times New Roman"/>
                <a:cs typeface="Times New Roman"/>
              </a:rPr>
              <a:t>TWO-DIMENSINAL ARRAYS TO</a:t>
            </a:r>
            <a:r>
              <a:rPr dirty="0" sz="1150" spc="-25" b="1">
                <a:latin typeface="Times New Roman"/>
                <a:cs typeface="Times New Roman"/>
              </a:rPr>
              <a:t> </a:t>
            </a:r>
            <a:r>
              <a:rPr dirty="0" sz="1150" spc="30" b="1">
                <a:latin typeface="Times New Roman"/>
                <a:cs typeface="Times New Roman"/>
              </a:rPr>
              <a:t>FUNCTIONS</a:t>
            </a:r>
            <a:endParaRPr sz="115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855"/>
              </a:spcBef>
            </a:pPr>
            <a:r>
              <a:rPr dirty="0" sz="1150" spc="20">
                <a:latin typeface="Times New Roman"/>
                <a:cs typeface="Times New Roman"/>
              </a:rPr>
              <a:t>There </a:t>
            </a:r>
            <a:r>
              <a:rPr dirty="0" sz="1150" spc="15">
                <a:latin typeface="Times New Roman"/>
                <a:cs typeface="Times New Roman"/>
              </a:rPr>
              <a:t>are 3 </a:t>
            </a:r>
            <a:r>
              <a:rPr dirty="0" sz="1150" spc="20">
                <a:latin typeface="Times New Roman"/>
                <a:cs typeface="Times New Roman"/>
              </a:rPr>
              <a:t>ways </a:t>
            </a:r>
            <a:r>
              <a:rPr dirty="0" sz="1150" spc="15">
                <a:latin typeface="Times New Roman"/>
                <a:cs typeface="Times New Roman"/>
              </a:rPr>
              <a:t>of passing </a:t>
            </a:r>
            <a:r>
              <a:rPr dirty="0" sz="1150" spc="20">
                <a:latin typeface="Times New Roman"/>
                <a:cs typeface="Times New Roman"/>
              </a:rPr>
              <a:t>two-dimensional </a:t>
            </a:r>
            <a:r>
              <a:rPr dirty="0" sz="1150" spc="15">
                <a:latin typeface="Times New Roman"/>
                <a:cs typeface="Times New Roman"/>
              </a:rPr>
              <a:t>arrays </a:t>
            </a:r>
            <a:r>
              <a:rPr dirty="0" sz="1150" spc="20">
                <a:latin typeface="Times New Roman"/>
                <a:cs typeface="Times New Roman"/>
              </a:rPr>
              <a:t>to</a:t>
            </a:r>
            <a:r>
              <a:rPr dirty="0" sz="1150" spc="9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functions.</a:t>
            </a:r>
            <a:endParaRPr sz="1150">
              <a:latin typeface="Times New Roman"/>
              <a:cs typeface="Times New Roman"/>
            </a:endParaRPr>
          </a:p>
          <a:p>
            <a:pPr marL="12700" marR="897255">
              <a:lnSpc>
                <a:spcPct val="163500"/>
              </a:lnSpc>
              <a:spcBef>
                <a:spcPts val="45"/>
              </a:spcBef>
            </a:pPr>
            <a:r>
              <a:rPr dirty="0" sz="1150" spc="25" b="1">
                <a:latin typeface="Times New Roman"/>
                <a:cs typeface="Times New Roman"/>
              </a:rPr>
              <a:t>Passing </a:t>
            </a:r>
            <a:r>
              <a:rPr dirty="0" sz="1150" spc="20" b="1">
                <a:latin typeface="Times New Roman"/>
                <a:cs typeface="Times New Roman"/>
              </a:rPr>
              <a:t>individual </a:t>
            </a:r>
            <a:r>
              <a:rPr dirty="0" sz="1150" spc="25" b="1">
                <a:latin typeface="Times New Roman"/>
                <a:cs typeface="Times New Roman"/>
              </a:rPr>
              <a:t>elements: </a:t>
            </a:r>
            <a:r>
              <a:rPr dirty="0" sz="1150" spc="15">
                <a:latin typeface="Times New Roman"/>
                <a:cs typeface="Times New Roman"/>
              </a:rPr>
              <a:t>Individual </a:t>
            </a:r>
            <a:r>
              <a:rPr dirty="0" sz="1150" spc="20">
                <a:latin typeface="Times New Roman"/>
                <a:cs typeface="Times New Roman"/>
              </a:rPr>
              <a:t>array can </a:t>
            </a:r>
            <a:r>
              <a:rPr dirty="0" sz="1150" spc="15">
                <a:latin typeface="Times New Roman"/>
                <a:cs typeface="Times New Roman"/>
              </a:rPr>
              <a:t>be </a:t>
            </a:r>
            <a:r>
              <a:rPr dirty="0" sz="1150" spc="20">
                <a:latin typeface="Times New Roman"/>
                <a:cs typeface="Times New Roman"/>
              </a:rPr>
              <a:t>passed to </a:t>
            </a:r>
            <a:r>
              <a:rPr dirty="0" sz="1150" spc="15">
                <a:latin typeface="Times New Roman"/>
                <a:cs typeface="Times New Roman"/>
              </a:rPr>
              <a:t>the functions.  </a:t>
            </a:r>
            <a:r>
              <a:rPr dirty="0" sz="1150" spc="20">
                <a:latin typeface="Times New Roman"/>
                <a:cs typeface="Times New Roman"/>
              </a:rPr>
              <a:t>main()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95"/>
              </a:spcBef>
            </a:pPr>
            <a:r>
              <a:rPr dirty="0" sz="1150" spc="10">
                <a:latin typeface="Times New Roman"/>
                <a:cs typeface="Times New Roman"/>
              </a:rPr>
              <a:t>int </a:t>
            </a:r>
            <a:r>
              <a:rPr dirty="0" sz="1150" spc="15">
                <a:latin typeface="Times New Roman"/>
                <a:cs typeface="Times New Roman"/>
              </a:rPr>
              <a:t>arr[2][3] =</a:t>
            </a:r>
            <a:r>
              <a:rPr dirty="0" sz="1150" spc="5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{{1,2,3},{4,5,6}};</a:t>
            </a:r>
            <a:endParaRPr sz="115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45"/>
              </a:spcBef>
            </a:pPr>
            <a:r>
              <a:rPr dirty="0" sz="1150" spc="15">
                <a:latin typeface="Times New Roman"/>
                <a:cs typeface="Times New Roman"/>
              </a:rPr>
              <a:t>func(arr[1][2]);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1150" spc="20">
                <a:latin typeface="Times New Roman"/>
                <a:cs typeface="Times New Roman"/>
              </a:rPr>
              <a:t>void </a:t>
            </a:r>
            <a:r>
              <a:rPr dirty="0" sz="1150" spc="15">
                <a:latin typeface="Times New Roman"/>
                <a:cs typeface="Times New Roman"/>
              </a:rPr>
              <a:t>func(int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x)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printf(“%d”,x);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12700" marR="5080">
              <a:lnSpc>
                <a:spcPct val="108300"/>
              </a:lnSpc>
              <a:spcBef>
                <a:spcPts val="790"/>
              </a:spcBef>
            </a:pPr>
            <a:r>
              <a:rPr dirty="0" sz="1150" spc="25" b="1">
                <a:latin typeface="Times New Roman"/>
                <a:cs typeface="Times New Roman"/>
              </a:rPr>
              <a:t>Passing a Row: </a:t>
            </a:r>
            <a:r>
              <a:rPr dirty="0" sz="1150" spc="20">
                <a:latin typeface="Times New Roman"/>
                <a:cs typeface="Times New Roman"/>
              </a:rPr>
              <a:t>A row of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20">
                <a:latin typeface="Times New Roman"/>
                <a:cs typeface="Times New Roman"/>
              </a:rPr>
              <a:t>2D array can </a:t>
            </a:r>
            <a:r>
              <a:rPr dirty="0" sz="1150" spc="15">
                <a:latin typeface="Times New Roman"/>
                <a:cs typeface="Times New Roman"/>
              </a:rPr>
              <a:t>be </a:t>
            </a:r>
            <a:r>
              <a:rPr dirty="0" sz="1150" spc="20">
                <a:latin typeface="Times New Roman"/>
                <a:cs typeface="Times New Roman"/>
              </a:rPr>
              <a:t>passed </a:t>
            </a:r>
            <a:r>
              <a:rPr dirty="0" sz="1150" spc="15">
                <a:latin typeface="Times New Roman"/>
                <a:cs typeface="Times New Roman"/>
              </a:rPr>
              <a:t>by </a:t>
            </a:r>
            <a:r>
              <a:rPr dirty="0" sz="1150" spc="20">
                <a:latin typeface="Times New Roman"/>
                <a:cs typeface="Times New Roman"/>
              </a:rPr>
              <a:t>indexing </a:t>
            </a:r>
            <a:r>
              <a:rPr dirty="0" sz="1150" spc="15">
                <a:latin typeface="Times New Roman"/>
                <a:cs typeface="Times New Roman"/>
              </a:rPr>
              <a:t>the </a:t>
            </a:r>
            <a:r>
              <a:rPr dirty="0" sz="1150" spc="20">
                <a:latin typeface="Times New Roman"/>
                <a:cs typeface="Times New Roman"/>
              </a:rPr>
              <a:t>array </a:t>
            </a:r>
            <a:r>
              <a:rPr dirty="0" sz="1150" spc="25">
                <a:latin typeface="Times New Roman"/>
                <a:cs typeface="Times New Roman"/>
              </a:rPr>
              <a:t>name </a:t>
            </a:r>
            <a:r>
              <a:rPr dirty="0" sz="1150" spc="15">
                <a:latin typeface="Times New Roman"/>
                <a:cs typeface="Times New Roman"/>
              </a:rPr>
              <a:t>with the </a:t>
            </a:r>
            <a:r>
              <a:rPr dirty="0" sz="1150" spc="20">
                <a:latin typeface="Times New Roman"/>
                <a:cs typeface="Times New Roman"/>
              </a:rPr>
              <a:t>row  number. </a:t>
            </a:r>
            <a:r>
              <a:rPr dirty="0" sz="1150" spc="25">
                <a:latin typeface="Times New Roman"/>
                <a:cs typeface="Times New Roman"/>
              </a:rPr>
              <a:t>When </a:t>
            </a:r>
            <a:r>
              <a:rPr dirty="0" sz="1150" spc="20">
                <a:latin typeface="Times New Roman"/>
                <a:cs typeface="Times New Roman"/>
              </a:rPr>
              <a:t>we </a:t>
            </a:r>
            <a:r>
              <a:rPr dirty="0" sz="1150" spc="15">
                <a:latin typeface="Times New Roman"/>
                <a:cs typeface="Times New Roman"/>
              </a:rPr>
              <a:t>send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15">
                <a:latin typeface="Times New Roman"/>
                <a:cs typeface="Times New Roman"/>
              </a:rPr>
              <a:t>single </a:t>
            </a:r>
            <a:r>
              <a:rPr dirty="0" sz="1150" spc="20">
                <a:latin typeface="Times New Roman"/>
                <a:cs typeface="Times New Roman"/>
              </a:rPr>
              <a:t>row </a:t>
            </a:r>
            <a:r>
              <a:rPr dirty="0" sz="1150" spc="15">
                <a:latin typeface="Times New Roman"/>
                <a:cs typeface="Times New Roman"/>
              </a:rPr>
              <a:t>of </a:t>
            </a:r>
            <a:r>
              <a:rPr dirty="0" sz="1150" spc="20">
                <a:latin typeface="Times New Roman"/>
                <a:cs typeface="Times New Roman"/>
              </a:rPr>
              <a:t>2D </a:t>
            </a:r>
            <a:r>
              <a:rPr dirty="0" sz="1150" spc="15">
                <a:latin typeface="Times New Roman"/>
                <a:cs typeface="Times New Roman"/>
              </a:rPr>
              <a:t>array, </a:t>
            </a:r>
            <a:r>
              <a:rPr dirty="0" sz="1150" spc="20">
                <a:latin typeface="Times New Roman"/>
                <a:cs typeface="Times New Roman"/>
              </a:rPr>
              <a:t>then </a:t>
            </a:r>
            <a:r>
              <a:rPr dirty="0" sz="1150" spc="15">
                <a:latin typeface="Times New Roman"/>
                <a:cs typeface="Times New Roman"/>
              </a:rPr>
              <a:t>the called function receives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45">
                <a:latin typeface="Times New Roman"/>
                <a:cs typeface="Times New Roman"/>
              </a:rPr>
              <a:t>one-  </a:t>
            </a:r>
            <a:r>
              <a:rPr dirty="0" sz="1150" spc="20">
                <a:latin typeface="Times New Roman"/>
                <a:cs typeface="Times New Roman"/>
              </a:rPr>
              <a:t>dimensional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array.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1150" spc="20">
                <a:latin typeface="Times New Roman"/>
                <a:cs typeface="Times New Roman"/>
              </a:rPr>
              <a:t>main()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35"/>
              </a:spcBef>
            </a:pPr>
            <a:r>
              <a:rPr dirty="0" sz="1150" spc="10">
                <a:latin typeface="Times New Roman"/>
                <a:cs typeface="Times New Roman"/>
              </a:rPr>
              <a:t>int </a:t>
            </a:r>
            <a:r>
              <a:rPr dirty="0" sz="1150" spc="15">
                <a:latin typeface="Times New Roman"/>
                <a:cs typeface="Times New Roman"/>
              </a:rPr>
              <a:t>arr[2][3] =</a:t>
            </a:r>
            <a:r>
              <a:rPr dirty="0" sz="1150" spc="5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{{1,2,3},{4,5,6}};</a:t>
            </a:r>
            <a:endParaRPr sz="115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func(arr[1]);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1150" spc="20">
                <a:latin typeface="Times New Roman"/>
                <a:cs typeface="Times New Roman"/>
              </a:rPr>
              <a:t>void </a:t>
            </a:r>
            <a:r>
              <a:rPr dirty="0" sz="1150" spc="15">
                <a:latin typeface="Times New Roman"/>
                <a:cs typeface="Times New Roman"/>
              </a:rPr>
              <a:t>func(int arr[])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318310"/>
            <a:ext cx="5762625" cy="37204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69265" marR="4161154">
              <a:lnSpc>
                <a:spcPct val="108300"/>
              </a:lnSpc>
              <a:spcBef>
                <a:spcPts val="90"/>
              </a:spcBef>
            </a:pPr>
            <a:r>
              <a:rPr dirty="0" sz="1150" spc="10">
                <a:latin typeface="Times New Roman"/>
                <a:cs typeface="Times New Roman"/>
              </a:rPr>
              <a:t>int i;  </a:t>
            </a:r>
            <a:r>
              <a:rPr dirty="0" sz="1150" spc="15">
                <a:latin typeface="Times New Roman"/>
                <a:cs typeface="Times New Roman"/>
              </a:rPr>
              <a:t>for(i=0;i&lt;3;i++)  </a:t>
            </a:r>
            <a:r>
              <a:rPr dirty="0" sz="1150" spc="-5">
                <a:latin typeface="Times New Roman"/>
                <a:cs typeface="Times New Roman"/>
              </a:rPr>
              <a:t>printf(“%d”,arr[i]);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 marR="5080">
              <a:lnSpc>
                <a:spcPct val="107800"/>
              </a:lnSpc>
            </a:pPr>
            <a:r>
              <a:rPr dirty="0" sz="1150" spc="25" b="1">
                <a:latin typeface="Times New Roman"/>
                <a:cs typeface="Times New Roman"/>
              </a:rPr>
              <a:t>Passing an Entire </a:t>
            </a:r>
            <a:r>
              <a:rPr dirty="0" sz="1150" spc="35" b="1">
                <a:latin typeface="Times New Roman"/>
                <a:cs typeface="Times New Roman"/>
              </a:rPr>
              <a:t>2D </a:t>
            </a:r>
            <a:r>
              <a:rPr dirty="0" sz="1150" spc="20" b="1">
                <a:latin typeface="Times New Roman"/>
                <a:cs typeface="Times New Roman"/>
              </a:rPr>
              <a:t>array: </a:t>
            </a:r>
            <a:r>
              <a:rPr dirty="0" sz="1150" spc="25">
                <a:latin typeface="Times New Roman"/>
                <a:cs typeface="Times New Roman"/>
              </a:rPr>
              <a:t>To </a:t>
            </a:r>
            <a:r>
              <a:rPr dirty="0" sz="1150" spc="15">
                <a:latin typeface="Times New Roman"/>
                <a:cs typeface="Times New Roman"/>
              </a:rPr>
              <a:t>pass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20">
                <a:latin typeface="Times New Roman"/>
                <a:cs typeface="Times New Roman"/>
              </a:rPr>
              <a:t>2D </a:t>
            </a:r>
            <a:r>
              <a:rPr dirty="0" sz="1150" spc="15">
                <a:latin typeface="Times New Roman"/>
                <a:cs typeface="Times New Roman"/>
              </a:rPr>
              <a:t>array </a:t>
            </a:r>
            <a:r>
              <a:rPr dirty="0" sz="1150" spc="20">
                <a:latin typeface="Times New Roman"/>
                <a:cs typeface="Times New Roman"/>
              </a:rPr>
              <a:t>to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15">
                <a:latin typeface="Times New Roman"/>
                <a:cs typeface="Times New Roman"/>
              </a:rPr>
              <a:t>function, array </a:t>
            </a:r>
            <a:r>
              <a:rPr dirty="0" sz="1150" spc="25">
                <a:latin typeface="Times New Roman"/>
                <a:cs typeface="Times New Roman"/>
              </a:rPr>
              <a:t>name </a:t>
            </a:r>
            <a:r>
              <a:rPr dirty="0" sz="1150" spc="15">
                <a:latin typeface="Times New Roman"/>
                <a:cs typeface="Times New Roman"/>
              </a:rPr>
              <a:t>can be used as the  actual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parameter.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1150" spc="20">
                <a:latin typeface="Times New Roman"/>
                <a:cs typeface="Times New Roman"/>
              </a:rPr>
              <a:t>main()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dirty="0" sz="1150" spc="10">
                <a:latin typeface="Times New Roman"/>
                <a:cs typeface="Times New Roman"/>
              </a:rPr>
              <a:t>int </a:t>
            </a:r>
            <a:r>
              <a:rPr dirty="0" sz="1150" spc="15">
                <a:latin typeface="Times New Roman"/>
                <a:cs typeface="Times New Roman"/>
              </a:rPr>
              <a:t>arr[2][3] =</a:t>
            </a:r>
            <a:r>
              <a:rPr dirty="0" sz="1150" spc="5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{{1,2,3},{4,5,6}};</a:t>
            </a:r>
            <a:endParaRPr sz="115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45"/>
              </a:spcBef>
            </a:pPr>
            <a:r>
              <a:rPr dirty="0" sz="1150" spc="15">
                <a:latin typeface="Times New Roman"/>
                <a:cs typeface="Times New Roman"/>
              </a:rPr>
              <a:t>func(arr);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150" spc="20">
                <a:latin typeface="Times New Roman"/>
                <a:cs typeface="Times New Roman"/>
              </a:rPr>
              <a:t>void </a:t>
            </a:r>
            <a:r>
              <a:rPr dirty="0" sz="1150" spc="15">
                <a:latin typeface="Times New Roman"/>
                <a:cs typeface="Times New Roman"/>
              </a:rPr>
              <a:t>func(int arr[])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469265" marR="4297045">
              <a:lnSpc>
                <a:spcPts val="1490"/>
              </a:lnSpc>
              <a:spcBef>
                <a:spcPts val="55"/>
              </a:spcBef>
            </a:pPr>
            <a:r>
              <a:rPr dirty="0" sz="1150" spc="10">
                <a:latin typeface="Times New Roman"/>
                <a:cs typeface="Times New Roman"/>
              </a:rPr>
              <a:t>int i,j;  </a:t>
            </a:r>
            <a:r>
              <a:rPr dirty="0" sz="1150" spc="20">
                <a:latin typeface="Times New Roman"/>
                <a:cs typeface="Times New Roman"/>
              </a:rPr>
              <a:t>f</a:t>
            </a:r>
            <a:r>
              <a:rPr dirty="0" sz="1150" spc="15">
                <a:latin typeface="Times New Roman"/>
                <a:cs typeface="Times New Roman"/>
              </a:rPr>
              <a:t>o</a:t>
            </a:r>
            <a:r>
              <a:rPr dirty="0" sz="1150" spc="15">
                <a:latin typeface="Times New Roman"/>
                <a:cs typeface="Times New Roman"/>
              </a:rPr>
              <a:t>r</a:t>
            </a:r>
            <a:r>
              <a:rPr dirty="0" sz="1150" spc="10">
                <a:latin typeface="Times New Roman"/>
                <a:cs typeface="Times New Roman"/>
              </a:rPr>
              <a:t>(</a:t>
            </a:r>
            <a:r>
              <a:rPr dirty="0" sz="1150" spc="25">
                <a:latin typeface="Times New Roman"/>
                <a:cs typeface="Times New Roman"/>
              </a:rPr>
              <a:t>i</a:t>
            </a:r>
            <a:r>
              <a:rPr dirty="0" sz="1150" spc="15">
                <a:latin typeface="Times New Roman"/>
                <a:cs typeface="Times New Roman"/>
              </a:rPr>
              <a:t>=</a:t>
            </a:r>
            <a:r>
              <a:rPr dirty="0" sz="1150" spc="15">
                <a:latin typeface="Times New Roman"/>
                <a:cs typeface="Times New Roman"/>
              </a:rPr>
              <a:t>0;</a:t>
            </a:r>
            <a:r>
              <a:rPr dirty="0" sz="1150" spc="20">
                <a:latin typeface="Times New Roman"/>
                <a:cs typeface="Times New Roman"/>
              </a:rPr>
              <a:t>i</a:t>
            </a:r>
            <a:r>
              <a:rPr dirty="0" sz="1150" spc="15">
                <a:latin typeface="Times New Roman"/>
                <a:cs typeface="Times New Roman"/>
              </a:rPr>
              <a:t>&lt;</a:t>
            </a:r>
            <a:r>
              <a:rPr dirty="0" sz="1150" spc="15">
                <a:latin typeface="Times New Roman"/>
                <a:cs typeface="Times New Roman"/>
              </a:rPr>
              <a:t>2;</a:t>
            </a:r>
            <a:r>
              <a:rPr dirty="0" sz="1150" spc="20">
                <a:latin typeface="Times New Roman"/>
                <a:cs typeface="Times New Roman"/>
              </a:rPr>
              <a:t>i</a:t>
            </a:r>
            <a:r>
              <a:rPr dirty="0" sz="1150" spc="10">
                <a:latin typeface="Times New Roman"/>
                <a:cs typeface="Times New Roman"/>
              </a:rPr>
              <a:t>++)  </a:t>
            </a:r>
            <a:r>
              <a:rPr dirty="0" sz="1150" spc="20">
                <a:latin typeface="Times New Roman"/>
                <a:cs typeface="Times New Roman"/>
              </a:rPr>
              <a:t>f</a:t>
            </a:r>
            <a:r>
              <a:rPr dirty="0" sz="1150" spc="15">
                <a:latin typeface="Times New Roman"/>
                <a:cs typeface="Times New Roman"/>
              </a:rPr>
              <a:t>o</a:t>
            </a:r>
            <a:r>
              <a:rPr dirty="0" sz="1150" spc="15">
                <a:latin typeface="Times New Roman"/>
                <a:cs typeface="Times New Roman"/>
              </a:rPr>
              <a:t>r</a:t>
            </a:r>
            <a:r>
              <a:rPr dirty="0" sz="1150" spc="10">
                <a:latin typeface="Times New Roman"/>
                <a:cs typeface="Times New Roman"/>
              </a:rPr>
              <a:t>(</a:t>
            </a:r>
            <a:r>
              <a:rPr dirty="0" sz="1150" spc="25">
                <a:latin typeface="Times New Roman"/>
                <a:cs typeface="Times New Roman"/>
              </a:rPr>
              <a:t>j</a:t>
            </a:r>
            <a:r>
              <a:rPr dirty="0" sz="1150" spc="15">
                <a:latin typeface="Times New Roman"/>
                <a:cs typeface="Times New Roman"/>
              </a:rPr>
              <a:t>=</a:t>
            </a:r>
            <a:r>
              <a:rPr dirty="0" sz="1150" spc="15">
                <a:latin typeface="Times New Roman"/>
                <a:cs typeface="Times New Roman"/>
              </a:rPr>
              <a:t>0;</a:t>
            </a:r>
            <a:r>
              <a:rPr dirty="0" sz="1150" spc="20">
                <a:latin typeface="Times New Roman"/>
                <a:cs typeface="Times New Roman"/>
              </a:rPr>
              <a:t>j</a:t>
            </a:r>
            <a:r>
              <a:rPr dirty="0" sz="1150" spc="15">
                <a:latin typeface="Times New Roman"/>
                <a:cs typeface="Times New Roman"/>
              </a:rPr>
              <a:t>&lt;</a:t>
            </a:r>
            <a:r>
              <a:rPr dirty="0" sz="1150" spc="15">
                <a:latin typeface="Times New Roman"/>
                <a:cs typeface="Times New Roman"/>
              </a:rPr>
              <a:t>3;</a:t>
            </a:r>
            <a:r>
              <a:rPr dirty="0" sz="1150" spc="20">
                <a:latin typeface="Times New Roman"/>
                <a:cs typeface="Times New Roman"/>
              </a:rPr>
              <a:t>j</a:t>
            </a:r>
            <a:r>
              <a:rPr dirty="0" sz="1150" spc="15">
                <a:latin typeface="Times New Roman"/>
                <a:cs typeface="Times New Roman"/>
              </a:rPr>
              <a:t>++)</a:t>
            </a:r>
            <a:endParaRPr sz="115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50"/>
              </a:spcBef>
            </a:pPr>
            <a:r>
              <a:rPr dirty="0" sz="1150" spc="-5">
                <a:latin typeface="Times New Roman"/>
                <a:cs typeface="Times New Roman"/>
              </a:rPr>
              <a:t>printf(“%d”,arr[i][j]);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363517"/>
            <a:ext cx="3346450" cy="454659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1400" spc="-5" b="1">
                <a:latin typeface="Times New Roman"/>
                <a:cs typeface="Times New Roman"/>
              </a:rPr>
              <a:t>MULTIDIMENSIONAL ARRAY</a:t>
            </a:r>
            <a:endParaRPr sz="14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45"/>
              </a:spcBef>
            </a:pPr>
            <a:r>
              <a:rPr dirty="0" sz="1150" spc="20">
                <a:latin typeface="Times New Roman"/>
                <a:cs typeface="Times New Roman"/>
              </a:rPr>
              <a:t>A multidimensional array </a:t>
            </a:r>
            <a:r>
              <a:rPr dirty="0" sz="1150" spc="15">
                <a:latin typeface="Times New Roman"/>
                <a:cs typeface="Times New Roman"/>
              </a:rPr>
              <a:t>is </a:t>
            </a:r>
            <a:r>
              <a:rPr dirty="0" sz="1150" spc="20">
                <a:latin typeface="Times New Roman"/>
                <a:cs typeface="Times New Roman"/>
              </a:rPr>
              <a:t>an </a:t>
            </a:r>
            <a:r>
              <a:rPr dirty="0" sz="1150" spc="15">
                <a:latin typeface="Times New Roman"/>
                <a:cs typeface="Times New Roman"/>
              </a:rPr>
              <a:t>array </a:t>
            </a:r>
            <a:r>
              <a:rPr dirty="0" sz="1150" spc="10">
                <a:latin typeface="Times New Roman"/>
                <a:cs typeface="Times New Roman"/>
              </a:rPr>
              <a:t>of</a:t>
            </a:r>
            <a:r>
              <a:rPr dirty="0" sz="1150" spc="2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arrays.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4925999"/>
            <a:ext cx="572643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570865">
              <a:lnSpc>
                <a:spcPct val="108700"/>
              </a:lnSpc>
              <a:spcBef>
                <a:spcPts val="100"/>
              </a:spcBef>
            </a:pPr>
            <a:r>
              <a:rPr dirty="0" baseline="4830" sz="1725" spc="30">
                <a:latin typeface="Times New Roman"/>
                <a:cs typeface="Times New Roman"/>
              </a:rPr>
              <a:t>An</a:t>
            </a:r>
            <a:r>
              <a:rPr dirty="0" baseline="4830" sz="1725" spc="-60">
                <a:latin typeface="Times New Roman"/>
                <a:cs typeface="Times New Roman"/>
              </a:rPr>
              <a:t> </a:t>
            </a:r>
            <a:r>
              <a:rPr dirty="0" baseline="4830" sz="1725" spc="30">
                <a:latin typeface="Times New Roman"/>
                <a:cs typeface="Times New Roman"/>
              </a:rPr>
              <a:t>n-dimensional</a:t>
            </a:r>
            <a:r>
              <a:rPr dirty="0" baseline="4830" sz="1725" spc="-75">
                <a:latin typeface="Times New Roman"/>
                <a:cs typeface="Times New Roman"/>
              </a:rPr>
              <a:t> </a:t>
            </a:r>
            <a:r>
              <a:rPr dirty="0" baseline="4830" sz="1725" spc="37">
                <a:latin typeface="Times New Roman"/>
                <a:cs typeface="Times New Roman"/>
              </a:rPr>
              <a:t>array</a:t>
            </a:r>
            <a:r>
              <a:rPr dirty="0" baseline="4830" sz="1725" spc="-104">
                <a:latin typeface="Times New Roman"/>
                <a:cs typeface="Times New Roman"/>
              </a:rPr>
              <a:t> </a:t>
            </a:r>
            <a:r>
              <a:rPr dirty="0" baseline="4830" sz="1725" spc="37">
                <a:latin typeface="Times New Roman"/>
                <a:cs typeface="Times New Roman"/>
              </a:rPr>
              <a:t>is</a:t>
            </a:r>
            <a:r>
              <a:rPr dirty="0" baseline="4830" sz="1725" spc="-22">
                <a:latin typeface="Times New Roman"/>
                <a:cs typeface="Times New Roman"/>
              </a:rPr>
              <a:t> </a:t>
            </a:r>
            <a:r>
              <a:rPr dirty="0" baseline="4830" sz="1725" spc="22">
                <a:latin typeface="Times New Roman"/>
                <a:cs typeface="Times New Roman"/>
              </a:rPr>
              <a:t>specified</a:t>
            </a:r>
            <a:r>
              <a:rPr dirty="0" baseline="4830" sz="1725" spc="-82">
                <a:latin typeface="Times New Roman"/>
                <a:cs typeface="Times New Roman"/>
              </a:rPr>
              <a:t> </a:t>
            </a:r>
            <a:r>
              <a:rPr dirty="0" baseline="4830" sz="1725" spc="37">
                <a:latin typeface="Times New Roman"/>
                <a:cs typeface="Times New Roman"/>
              </a:rPr>
              <a:t>using</a:t>
            </a:r>
            <a:r>
              <a:rPr dirty="0" baseline="4830" sz="1725" spc="-44">
                <a:latin typeface="Times New Roman"/>
                <a:cs typeface="Times New Roman"/>
              </a:rPr>
              <a:t> </a:t>
            </a:r>
            <a:r>
              <a:rPr dirty="0" baseline="4830" sz="1725" spc="22">
                <a:latin typeface="Times New Roman"/>
                <a:cs typeface="Times New Roman"/>
              </a:rPr>
              <a:t>n</a:t>
            </a:r>
            <a:r>
              <a:rPr dirty="0" baseline="4830" sz="1725" spc="-135">
                <a:latin typeface="Times New Roman"/>
                <a:cs typeface="Times New Roman"/>
              </a:rPr>
              <a:t> </a:t>
            </a:r>
            <a:r>
              <a:rPr dirty="0" baseline="4830" sz="1725" spc="22">
                <a:latin typeface="Times New Roman"/>
                <a:cs typeface="Times New Roman"/>
              </a:rPr>
              <a:t>indices.</a:t>
            </a:r>
            <a:r>
              <a:rPr dirty="0" baseline="4830" sz="1725" spc="-15">
                <a:latin typeface="Times New Roman"/>
                <a:cs typeface="Times New Roman"/>
              </a:rPr>
              <a:t> </a:t>
            </a:r>
            <a:r>
              <a:rPr dirty="0" baseline="4830" sz="1725" spc="30">
                <a:latin typeface="Times New Roman"/>
                <a:cs typeface="Times New Roman"/>
              </a:rPr>
              <a:t>An</a:t>
            </a:r>
            <a:r>
              <a:rPr dirty="0" baseline="4830" sz="1725" spc="-60">
                <a:latin typeface="Times New Roman"/>
                <a:cs typeface="Times New Roman"/>
              </a:rPr>
              <a:t> </a:t>
            </a:r>
            <a:r>
              <a:rPr dirty="0" baseline="4830" sz="1725" spc="30">
                <a:latin typeface="Times New Roman"/>
                <a:cs typeface="Times New Roman"/>
              </a:rPr>
              <a:t>n-dimensional</a:t>
            </a:r>
            <a:r>
              <a:rPr dirty="0" baseline="4830" sz="1725" spc="-22">
                <a:latin typeface="Times New Roman"/>
                <a:cs typeface="Times New Roman"/>
              </a:rPr>
              <a:t> </a:t>
            </a:r>
            <a:r>
              <a:rPr dirty="0" baseline="4830" sz="1725" spc="30">
                <a:latin typeface="Times New Roman"/>
                <a:cs typeface="Times New Roman"/>
              </a:rPr>
              <a:t>m</a:t>
            </a:r>
            <a:r>
              <a:rPr dirty="0" sz="750" spc="20">
                <a:latin typeface="Times New Roman"/>
                <a:cs typeface="Times New Roman"/>
              </a:rPr>
              <a:t>1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baseline="4830" sz="1725" spc="30">
                <a:latin typeface="Times New Roman"/>
                <a:cs typeface="Times New Roman"/>
              </a:rPr>
              <a:t>X</a:t>
            </a:r>
            <a:r>
              <a:rPr dirty="0" baseline="4830" sz="1725" spc="-67">
                <a:latin typeface="Times New Roman"/>
                <a:cs typeface="Times New Roman"/>
              </a:rPr>
              <a:t> </a:t>
            </a:r>
            <a:r>
              <a:rPr dirty="0" baseline="4830" sz="1725" spc="22">
                <a:latin typeface="Times New Roman"/>
                <a:cs typeface="Times New Roman"/>
              </a:rPr>
              <a:t>m</a:t>
            </a:r>
            <a:r>
              <a:rPr dirty="0" sz="750" spc="15">
                <a:latin typeface="Times New Roman"/>
                <a:cs typeface="Times New Roman"/>
              </a:rPr>
              <a:t>2</a:t>
            </a:r>
            <a:r>
              <a:rPr dirty="0" sz="750" spc="55">
                <a:latin typeface="Times New Roman"/>
                <a:cs typeface="Times New Roman"/>
              </a:rPr>
              <a:t> </a:t>
            </a:r>
            <a:r>
              <a:rPr dirty="0" baseline="4830" sz="1725" spc="30">
                <a:latin typeface="Times New Roman"/>
                <a:cs typeface="Times New Roman"/>
              </a:rPr>
              <a:t>X</a:t>
            </a:r>
            <a:r>
              <a:rPr dirty="0" baseline="4830" sz="1725" spc="-30">
                <a:latin typeface="Times New Roman"/>
                <a:cs typeface="Times New Roman"/>
              </a:rPr>
              <a:t> </a:t>
            </a:r>
            <a:r>
              <a:rPr dirty="0" baseline="4830" sz="1725" spc="37">
                <a:latin typeface="Times New Roman"/>
                <a:cs typeface="Times New Roman"/>
              </a:rPr>
              <a:t>m</a:t>
            </a:r>
            <a:r>
              <a:rPr dirty="0" sz="750" spc="25">
                <a:latin typeface="Times New Roman"/>
                <a:cs typeface="Times New Roman"/>
              </a:rPr>
              <a:t>3  </a:t>
            </a:r>
            <a:r>
              <a:rPr dirty="0" baseline="4830" sz="1725" spc="37">
                <a:latin typeface="Times New Roman"/>
                <a:cs typeface="Times New Roman"/>
              </a:rPr>
              <a:t>X…..m</a:t>
            </a:r>
            <a:r>
              <a:rPr dirty="0" sz="750" spc="25">
                <a:latin typeface="Times New Roman"/>
                <a:cs typeface="Times New Roman"/>
              </a:rPr>
              <a:t>n </a:t>
            </a:r>
            <a:r>
              <a:rPr dirty="0" baseline="4830" sz="1725" spc="37">
                <a:latin typeface="Times New Roman"/>
                <a:cs typeface="Times New Roman"/>
              </a:rPr>
              <a:t>array </a:t>
            </a:r>
            <a:r>
              <a:rPr dirty="0" baseline="4830" sz="1725" spc="22">
                <a:latin typeface="Times New Roman"/>
                <a:cs typeface="Times New Roman"/>
              </a:rPr>
              <a:t>is </a:t>
            </a:r>
            <a:r>
              <a:rPr dirty="0" baseline="4830" sz="1725" spc="15">
                <a:latin typeface="Times New Roman"/>
                <a:cs typeface="Times New Roman"/>
              </a:rPr>
              <a:t>a </a:t>
            </a:r>
            <a:r>
              <a:rPr dirty="0" baseline="4830" sz="1725" spc="22">
                <a:latin typeface="Times New Roman"/>
                <a:cs typeface="Times New Roman"/>
              </a:rPr>
              <a:t>collection </a:t>
            </a:r>
            <a:r>
              <a:rPr dirty="0" baseline="4830" sz="1725" spc="44">
                <a:latin typeface="Times New Roman"/>
                <a:cs typeface="Times New Roman"/>
              </a:rPr>
              <a:t>m</a:t>
            </a:r>
            <a:r>
              <a:rPr dirty="0" sz="750" spc="30">
                <a:latin typeface="Times New Roman"/>
                <a:cs typeface="Times New Roman"/>
              </a:rPr>
              <a:t>1* </a:t>
            </a:r>
            <a:r>
              <a:rPr dirty="0" baseline="4830" sz="1725" spc="22">
                <a:latin typeface="Times New Roman"/>
                <a:cs typeface="Times New Roman"/>
              </a:rPr>
              <a:t>m</a:t>
            </a:r>
            <a:r>
              <a:rPr dirty="0" sz="750" spc="15">
                <a:latin typeface="Times New Roman"/>
                <a:cs typeface="Times New Roman"/>
              </a:rPr>
              <a:t>2 * </a:t>
            </a:r>
            <a:r>
              <a:rPr dirty="0" baseline="4830" sz="1725" spc="22">
                <a:latin typeface="Times New Roman"/>
                <a:cs typeface="Times New Roman"/>
              </a:rPr>
              <a:t>m</a:t>
            </a:r>
            <a:r>
              <a:rPr dirty="0" sz="750" spc="15">
                <a:latin typeface="Times New Roman"/>
                <a:cs typeface="Times New Roman"/>
              </a:rPr>
              <a:t>3 </a:t>
            </a:r>
            <a:r>
              <a:rPr dirty="0" sz="750" spc="20">
                <a:latin typeface="Times New Roman"/>
                <a:cs typeface="Times New Roman"/>
              </a:rPr>
              <a:t>*-……. </a:t>
            </a:r>
            <a:r>
              <a:rPr dirty="0" baseline="4830" sz="1725" spc="30">
                <a:latin typeface="Times New Roman"/>
                <a:cs typeface="Times New Roman"/>
              </a:rPr>
              <a:t>m</a:t>
            </a:r>
            <a:r>
              <a:rPr dirty="0" sz="750" spc="20">
                <a:latin typeface="Times New Roman"/>
                <a:cs typeface="Times New Roman"/>
              </a:rPr>
              <a:t>n </a:t>
            </a:r>
            <a:r>
              <a:rPr dirty="0" baseline="4830" sz="1725" spc="22">
                <a:latin typeface="Times New Roman"/>
                <a:cs typeface="Times New Roman"/>
              </a:rPr>
              <a:t>elements. </a:t>
            </a:r>
            <a:r>
              <a:rPr dirty="0" baseline="4830" sz="1725" spc="30">
                <a:latin typeface="Times New Roman"/>
                <a:cs typeface="Times New Roman"/>
              </a:rPr>
              <a:t>A multidimensional </a:t>
            </a:r>
            <a:r>
              <a:rPr dirty="0" baseline="4830" sz="1725" spc="37">
                <a:latin typeface="Times New Roman"/>
                <a:cs typeface="Times New Roman"/>
              </a:rPr>
              <a:t>array</a:t>
            </a:r>
            <a:r>
              <a:rPr dirty="0" baseline="4830" sz="1725" spc="-209">
                <a:latin typeface="Times New Roman"/>
                <a:cs typeface="Times New Roman"/>
              </a:rPr>
              <a:t> </a:t>
            </a:r>
            <a:r>
              <a:rPr dirty="0" baseline="4830" sz="1725" spc="52">
                <a:latin typeface="Times New Roman"/>
                <a:cs typeface="Times New Roman"/>
              </a:rPr>
              <a:t>can</a:t>
            </a:r>
            <a:endParaRPr baseline="4830" sz="1725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1824355"/>
            <a:ext cx="5570728" cy="2837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316786"/>
            <a:ext cx="5742940" cy="6849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100"/>
              </a:spcBef>
            </a:pPr>
            <a:r>
              <a:rPr dirty="0" sz="1150" spc="20">
                <a:latin typeface="Times New Roman"/>
                <a:cs typeface="Times New Roman"/>
              </a:rPr>
              <a:t>contain </a:t>
            </a:r>
            <a:r>
              <a:rPr dirty="0" sz="1150" spc="15">
                <a:latin typeface="Times New Roman"/>
                <a:cs typeface="Times New Roman"/>
              </a:rPr>
              <a:t>as </a:t>
            </a:r>
            <a:r>
              <a:rPr dirty="0" sz="1150" spc="25">
                <a:latin typeface="Times New Roman"/>
                <a:cs typeface="Times New Roman"/>
              </a:rPr>
              <a:t>many </a:t>
            </a:r>
            <a:r>
              <a:rPr dirty="0" sz="1150" spc="20">
                <a:latin typeface="Times New Roman"/>
                <a:cs typeface="Times New Roman"/>
              </a:rPr>
              <a:t>indices </a:t>
            </a:r>
            <a:r>
              <a:rPr dirty="0" sz="1150" spc="15">
                <a:latin typeface="Times New Roman"/>
                <a:cs typeface="Times New Roman"/>
              </a:rPr>
              <a:t>as </a:t>
            </a:r>
            <a:r>
              <a:rPr dirty="0" sz="1150" spc="20">
                <a:latin typeface="Times New Roman"/>
                <a:cs typeface="Times New Roman"/>
              </a:rPr>
              <a:t>needed and </a:t>
            </a:r>
            <a:r>
              <a:rPr dirty="0" sz="1150" spc="15">
                <a:latin typeface="Times New Roman"/>
                <a:cs typeface="Times New Roman"/>
              </a:rPr>
              <a:t>the </a:t>
            </a:r>
            <a:r>
              <a:rPr dirty="0" sz="1150" spc="20">
                <a:latin typeface="Times New Roman"/>
                <a:cs typeface="Times New Roman"/>
              </a:rPr>
              <a:t>requirement </a:t>
            </a:r>
            <a:r>
              <a:rPr dirty="0" sz="1150" spc="15">
                <a:latin typeface="Times New Roman"/>
                <a:cs typeface="Times New Roman"/>
              </a:rPr>
              <a:t>of the </a:t>
            </a:r>
            <a:r>
              <a:rPr dirty="0" sz="1150" spc="25">
                <a:latin typeface="Times New Roman"/>
                <a:cs typeface="Times New Roman"/>
              </a:rPr>
              <a:t>memory </a:t>
            </a:r>
            <a:r>
              <a:rPr dirty="0" sz="1150" spc="20">
                <a:latin typeface="Times New Roman"/>
                <a:cs typeface="Times New Roman"/>
              </a:rPr>
              <a:t>increases with number  </a:t>
            </a:r>
            <a:r>
              <a:rPr dirty="0" sz="1150" spc="15">
                <a:latin typeface="Times New Roman"/>
                <a:cs typeface="Times New Roman"/>
              </a:rPr>
              <a:t>of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indices.</a:t>
            </a:r>
            <a:endParaRPr sz="1150">
              <a:latin typeface="Times New Roman"/>
              <a:cs typeface="Times New Roman"/>
            </a:endParaRPr>
          </a:p>
          <a:p>
            <a:pPr marL="12700" marR="2413000">
              <a:lnSpc>
                <a:spcPct val="161700"/>
              </a:lnSpc>
              <a:spcBef>
                <a:spcPts val="85"/>
              </a:spcBef>
            </a:pPr>
            <a:r>
              <a:rPr dirty="0" sz="1150" spc="20">
                <a:latin typeface="Times New Roman"/>
                <a:cs typeface="Times New Roman"/>
              </a:rPr>
              <a:t>Write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20">
                <a:latin typeface="Times New Roman"/>
                <a:cs typeface="Times New Roman"/>
              </a:rPr>
              <a:t>program to read and display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15">
                <a:latin typeface="Times New Roman"/>
                <a:cs typeface="Times New Roman"/>
              </a:rPr>
              <a:t>2 </a:t>
            </a:r>
            <a:r>
              <a:rPr dirty="0" sz="1150" spc="20">
                <a:latin typeface="Times New Roman"/>
                <a:cs typeface="Times New Roman"/>
              </a:rPr>
              <a:t>X 2X </a:t>
            </a:r>
            <a:r>
              <a:rPr dirty="0" sz="1150" spc="15">
                <a:latin typeface="Times New Roman"/>
                <a:cs typeface="Times New Roman"/>
              </a:rPr>
              <a:t>2 array.  include</a:t>
            </a:r>
            <a:r>
              <a:rPr dirty="0" sz="1150" spc="20">
                <a:latin typeface="Times New Roman"/>
                <a:cs typeface="Times New Roman"/>
              </a:rPr>
              <a:t> &lt;stdio.h&gt;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50" spc="10">
                <a:latin typeface="Times New Roman"/>
                <a:cs typeface="Times New Roman"/>
              </a:rPr>
              <a:t>int</a:t>
            </a:r>
            <a:r>
              <a:rPr dirty="0" sz="1150" spc="20">
                <a:latin typeface="Times New Roman"/>
                <a:cs typeface="Times New Roman"/>
              </a:rPr>
              <a:t> main()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  <a:spcBef>
                <a:spcPts val="135"/>
              </a:spcBef>
            </a:pPr>
            <a:r>
              <a:rPr dirty="0" sz="1150" spc="10">
                <a:latin typeface="Times New Roman"/>
                <a:cs typeface="Times New Roman"/>
              </a:rPr>
              <a:t>int</a:t>
            </a:r>
            <a:r>
              <a:rPr dirty="0" sz="1150" spc="2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a[2][2][2],i,j,k;</a:t>
            </a:r>
            <a:endParaRPr sz="1150">
              <a:latin typeface="Times New Roman"/>
              <a:cs typeface="Times New Roman"/>
            </a:endParaRPr>
          </a:p>
          <a:p>
            <a:pPr marL="90170" marR="3094355" indent="-5080">
              <a:lnSpc>
                <a:spcPts val="1480"/>
              </a:lnSpc>
              <a:spcBef>
                <a:spcPts val="60"/>
              </a:spcBef>
            </a:pPr>
            <a:r>
              <a:rPr dirty="0" sz="1150" spc="15">
                <a:latin typeface="Times New Roman"/>
                <a:cs typeface="Times New Roman"/>
              </a:rPr>
              <a:t>printf("Enter </a:t>
            </a:r>
            <a:r>
              <a:rPr dirty="0" sz="1150" spc="20">
                <a:latin typeface="Times New Roman"/>
                <a:cs typeface="Times New Roman"/>
              </a:rPr>
              <a:t>elements </a:t>
            </a:r>
            <a:r>
              <a:rPr dirty="0" sz="1150" spc="15">
                <a:latin typeface="Times New Roman"/>
                <a:cs typeface="Times New Roman"/>
              </a:rPr>
              <a:t>of the </a:t>
            </a:r>
            <a:r>
              <a:rPr dirty="0" sz="1150" spc="20">
                <a:latin typeface="Times New Roman"/>
                <a:cs typeface="Times New Roman"/>
              </a:rPr>
              <a:t>matrix: </a:t>
            </a:r>
            <a:r>
              <a:rPr dirty="0" sz="1150" spc="15">
                <a:latin typeface="Times New Roman"/>
                <a:cs typeface="Times New Roman"/>
              </a:rPr>
              <a:t>\n");  for </a:t>
            </a:r>
            <a:r>
              <a:rPr dirty="0" sz="1150" spc="5">
                <a:latin typeface="Times New Roman"/>
                <a:cs typeface="Times New Roman"/>
              </a:rPr>
              <a:t>(i </a:t>
            </a:r>
            <a:r>
              <a:rPr dirty="0" sz="1150" spc="15">
                <a:latin typeface="Times New Roman"/>
                <a:cs typeface="Times New Roman"/>
              </a:rPr>
              <a:t>= </a:t>
            </a:r>
            <a:r>
              <a:rPr dirty="0" sz="1150" spc="10">
                <a:latin typeface="Times New Roman"/>
                <a:cs typeface="Times New Roman"/>
              </a:rPr>
              <a:t>0; </a:t>
            </a:r>
            <a:r>
              <a:rPr dirty="0" sz="1150" spc="5">
                <a:latin typeface="Times New Roman"/>
                <a:cs typeface="Times New Roman"/>
              </a:rPr>
              <a:t>i </a:t>
            </a:r>
            <a:r>
              <a:rPr dirty="0" sz="1150" spc="15">
                <a:latin typeface="Times New Roman"/>
                <a:cs typeface="Times New Roman"/>
              </a:rPr>
              <a:t>&lt; </a:t>
            </a:r>
            <a:r>
              <a:rPr dirty="0" sz="1150" spc="10">
                <a:latin typeface="Times New Roman"/>
                <a:cs typeface="Times New Roman"/>
              </a:rPr>
              <a:t>2;i</a:t>
            </a:r>
            <a:r>
              <a:rPr dirty="0" sz="1150" spc="10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++)</a:t>
            </a:r>
            <a:endParaRPr sz="115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  <a:spcBef>
                <a:spcPts val="55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163195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for </a:t>
            </a:r>
            <a:r>
              <a:rPr dirty="0" sz="1150" spc="5">
                <a:latin typeface="Times New Roman"/>
                <a:cs typeface="Times New Roman"/>
              </a:rPr>
              <a:t>(j </a:t>
            </a:r>
            <a:r>
              <a:rPr dirty="0" sz="1150" spc="15">
                <a:latin typeface="Times New Roman"/>
                <a:cs typeface="Times New Roman"/>
              </a:rPr>
              <a:t>= </a:t>
            </a:r>
            <a:r>
              <a:rPr dirty="0" sz="1150" spc="10">
                <a:latin typeface="Times New Roman"/>
                <a:cs typeface="Times New Roman"/>
              </a:rPr>
              <a:t>0; </a:t>
            </a:r>
            <a:r>
              <a:rPr dirty="0" sz="1150" spc="5">
                <a:latin typeface="Times New Roman"/>
                <a:cs typeface="Times New Roman"/>
              </a:rPr>
              <a:t>j </a:t>
            </a:r>
            <a:r>
              <a:rPr dirty="0" sz="1150" spc="15">
                <a:latin typeface="Times New Roman"/>
                <a:cs typeface="Times New Roman"/>
              </a:rPr>
              <a:t>&lt; </a:t>
            </a:r>
            <a:r>
              <a:rPr dirty="0" sz="1150" spc="10">
                <a:latin typeface="Times New Roman"/>
                <a:cs typeface="Times New Roman"/>
              </a:rPr>
              <a:t>2;</a:t>
            </a:r>
            <a:r>
              <a:rPr dirty="0" sz="1150" spc="10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j++)</a:t>
            </a:r>
            <a:endParaRPr sz="1150">
              <a:latin typeface="Times New Roman"/>
              <a:cs typeface="Times New Roman"/>
            </a:endParaRPr>
          </a:p>
          <a:p>
            <a:pPr marL="158750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45"/>
              </a:spcBef>
            </a:pPr>
            <a:r>
              <a:rPr dirty="0" sz="1150" spc="15">
                <a:latin typeface="Times New Roman"/>
                <a:cs typeface="Times New Roman"/>
              </a:rPr>
              <a:t>for </a:t>
            </a:r>
            <a:r>
              <a:rPr dirty="0" sz="1150" spc="10">
                <a:latin typeface="Times New Roman"/>
                <a:cs typeface="Times New Roman"/>
              </a:rPr>
              <a:t>( </a:t>
            </a:r>
            <a:r>
              <a:rPr dirty="0" sz="1150" spc="15">
                <a:latin typeface="Times New Roman"/>
                <a:cs typeface="Times New Roman"/>
              </a:rPr>
              <a:t>k = </a:t>
            </a:r>
            <a:r>
              <a:rPr dirty="0" sz="1150" spc="10">
                <a:latin typeface="Times New Roman"/>
                <a:cs typeface="Times New Roman"/>
              </a:rPr>
              <a:t>0; </a:t>
            </a:r>
            <a:r>
              <a:rPr dirty="0" sz="1150" spc="15">
                <a:latin typeface="Times New Roman"/>
                <a:cs typeface="Times New Roman"/>
              </a:rPr>
              <a:t>k &lt; </a:t>
            </a:r>
            <a:r>
              <a:rPr dirty="0" sz="1150" spc="20">
                <a:latin typeface="Times New Roman"/>
                <a:cs typeface="Times New Roman"/>
              </a:rPr>
              <a:t>2;k</a:t>
            </a:r>
            <a:r>
              <a:rPr dirty="0" sz="1150" spc="8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++)</a:t>
            </a:r>
            <a:endParaRPr sz="1150">
              <a:latin typeface="Times New Roman"/>
              <a:cs typeface="Times New Roman"/>
            </a:endParaRPr>
          </a:p>
          <a:p>
            <a:pPr marL="236220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318770">
              <a:lnSpc>
                <a:spcPct val="100000"/>
              </a:lnSpc>
              <a:spcBef>
                <a:spcPts val="85"/>
              </a:spcBef>
            </a:pPr>
            <a:r>
              <a:rPr dirty="0" sz="1150" spc="20">
                <a:latin typeface="Times New Roman"/>
                <a:cs typeface="Times New Roman"/>
              </a:rPr>
              <a:t>scanf("%d", </a:t>
            </a:r>
            <a:r>
              <a:rPr dirty="0" sz="1150" spc="15">
                <a:latin typeface="Times New Roman"/>
                <a:cs typeface="Times New Roman"/>
              </a:rPr>
              <a:t>&amp;a[i][j][k]);</a:t>
            </a:r>
            <a:endParaRPr sz="1150">
              <a:latin typeface="Times New Roman"/>
              <a:cs typeface="Times New Roman"/>
            </a:endParaRPr>
          </a:p>
          <a:p>
            <a:pPr marL="236220">
              <a:lnSpc>
                <a:spcPct val="100000"/>
              </a:lnSpc>
              <a:spcBef>
                <a:spcPts val="130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158750">
              <a:lnSpc>
                <a:spcPct val="100000"/>
              </a:lnSpc>
              <a:spcBef>
                <a:spcPts val="110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  <a:spcBef>
                <a:spcPts val="130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Times New Roman"/>
              <a:cs typeface="Times New Roman"/>
            </a:endParaRPr>
          </a:p>
          <a:p>
            <a:pPr marL="90170" marR="3656965" indent="-5080">
              <a:lnSpc>
                <a:spcPct val="107800"/>
              </a:lnSpc>
            </a:pPr>
            <a:r>
              <a:rPr dirty="0" sz="1150" spc="20">
                <a:latin typeface="Times New Roman"/>
                <a:cs typeface="Times New Roman"/>
              </a:rPr>
              <a:t>printf("\nDisplaying </a:t>
            </a:r>
            <a:r>
              <a:rPr dirty="0" sz="1150" spc="15">
                <a:latin typeface="Times New Roman"/>
                <a:cs typeface="Times New Roman"/>
              </a:rPr>
              <a:t>values:\n");  for </a:t>
            </a:r>
            <a:r>
              <a:rPr dirty="0" sz="1150" spc="5">
                <a:latin typeface="Times New Roman"/>
                <a:cs typeface="Times New Roman"/>
              </a:rPr>
              <a:t>(i </a:t>
            </a:r>
            <a:r>
              <a:rPr dirty="0" sz="1150" spc="15">
                <a:latin typeface="Times New Roman"/>
                <a:cs typeface="Times New Roman"/>
              </a:rPr>
              <a:t>= </a:t>
            </a:r>
            <a:r>
              <a:rPr dirty="0" sz="1150" spc="10">
                <a:latin typeface="Times New Roman"/>
                <a:cs typeface="Times New Roman"/>
              </a:rPr>
              <a:t>0; </a:t>
            </a:r>
            <a:r>
              <a:rPr dirty="0" sz="1150" spc="5">
                <a:latin typeface="Times New Roman"/>
                <a:cs typeface="Times New Roman"/>
              </a:rPr>
              <a:t>i </a:t>
            </a:r>
            <a:r>
              <a:rPr dirty="0" sz="1150" spc="15">
                <a:latin typeface="Times New Roman"/>
                <a:cs typeface="Times New Roman"/>
              </a:rPr>
              <a:t>&lt; </a:t>
            </a:r>
            <a:r>
              <a:rPr dirty="0" sz="1150" spc="10">
                <a:latin typeface="Times New Roman"/>
                <a:cs typeface="Times New Roman"/>
              </a:rPr>
              <a:t>2;i</a:t>
            </a:r>
            <a:r>
              <a:rPr dirty="0" sz="1150" spc="9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++)</a:t>
            </a:r>
            <a:endParaRPr sz="115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  <a:spcBef>
                <a:spcPts val="70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printf(“\n\n”);</a:t>
            </a:r>
            <a:endParaRPr sz="1150">
              <a:latin typeface="Times New Roman"/>
              <a:cs typeface="Times New Roman"/>
            </a:endParaRPr>
          </a:p>
          <a:p>
            <a:pPr marL="163195">
              <a:lnSpc>
                <a:spcPct val="100000"/>
              </a:lnSpc>
              <a:spcBef>
                <a:spcPts val="145"/>
              </a:spcBef>
            </a:pPr>
            <a:r>
              <a:rPr dirty="0" sz="1150" spc="15">
                <a:latin typeface="Times New Roman"/>
                <a:cs typeface="Times New Roman"/>
              </a:rPr>
              <a:t>for </a:t>
            </a:r>
            <a:r>
              <a:rPr dirty="0" sz="1150" spc="5">
                <a:latin typeface="Times New Roman"/>
                <a:cs typeface="Times New Roman"/>
              </a:rPr>
              <a:t>(j </a:t>
            </a:r>
            <a:r>
              <a:rPr dirty="0" sz="1150" spc="15">
                <a:latin typeface="Times New Roman"/>
                <a:cs typeface="Times New Roman"/>
              </a:rPr>
              <a:t>= </a:t>
            </a:r>
            <a:r>
              <a:rPr dirty="0" sz="1150" spc="10">
                <a:latin typeface="Times New Roman"/>
                <a:cs typeface="Times New Roman"/>
              </a:rPr>
              <a:t>0; </a:t>
            </a:r>
            <a:r>
              <a:rPr dirty="0" sz="1150" spc="5">
                <a:latin typeface="Times New Roman"/>
                <a:cs typeface="Times New Roman"/>
              </a:rPr>
              <a:t>j </a:t>
            </a:r>
            <a:r>
              <a:rPr dirty="0" sz="1150" spc="15">
                <a:latin typeface="Times New Roman"/>
                <a:cs typeface="Times New Roman"/>
              </a:rPr>
              <a:t>&lt; </a:t>
            </a:r>
            <a:r>
              <a:rPr dirty="0" sz="1150" spc="10">
                <a:latin typeface="Times New Roman"/>
                <a:cs typeface="Times New Roman"/>
              </a:rPr>
              <a:t>2;</a:t>
            </a:r>
            <a:r>
              <a:rPr dirty="0" sz="1150" spc="10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j++)</a:t>
            </a:r>
            <a:endParaRPr sz="1150">
              <a:latin typeface="Times New Roman"/>
              <a:cs typeface="Times New Roman"/>
            </a:endParaRPr>
          </a:p>
          <a:p>
            <a:pPr marL="158750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printf(“\n”);</a:t>
            </a:r>
            <a:endParaRPr sz="115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dirty="0" sz="1150" spc="15">
                <a:latin typeface="Times New Roman"/>
                <a:cs typeface="Times New Roman"/>
              </a:rPr>
              <a:t>for </a:t>
            </a:r>
            <a:r>
              <a:rPr dirty="0" sz="1150" spc="10">
                <a:latin typeface="Times New Roman"/>
                <a:cs typeface="Times New Roman"/>
              </a:rPr>
              <a:t>( </a:t>
            </a:r>
            <a:r>
              <a:rPr dirty="0" sz="1150" spc="15">
                <a:latin typeface="Times New Roman"/>
                <a:cs typeface="Times New Roman"/>
              </a:rPr>
              <a:t>k = </a:t>
            </a:r>
            <a:r>
              <a:rPr dirty="0" sz="1150" spc="10">
                <a:latin typeface="Times New Roman"/>
                <a:cs typeface="Times New Roman"/>
              </a:rPr>
              <a:t>0; </a:t>
            </a:r>
            <a:r>
              <a:rPr dirty="0" sz="1150" spc="15">
                <a:latin typeface="Times New Roman"/>
                <a:cs typeface="Times New Roman"/>
              </a:rPr>
              <a:t>k &lt; </a:t>
            </a:r>
            <a:r>
              <a:rPr dirty="0" sz="1150" spc="20">
                <a:latin typeface="Times New Roman"/>
                <a:cs typeface="Times New Roman"/>
              </a:rPr>
              <a:t>2;k</a:t>
            </a:r>
            <a:r>
              <a:rPr dirty="0" sz="1150" spc="8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++)</a:t>
            </a:r>
            <a:endParaRPr sz="1150">
              <a:latin typeface="Times New Roman"/>
              <a:cs typeface="Times New Roman"/>
            </a:endParaRPr>
          </a:p>
          <a:p>
            <a:pPr marL="236220">
              <a:lnSpc>
                <a:spcPct val="100000"/>
              </a:lnSpc>
              <a:spcBef>
                <a:spcPts val="130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314325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printf("\t </a:t>
            </a:r>
            <a:r>
              <a:rPr dirty="0" sz="1150" spc="20">
                <a:latin typeface="Times New Roman"/>
                <a:cs typeface="Times New Roman"/>
              </a:rPr>
              <a:t>arr[%d] [%d]</a:t>
            </a:r>
            <a:r>
              <a:rPr dirty="0" sz="1150" spc="4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[%d]",i,j,k,a[i][j][k]);</a:t>
            </a:r>
            <a:endParaRPr sz="1150">
              <a:latin typeface="Times New Roman"/>
              <a:cs typeface="Times New Roman"/>
            </a:endParaRPr>
          </a:p>
          <a:p>
            <a:pPr marL="236220">
              <a:lnSpc>
                <a:spcPct val="100000"/>
              </a:lnSpc>
              <a:spcBef>
                <a:spcPts val="135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158750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  <a:spcBef>
                <a:spcPts val="145"/>
              </a:spcBef>
            </a:pPr>
            <a:r>
              <a:rPr dirty="0" sz="1150" spc="15">
                <a:latin typeface="Times New Roman"/>
                <a:cs typeface="Times New Roman"/>
              </a:rPr>
              <a:t>return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0;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1150" spc="15">
                <a:latin typeface="Times New Roman"/>
                <a:cs typeface="Times New Roman"/>
              </a:rPr>
              <a:t>Output: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Enter </a:t>
            </a:r>
            <a:r>
              <a:rPr dirty="0" sz="1150" spc="15">
                <a:latin typeface="Times New Roman"/>
                <a:cs typeface="Times New Roman"/>
              </a:rPr>
              <a:t>the </a:t>
            </a:r>
            <a:r>
              <a:rPr dirty="0" sz="1150" spc="20">
                <a:latin typeface="Times New Roman"/>
                <a:cs typeface="Times New Roman"/>
              </a:rPr>
              <a:t>elements </a:t>
            </a:r>
            <a:r>
              <a:rPr dirty="0" sz="1150" spc="15">
                <a:latin typeface="Times New Roman"/>
                <a:cs typeface="Times New Roman"/>
              </a:rPr>
              <a:t>of the</a:t>
            </a:r>
            <a:r>
              <a:rPr dirty="0" sz="1150" spc="3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matrix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89858" y="8154161"/>
            <a:ext cx="10096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15">
                <a:latin typeface="Times New Roman"/>
                <a:cs typeface="Times New Roman"/>
              </a:rPr>
              <a:t>6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47313" y="8154161"/>
            <a:ext cx="10096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15">
                <a:latin typeface="Times New Roman"/>
                <a:cs typeface="Times New Roman"/>
              </a:rPr>
              <a:t>7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4513" y="8154161"/>
            <a:ext cx="10096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15">
                <a:latin typeface="Times New Roman"/>
                <a:cs typeface="Times New Roman"/>
              </a:rPr>
              <a:t>8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2004" y="8142275"/>
            <a:ext cx="1200785" cy="115951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  <a:tabLst>
                <a:tab pos="583565" algn="l"/>
                <a:tab pos="926465" algn="l"/>
              </a:tabLst>
            </a:pPr>
            <a:r>
              <a:rPr dirty="0" sz="1150" spc="15">
                <a:latin typeface="Times New Roman"/>
                <a:cs typeface="Times New Roman"/>
              </a:rPr>
              <a:t>1	2	3</a:t>
            </a:r>
            <a:endParaRPr sz="1150">
              <a:latin typeface="Times New Roman"/>
              <a:cs typeface="Times New Roman"/>
            </a:endParaRPr>
          </a:p>
          <a:p>
            <a:pPr marL="12700" marR="5080">
              <a:lnSpc>
                <a:spcPts val="1510"/>
              </a:lnSpc>
              <a:spcBef>
                <a:spcPts val="35"/>
              </a:spcBef>
            </a:pPr>
            <a:r>
              <a:rPr dirty="0" sz="1150" spc="20">
                <a:latin typeface="Times New Roman"/>
                <a:cs typeface="Times New Roman"/>
              </a:rPr>
              <a:t>Displaying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Values:  a[0][0][0] =</a:t>
            </a:r>
            <a:r>
              <a:rPr dirty="0" sz="1150" spc="-1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150" spc="15">
                <a:latin typeface="Times New Roman"/>
                <a:cs typeface="Times New Roman"/>
              </a:rPr>
              <a:t>a[0][1][0] =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3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5">
                <a:latin typeface="Times New Roman"/>
                <a:cs typeface="Times New Roman"/>
              </a:rPr>
              <a:t>a[1][0][0] =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5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a[1][1][0] =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7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75458" y="8154161"/>
            <a:ext cx="859790" cy="1147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dirty="0" sz="1150" spc="15">
                <a:latin typeface="Times New Roman"/>
                <a:cs typeface="Times New Roman"/>
              </a:rPr>
              <a:t>4	5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50" spc="15">
                <a:latin typeface="Times New Roman"/>
                <a:cs typeface="Times New Roman"/>
              </a:rPr>
              <a:t>a[0][0][1] =</a:t>
            </a:r>
            <a:r>
              <a:rPr dirty="0" sz="1150" spc="-8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2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a[0][1][1] =</a:t>
            </a:r>
            <a:r>
              <a:rPr dirty="0" sz="1150" spc="-8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4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5">
                <a:latin typeface="Times New Roman"/>
                <a:cs typeface="Times New Roman"/>
              </a:rPr>
              <a:t>a[1][0][1] =</a:t>
            </a:r>
            <a:r>
              <a:rPr dirty="0" sz="1150" spc="-8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6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15">
                <a:latin typeface="Times New Roman"/>
                <a:cs typeface="Times New Roman"/>
              </a:rPr>
              <a:t>a[1][1][1] =</a:t>
            </a:r>
            <a:r>
              <a:rPr dirty="0" sz="1150" spc="-8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8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195542"/>
            <a:ext cx="5758815" cy="141795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400" spc="-5" b="1">
                <a:latin typeface="Times New Roman"/>
                <a:cs typeface="Times New Roman"/>
              </a:rPr>
              <a:t>SPARSE MATRICES</a:t>
            </a:r>
            <a:endParaRPr sz="1400">
              <a:latin typeface="Times New Roman"/>
              <a:cs typeface="Times New Roman"/>
            </a:endParaRPr>
          </a:p>
          <a:p>
            <a:pPr marL="12700" marR="5080" indent="570865">
              <a:lnSpc>
                <a:spcPct val="107000"/>
              </a:lnSpc>
              <a:spcBef>
                <a:spcPts val="60"/>
              </a:spcBef>
            </a:pPr>
            <a:r>
              <a:rPr dirty="0" sz="1150" spc="20">
                <a:latin typeface="Times New Roman"/>
                <a:cs typeface="Times New Roman"/>
              </a:rPr>
              <a:t>Sparse matrix </a:t>
            </a:r>
            <a:r>
              <a:rPr dirty="0" sz="1150" spc="15">
                <a:latin typeface="Times New Roman"/>
                <a:cs typeface="Times New Roman"/>
              </a:rPr>
              <a:t>is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20">
                <a:latin typeface="Times New Roman"/>
                <a:cs typeface="Times New Roman"/>
              </a:rPr>
              <a:t>matrix </a:t>
            </a:r>
            <a:r>
              <a:rPr dirty="0" sz="1150" spc="10">
                <a:latin typeface="Times New Roman"/>
                <a:cs typeface="Times New Roman"/>
              </a:rPr>
              <a:t>that </a:t>
            </a:r>
            <a:r>
              <a:rPr dirty="0" sz="1150" spc="15">
                <a:latin typeface="Times New Roman"/>
                <a:cs typeface="Times New Roman"/>
              </a:rPr>
              <a:t>has </a:t>
            </a:r>
            <a:r>
              <a:rPr dirty="0" sz="1150" spc="20">
                <a:latin typeface="Times New Roman"/>
                <a:cs typeface="Times New Roman"/>
              </a:rPr>
              <a:t>large number </a:t>
            </a:r>
            <a:r>
              <a:rPr dirty="0" sz="1150" spc="15">
                <a:latin typeface="Times New Roman"/>
                <a:cs typeface="Times New Roman"/>
              </a:rPr>
              <a:t>of </a:t>
            </a:r>
            <a:r>
              <a:rPr dirty="0" sz="1150" spc="20">
                <a:latin typeface="Times New Roman"/>
                <a:cs typeface="Times New Roman"/>
              </a:rPr>
              <a:t>elements with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20">
                <a:latin typeface="Times New Roman"/>
                <a:cs typeface="Times New Roman"/>
              </a:rPr>
              <a:t>zero </a:t>
            </a:r>
            <a:r>
              <a:rPr dirty="0" sz="1150" spc="15">
                <a:latin typeface="Times New Roman"/>
                <a:cs typeface="Times New Roman"/>
              </a:rPr>
              <a:t>value. </a:t>
            </a:r>
            <a:r>
              <a:rPr dirty="0" sz="1150" spc="20">
                <a:latin typeface="Times New Roman"/>
                <a:cs typeface="Times New Roman"/>
              </a:rPr>
              <a:t>There  </a:t>
            </a:r>
            <a:r>
              <a:rPr dirty="0" sz="1150" spc="15">
                <a:latin typeface="Times New Roman"/>
                <a:cs typeface="Times New Roman"/>
              </a:rPr>
              <a:t>are </a:t>
            </a:r>
            <a:r>
              <a:rPr dirty="0" sz="1150" spc="20">
                <a:latin typeface="Times New Roman"/>
                <a:cs typeface="Times New Roman"/>
              </a:rPr>
              <a:t>two types </a:t>
            </a:r>
            <a:r>
              <a:rPr dirty="0" sz="1150" spc="10">
                <a:latin typeface="Times New Roman"/>
                <a:cs typeface="Times New Roman"/>
              </a:rPr>
              <a:t>of </a:t>
            </a:r>
            <a:r>
              <a:rPr dirty="0" sz="1150" spc="15">
                <a:latin typeface="Times New Roman"/>
                <a:cs typeface="Times New Roman"/>
              </a:rPr>
              <a:t>sparse</a:t>
            </a:r>
            <a:r>
              <a:rPr dirty="0" sz="1150" spc="4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matrices.</a:t>
            </a:r>
            <a:endParaRPr sz="1150">
              <a:latin typeface="Times New Roman"/>
              <a:cs typeface="Times New Roman"/>
            </a:endParaRPr>
          </a:p>
          <a:p>
            <a:pPr marL="469265" marR="205104" indent="-228600">
              <a:lnSpc>
                <a:spcPct val="106100"/>
              </a:lnSpc>
              <a:spcBef>
                <a:spcPts val="10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20">
                <a:latin typeface="Times New Roman"/>
                <a:cs typeface="Times New Roman"/>
              </a:rPr>
              <a:t>Lower </a:t>
            </a:r>
            <a:r>
              <a:rPr dirty="0" sz="1150" spc="15">
                <a:latin typeface="Times New Roman"/>
                <a:cs typeface="Times New Roman"/>
              </a:rPr>
              <a:t>triangular matrix: </a:t>
            </a:r>
            <a:r>
              <a:rPr dirty="0" sz="1150" spc="20">
                <a:latin typeface="Times New Roman"/>
                <a:cs typeface="Times New Roman"/>
              </a:rPr>
              <a:t>Here, </a:t>
            </a:r>
            <a:r>
              <a:rPr dirty="0" sz="1150" spc="10">
                <a:latin typeface="Times New Roman"/>
                <a:cs typeface="Times New Roman"/>
              </a:rPr>
              <a:t>all </a:t>
            </a:r>
            <a:r>
              <a:rPr dirty="0" sz="1150" spc="20">
                <a:latin typeface="Times New Roman"/>
                <a:cs typeface="Times New Roman"/>
              </a:rPr>
              <a:t>the elements above </a:t>
            </a:r>
            <a:r>
              <a:rPr dirty="0" sz="1150" spc="25">
                <a:latin typeface="Times New Roman"/>
                <a:cs typeface="Times New Roman"/>
              </a:rPr>
              <a:t>the </a:t>
            </a:r>
            <a:r>
              <a:rPr dirty="0" sz="1150" spc="20">
                <a:latin typeface="Times New Roman"/>
                <a:cs typeface="Times New Roman"/>
              </a:rPr>
              <a:t>main diagonal have zero  value</a:t>
            </a:r>
            <a:endParaRPr sz="1150">
              <a:latin typeface="Times New Roman"/>
              <a:cs typeface="Times New Roman"/>
            </a:endParaRPr>
          </a:p>
          <a:p>
            <a:pPr marL="469265" marR="33020" indent="-228600">
              <a:lnSpc>
                <a:spcPct val="106100"/>
              </a:lnSpc>
              <a:spcBef>
                <a:spcPts val="1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20">
                <a:latin typeface="Times New Roman"/>
                <a:cs typeface="Times New Roman"/>
              </a:rPr>
              <a:t>Upper </a:t>
            </a:r>
            <a:r>
              <a:rPr dirty="0" sz="1150" spc="15">
                <a:latin typeface="Times New Roman"/>
                <a:cs typeface="Times New Roman"/>
              </a:rPr>
              <a:t>triangular matrix: In </a:t>
            </a:r>
            <a:r>
              <a:rPr dirty="0" sz="1150" spc="20">
                <a:latin typeface="Times New Roman"/>
                <a:cs typeface="Times New Roman"/>
              </a:rPr>
              <a:t>this </a:t>
            </a:r>
            <a:r>
              <a:rPr dirty="0" sz="1150" spc="15">
                <a:latin typeface="Times New Roman"/>
                <a:cs typeface="Times New Roman"/>
              </a:rPr>
              <a:t>matrix, </a:t>
            </a:r>
            <a:r>
              <a:rPr dirty="0" sz="1150" spc="10">
                <a:latin typeface="Times New Roman"/>
                <a:cs typeface="Times New Roman"/>
              </a:rPr>
              <a:t>all </a:t>
            </a:r>
            <a:r>
              <a:rPr dirty="0" sz="1150" spc="20">
                <a:latin typeface="Times New Roman"/>
                <a:cs typeface="Times New Roman"/>
              </a:rPr>
              <a:t>the elements below the main </a:t>
            </a:r>
            <a:r>
              <a:rPr dirty="0" sz="1150" spc="15">
                <a:latin typeface="Times New Roman"/>
                <a:cs typeface="Times New Roman"/>
              </a:rPr>
              <a:t>diagonal </a:t>
            </a:r>
            <a:r>
              <a:rPr dirty="0" sz="1150" spc="20">
                <a:latin typeface="Times New Roman"/>
                <a:cs typeface="Times New Roman"/>
              </a:rPr>
              <a:t>have  zero</a:t>
            </a:r>
            <a:r>
              <a:rPr dirty="0" sz="1150" spc="15">
                <a:latin typeface="Times New Roman"/>
                <a:cs typeface="Times New Roman"/>
              </a:rPr>
              <a:t> value.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59153" y="4913503"/>
            <a:ext cx="4898390" cy="8997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15">
                <a:latin typeface="Times New Roman"/>
                <a:cs typeface="Times New Roman"/>
              </a:rPr>
              <a:t>Tridiagonal </a:t>
            </a:r>
            <a:r>
              <a:rPr dirty="0" sz="1150" spc="20">
                <a:latin typeface="Times New Roman"/>
                <a:cs typeface="Times New Roman"/>
              </a:rPr>
              <a:t>matrix: Here, </a:t>
            </a:r>
            <a:r>
              <a:rPr dirty="0" sz="1150" spc="15">
                <a:latin typeface="Times New Roman"/>
                <a:cs typeface="Times New Roman"/>
              </a:rPr>
              <a:t>the </a:t>
            </a:r>
            <a:r>
              <a:rPr dirty="0" sz="1150" spc="20">
                <a:latin typeface="Times New Roman"/>
                <a:cs typeface="Times New Roman"/>
              </a:rPr>
              <a:t>elements </a:t>
            </a:r>
            <a:r>
              <a:rPr dirty="0" sz="1150" spc="15">
                <a:latin typeface="Times New Roman"/>
                <a:cs typeface="Times New Roman"/>
              </a:rPr>
              <a:t>are present</a:t>
            </a:r>
            <a:r>
              <a:rPr dirty="0" sz="1150" spc="5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on</a:t>
            </a:r>
            <a:endParaRPr sz="1150">
              <a:latin typeface="Times New Roman"/>
              <a:cs typeface="Times New Roman"/>
            </a:endParaRPr>
          </a:p>
          <a:p>
            <a:pPr marL="929005" indent="-230504">
              <a:lnSpc>
                <a:spcPct val="100000"/>
              </a:lnSpc>
              <a:spcBef>
                <a:spcPts val="960"/>
              </a:spcBef>
              <a:buFont typeface="Symbol"/>
              <a:buChar char=""/>
              <a:tabLst>
                <a:tab pos="928369" algn="l"/>
                <a:tab pos="929005" algn="l"/>
              </a:tabLst>
            </a:pPr>
            <a:r>
              <a:rPr dirty="0" sz="1150" spc="20">
                <a:latin typeface="Times New Roman"/>
                <a:cs typeface="Times New Roman"/>
              </a:rPr>
              <a:t>The main </a:t>
            </a:r>
            <a:r>
              <a:rPr dirty="0" sz="1150" spc="15">
                <a:latin typeface="Times New Roman"/>
                <a:cs typeface="Times New Roman"/>
              </a:rPr>
              <a:t>diagonal, </a:t>
            </a:r>
            <a:r>
              <a:rPr dirty="0" sz="1150" spc="10">
                <a:latin typeface="Times New Roman"/>
                <a:cs typeface="Times New Roman"/>
              </a:rPr>
              <a:t>it </a:t>
            </a:r>
            <a:r>
              <a:rPr dirty="0" sz="1150" spc="20">
                <a:latin typeface="Times New Roman"/>
                <a:cs typeface="Times New Roman"/>
              </a:rPr>
              <a:t>contains </a:t>
            </a:r>
            <a:r>
              <a:rPr dirty="0" sz="1150" spc="25">
                <a:latin typeface="Times New Roman"/>
                <a:cs typeface="Times New Roman"/>
              </a:rPr>
              <a:t>non-zero </a:t>
            </a:r>
            <a:r>
              <a:rPr dirty="0" sz="1150" spc="20">
                <a:latin typeface="Times New Roman"/>
                <a:cs typeface="Times New Roman"/>
              </a:rPr>
              <a:t>elements </a:t>
            </a:r>
            <a:r>
              <a:rPr dirty="0" sz="1150" spc="15">
                <a:latin typeface="Times New Roman"/>
                <a:cs typeface="Times New Roman"/>
              </a:rPr>
              <a:t>for</a:t>
            </a:r>
            <a:r>
              <a:rPr dirty="0" sz="1150" spc="-2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i=j</a:t>
            </a:r>
            <a:endParaRPr sz="1150">
              <a:latin typeface="Times New Roman"/>
              <a:cs typeface="Times New Roman"/>
            </a:endParaRPr>
          </a:p>
          <a:p>
            <a:pPr marL="929005" indent="-230504">
              <a:lnSpc>
                <a:spcPct val="100000"/>
              </a:lnSpc>
              <a:spcBef>
                <a:spcPts val="195"/>
              </a:spcBef>
              <a:buFont typeface="Symbol"/>
              <a:buChar char=""/>
              <a:tabLst>
                <a:tab pos="928369" algn="l"/>
                <a:tab pos="929005" algn="l"/>
              </a:tabLst>
            </a:pPr>
            <a:r>
              <a:rPr dirty="0" sz="1150" spc="20">
                <a:latin typeface="Times New Roman"/>
                <a:cs typeface="Times New Roman"/>
              </a:rPr>
              <a:t>Below </a:t>
            </a:r>
            <a:r>
              <a:rPr dirty="0" sz="1150" spc="15">
                <a:latin typeface="Times New Roman"/>
                <a:cs typeface="Times New Roman"/>
              </a:rPr>
              <a:t>the </a:t>
            </a:r>
            <a:r>
              <a:rPr dirty="0" sz="1150" spc="20">
                <a:latin typeface="Times New Roman"/>
                <a:cs typeface="Times New Roman"/>
              </a:rPr>
              <a:t>main </a:t>
            </a:r>
            <a:r>
              <a:rPr dirty="0" sz="1150" spc="15">
                <a:latin typeface="Times New Roman"/>
                <a:cs typeface="Times New Roman"/>
              </a:rPr>
              <a:t>diagonal, </a:t>
            </a:r>
            <a:r>
              <a:rPr dirty="0" sz="1150" spc="10">
                <a:latin typeface="Times New Roman"/>
                <a:cs typeface="Times New Roman"/>
              </a:rPr>
              <a:t>it </a:t>
            </a:r>
            <a:r>
              <a:rPr dirty="0" sz="1150" spc="20">
                <a:latin typeface="Times New Roman"/>
                <a:cs typeface="Times New Roman"/>
              </a:rPr>
              <a:t>contains non-zero elements </a:t>
            </a:r>
            <a:r>
              <a:rPr dirty="0" sz="1150">
                <a:latin typeface="Times New Roman"/>
                <a:cs typeface="Times New Roman"/>
              </a:rPr>
              <a:t>for</a:t>
            </a:r>
            <a:r>
              <a:rPr dirty="0" sz="1150" spc="-21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i=j+1</a:t>
            </a:r>
            <a:endParaRPr sz="1150">
              <a:latin typeface="Times New Roman"/>
              <a:cs typeface="Times New Roman"/>
            </a:endParaRPr>
          </a:p>
          <a:p>
            <a:pPr marL="929005" indent="-230504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928369" algn="l"/>
                <a:tab pos="929005" algn="l"/>
              </a:tabLst>
            </a:pPr>
            <a:r>
              <a:rPr dirty="0" sz="1150" spc="20">
                <a:latin typeface="Times New Roman"/>
                <a:cs typeface="Times New Roman"/>
              </a:rPr>
              <a:t>Above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the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man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diagonal, </a:t>
            </a:r>
            <a:r>
              <a:rPr dirty="0" sz="1150" spc="10">
                <a:latin typeface="Times New Roman"/>
                <a:cs typeface="Times New Roman"/>
              </a:rPr>
              <a:t>it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contains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non-zero</a:t>
            </a:r>
            <a:r>
              <a:rPr dirty="0" sz="1150" spc="-1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elements</a:t>
            </a:r>
            <a:r>
              <a:rPr dirty="0" sz="1150" spc="-2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for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i=j-1.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7195184"/>
            <a:ext cx="2907030" cy="485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25" b="1">
                <a:latin typeface="Times New Roman"/>
                <a:cs typeface="Times New Roman"/>
              </a:rPr>
              <a:t>Array Representation </a:t>
            </a:r>
            <a:r>
              <a:rPr dirty="0" sz="1150" spc="15" b="1">
                <a:latin typeface="Times New Roman"/>
                <a:cs typeface="Times New Roman"/>
              </a:rPr>
              <a:t>of </a:t>
            </a:r>
            <a:r>
              <a:rPr dirty="0" sz="1150" spc="25" b="1">
                <a:latin typeface="Times New Roman"/>
                <a:cs typeface="Times New Roman"/>
              </a:rPr>
              <a:t>Sparse</a:t>
            </a:r>
            <a:r>
              <a:rPr dirty="0" sz="1150" spc="-40" b="1">
                <a:latin typeface="Times New Roman"/>
                <a:cs typeface="Times New Roman"/>
              </a:rPr>
              <a:t> </a:t>
            </a:r>
            <a:r>
              <a:rPr dirty="0" sz="1150" spc="25" b="1">
                <a:latin typeface="Times New Roman"/>
                <a:cs typeface="Times New Roman"/>
              </a:rPr>
              <a:t>Matrices</a:t>
            </a:r>
            <a:endParaRPr sz="115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855"/>
              </a:spcBef>
            </a:pPr>
            <a:r>
              <a:rPr dirty="0" sz="1150" spc="20">
                <a:latin typeface="Times New Roman"/>
                <a:cs typeface="Times New Roman"/>
              </a:rPr>
              <a:t>Consider </a:t>
            </a:r>
            <a:r>
              <a:rPr dirty="0" sz="1150" spc="15">
                <a:latin typeface="Times New Roman"/>
                <a:cs typeface="Times New Roman"/>
              </a:rPr>
              <a:t>the sparse </a:t>
            </a:r>
            <a:r>
              <a:rPr dirty="0" sz="1150" spc="20">
                <a:latin typeface="Times New Roman"/>
                <a:cs typeface="Times New Roman"/>
              </a:rPr>
              <a:t>matrix given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below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90750" y="2885440"/>
            <a:ext cx="2885440" cy="16283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95625" y="5937885"/>
            <a:ext cx="1295400" cy="9715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82954" y="1593524"/>
          <a:ext cx="3772535" cy="1349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6995"/>
                <a:gridCol w="389889"/>
                <a:gridCol w="457834"/>
                <a:gridCol w="297179"/>
              </a:tblGrid>
              <a:tr h="388096">
                <a:tc>
                  <a:txBody>
                    <a:bodyPr/>
                    <a:lstStyle/>
                    <a:p>
                      <a:pPr marL="31750">
                        <a:lnSpc>
                          <a:spcPts val="1255"/>
                        </a:lnSpc>
                      </a:pPr>
                      <a:r>
                        <a:rPr dirty="0" sz="1150" spc="20">
                          <a:latin typeface="Times New Roman"/>
                          <a:cs typeface="Times New Roman"/>
                        </a:rPr>
                        <a:t>This </a:t>
                      </a:r>
                      <a:r>
                        <a:rPr dirty="0" sz="1150" spc="15">
                          <a:latin typeface="Times New Roman"/>
                          <a:cs typeface="Times New Roman"/>
                        </a:rPr>
                        <a:t>sparse </a:t>
                      </a:r>
                      <a:r>
                        <a:rPr dirty="0" sz="1150" spc="20">
                          <a:latin typeface="Times New Roman"/>
                          <a:cs typeface="Times New Roman"/>
                        </a:rPr>
                        <a:t>matrix can </a:t>
                      </a:r>
                      <a:r>
                        <a:rPr dirty="0" sz="1150" spc="25">
                          <a:latin typeface="Times New Roman"/>
                          <a:cs typeface="Times New Roman"/>
                        </a:rPr>
                        <a:t>be </a:t>
                      </a:r>
                      <a:r>
                        <a:rPr dirty="0" sz="1150" spc="20">
                          <a:latin typeface="Times New Roman"/>
                          <a:cs typeface="Times New Roman"/>
                        </a:rPr>
                        <a:t>represented</a:t>
                      </a:r>
                      <a:r>
                        <a:rPr dirty="0" sz="115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50" spc="15">
                          <a:latin typeface="Times New Roman"/>
                          <a:cs typeface="Times New Roman"/>
                        </a:rPr>
                        <a:t>as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5186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22555">
                        <a:lnSpc>
                          <a:spcPct val="100000"/>
                        </a:lnSpc>
                      </a:pPr>
                      <a:r>
                        <a:rPr dirty="0" sz="1150">
                          <a:latin typeface="Times New Roman"/>
                          <a:cs typeface="Times New Roman"/>
                        </a:rPr>
                        <a:t>3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</a:pPr>
                      <a:r>
                        <a:rPr dirty="0" sz="1150">
                          <a:latin typeface="Times New Roman"/>
                          <a:cs typeface="Times New Roman"/>
                        </a:rPr>
                        <a:t>3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r" marR="24130">
                        <a:lnSpc>
                          <a:spcPct val="100000"/>
                        </a:lnSpc>
                      </a:pPr>
                      <a:r>
                        <a:rPr dirty="0" sz="1150">
                          <a:latin typeface="Times New Roman"/>
                          <a:cs typeface="Times New Roman"/>
                        </a:rPr>
                        <a:t>2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</a:tr>
              <a:tr h="2865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150">
                          <a:latin typeface="Times New Roman"/>
                          <a:cs typeface="Times New Roman"/>
                        </a:rPr>
                        <a:t>0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7625"/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150">
                          <a:latin typeface="Times New Roman"/>
                          <a:cs typeface="Times New Roman"/>
                        </a:rPr>
                        <a:t>1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7625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150">
                          <a:latin typeface="Times New Roman"/>
                          <a:cs typeface="Times New Roman"/>
                        </a:rPr>
                        <a:t>2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7625"/>
                </a:tc>
              </a:tr>
              <a:tr h="2227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ts val="1300"/>
                        </a:lnSpc>
                        <a:spcBef>
                          <a:spcPts val="355"/>
                        </a:spcBef>
                      </a:pPr>
                      <a:r>
                        <a:rPr dirty="0" sz="1150">
                          <a:latin typeface="Times New Roman"/>
                          <a:cs typeface="Times New Roman"/>
                        </a:rPr>
                        <a:t>1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5085"/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300"/>
                        </a:lnSpc>
                        <a:spcBef>
                          <a:spcPts val="355"/>
                        </a:spcBef>
                      </a:pPr>
                      <a:r>
                        <a:rPr dirty="0" sz="1150">
                          <a:latin typeface="Times New Roman"/>
                          <a:cs typeface="Times New Roman"/>
                        </a:rPr>
                        <a:t>2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5085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300"/>
                        </a:lnSpc>
                        <a:spcBef>
                          <a:spcPts val="355"/>
                        </a:spcBef>
                      </a:pPr>
                      <a:r>
                        <a:rPr dirty="0" sz="1150">
                          <a:latin typeface="Times New Roman"/>
                          <a:cs typeface="Times New Roman"/>
                        </a:rPr>
                        <a:t>4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5085"/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4822825" y="2392045"/>
            <a:ext cx="151130" cy="904875"/>
          </a:xfrm>
          <a:custGeom>
            <a:avLst/>
            <a:gdLst/>
            <a:ahLst/>
            <a:cxnLst/>
            <a:rect l="l" t="t" r="r" b="b"/>
            <a:pathLst>
              <a:path w="151129" h="904875">
                <a:moveTo>
                  <a:pt x="151129" y="904875"/>
                </a:moveTo>
                <a:lnTo>
                  <a:pt x="103504" y="897254"/>
                </a:lnTo>
                <a:lnTo>
                  <a:pt x="61595" y="875664"/>
                </a:lnTo>
                <a:lnTo>
                  <a:pt x="29210" y="843279"/>
                </a:lnTo>
                <a:lnTo>
                  <a:pt x="7620" y="802004"/>
                </a:lnTo>
                <a:lnTo>
                  <a:pt x="0" y="754379"/>
                </a:lnTo>
                <a:lnTo>
                  <a:pt x="0" y="151129"/>
                </a:lnTo>
                <a:lnTo>
                  <a:pt x="7620" y="103504"/>
                </a:lnTo>
                <a:lnTo>
                  <a:pt x="29210" y="61594"/>
                </a:lnTo>
                <a:lnTo>
                  <a:pt x="61595" y="29209"/>
                </a:lnTo>
                <a:lnTo>
                  <a:pt x="103504" y="7619"/>
                </a:lnTo>
                <a:lnTo>
                  <a:pt x="151129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411719" y="2366645"/>
            <a:ext cx="151130" cy="904875"/>
          </a:xfrm>
          <a:custGeom>
            <a:avLst/>
            <a:gdLst/>
            <a:ahLst/>
            <a:cxnLst/>
            <a:rect l="l" t="t" r="r" b="b"/>
            <a:pathLst>
              <a:path w="151129" h="904875">
                <a:moveTo>
                  <a:pt x="0" y="0"/>
                </a:moveTo>
                <a:lnTo>
                  <a:pt x="47625" y="7619"/>
                </a:lnTo>
                <a:lnTo>
                  <a:pt x="89534" y="29209"/>
                </a:lnTo>
                <a:lnTo>
                  <a:pt x="121920" y="61594"/>
                </a:lnTo>
                <a:lnTo>
                  <a:pt x="143509" y="103504"/>
                </a:lnTo>
                <a:lnTo>
                  <a:pt x="151129" y="151129"/>
                </a:lnTo>
                <a:lnTo>
                  <a:pt x="151129" y="754379"/>
                </a:lnTo>
                <a:lnTo>
                  <a:pt x="143509" y="802004"/>
                </a:lnTo>
                <a:lnTo>
                  <a:pt x="121920" y="843279"/>
                </a:lnTo>
                <a:lnTo>
                  <a:pt x="89534" y="875664"/>
                </a:lnTo>
                <a:lnTo>
                  <a:pt x="47625" y="897254"/>
                </a:lnTo>
                <a:lnTo>
                  <a:pt x="0" y="904875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604" y="3379139"/>
            <a:ext cx="5502275" cy="5342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marR="5080" indent="-228600">
              <a:lnSpc>
                <a:spcPct val="107000"/>
              </a:lnSpc>
              <a:spcBef>
                <a:spcPts val="10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50" spc="20">
                <a:latin typeface="Times New Roman"/>
                <a:cs typeface="Times New Roman"/>
              </a:rPr>
              <a:t>The </a:t>
            </a:r>
            <a:r>
              <a:rPr dirty="0" sz="1150" spc="10">
                <a:latin typeface="Times New Roman"/>
                <a:cs typeface="Times New Roman"/>
              </a:rPr>
              <a:t>first </a:t>
            </a:r>
            <a:r>
              <a:rPr dirty="0" sz="1150" spc="30">
                <a:latin typeface="Times New Roman"/>
                <a:cs typeface="Times New Roman"/>
              </a:rPr>
              <a:t>row </a:t>
            </a:r>
            <a:r>
              <a:rPr dirty="0" sz="1150" spc="20">
                <a:latin typeface="Times New Roman"/>
                <a:cs typeface="Times New Roman"/>
              </a:rPr>
              <a:t>give the </a:t>
            </a:r>
            <a:r>
              <a:rPr dirty="0" sz="1150" spc="25">
                <a:latin typeface="Times New Roman"/>
                <a:cs typeface="Times New Roman"/>
              </a:rPr>
              <a:t>number </a:t>
            </a:r>
            <a:r>
              <a:rPr dirty="0" sz="1150" spc="10">
                <a:latin typeface="Times New Roman"/>
                <a:cs typeface="Times New Roman"/>
              </a:rPr>
              <a:t>of </a:t>
            </a:r>
            <a:r>
              <a:rPr dirty="0" sz="1150" spc="20">
                <a:latin typeface="Times New Roman"/>
                <a:cs typeface="Times New Roman"/>
              </a:rPr>
              <a:t>rows(3) </a:t>
            </a:r>
            <a:r>
              <a:rPr dirty="0" sz="1150" spc="5">
                <a:latin typeface="Times New Roman"/>
                <a:cs typeface="Times New Roman"/>
              </a:rPr>
              <a:t>, </a:t>
            </a:r>
            <a:r>
              <a:rPr dirty="0" sz="1150" spc="25">
                <a:latin typeface="Times New Roman"/>
                <a:cs typeface="Times New Roman"/>
              </a:rPr>
              <a:t>number </a:t>
            </a:r>
            <a:r>
              <a:rPr dirty="0" sz="1150" spc="15">
                <a:latin typeface="Times New Roman"/>
                <a:cs typeface="Times New Roman"/>
              </a:rPr>
              <a:t>of </a:t>
            </a:r>
            <a:r>
              <a:rPr dirty="0" sz="1150" spc="20">
                <a:latin typeface="Times New Roman"/>
                <a:cs typeface="Times New Roman"/>
              </a:rPr>
              <a:t>columns </a:t>
            </a:r>
            <a:r>
              <a:rPr dirty="0" sz="1150" spc="15">
                <a:latin typeface="Times New Roman"/>
                <a:cs typeface="Times New Roman"/>
              </a:rPr>
              <a:t>(3) </a:t>
            </a:r>
            <a:r>
              <a:rPr dirty="0" sz="1150" spc="20">
                <a:latin typeface="Times New Roman"/>
                <a:cs typeface="Times New Roman"/>
              </a:rPr>
              <a:t>and number </a:t>
            </a:r>
            <a:r>
              <a:rPr dirty="0" sz="1150" spc="15">
                <a:latin typeface="Times New Roman"/>
                <a:cs typeface="Times New Roman"/>
              </a:rPr>
              <a:t>of</a:t>
            </a:r>
            <a:r>
              <a:rPr dirty="0" sz="1150" spc="-18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non-  </a:t>
            </a:r>
            <a:r>
              <a:rPr dirty="0" sz="1150" spc="20">
                <a:latin typeface="Times New Roman"/>
                <a:cs typeface="Times New Roman"/>
              </a:rPr>
              <a:t>zero elements(2) in </a:t>
            </a:r>
            <a:r>
              <a:rPr dirty="0" sz="1150" spc="15">
                <a:latin typeface="Times New Roman"/>
                <a:cs typeface="Times New Roman"/>
              </a:rPr>
              <a:t>the sparse</a:t>
            </a:r>
            <a:r>
              <a:rPr dirty="0" sz="1150" spc="8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matrix</a:t>
            </a:r>
            <a:endParaRPr sz="1150">
              <a:latin typeface="Times New Roman"/>
              <a:cs typeface="Times New Roman"/>
            </a:endParaRPr>
          </a:p>
          <a:p>
            <a:pPr marL="240665" marR="210185" indent="-228600">
              <a:lnSpc>
                <a:spcPct val="105200"/>
              </a:lnSpc>
              <a:spcBef>
                <a:spcPts val="13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50" spc="20">
                <a:latin typeface="Times New Roman"/>
                <a:cs typeface="Times New Roman"/>
              </a:rPr>
              <a:t>The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second</a:t>
            </a:r>
            <a:r>
              <a:rPr dirty="0" sz="1150" spc="-20">
                <a:latin typeface="Times New Roman"/>
                <a:cs typeface="Times New Roman"/>
              </a:rPr>
              <a:t> </a:t>
            </a:r>
            <a:r>
              <a:rPr dirty="0" sz="1150" spc="30">
                <a:latin typeface="Times New Roman"/>
                <a:cs typeface="Times New Roman"/>
              </a:rPr>
              <a:t>row</a:t>
            </a:r>
            <a:r>
              <a:rPr dirty="0" sz="1150" spc="15">
                <a:latin typeface="Times New Roman"/>
                <a:cs typeface="Times New Roman"/>
              </a:rPr>
              <a:t> specifies</a:t>
            </a:r>
            <a:r>
              <a:rPr dirty="0" sz="1150" spc="-4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the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location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and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value</a:t>
            </a:r>
            <a:r>
              <a:rPr dirty="0" sz="1150" spc="-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of </a:t>
            </a:r>
            <a:r>
              <a:rPr dirty="0" sz="1150" spc="10">
                <a:latin typeface="Times New Roman"/>
                <a:cs typeface="Times New Roman"/>
              </a:rPr>
              <a:t>first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non-zero</a:t>
            </a:r>
            <a:r>
              <a:rPr dirty="0" sz="1150" spc="-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element.</a:t>
            </a:r>
            <a:r>
              <a:rPr dirty="0" sz="1150" spc="-2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The</a:t>
            </a:r>
            <a:r>
              <a:rPr dirty="0" sz="1150" spc="2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first  </a:t>
            </a:r>
            <a:r>
              <a:rPr dirty="0" sz="1150" spc="20">
                <a:latin typeface="Times New Roman"/>
                <a:cs typeface="Times New Roman"/>
              </a:rPr>
              <a:t>non-zero value is </a:t>
            </a:r>
            <a:r>
              <a:rPr dirty="0" sz="1150" spc="15">
                <a:latin typeface="Times New Roman"/>
                <a:cs typeface="Times New Roman"/>
              </a:rPr>
              <a:t>2 </a:t>
            </a:r>
            <a:r>
              <a:rPr dirty="0" sz="1150" spc="20">
                <a:latin typeface="Times New Roman"/>
                <a:cs typeface="Times New Roman"/>
              </a:rPr>
              <a:t>is </a:t>
            </a:r>
            <a:r>
              <a:rPr dirty="0" sz="1150" spc="10">
                <a:latin typeface="Times New Roman"/>
                <a:cs typeface="Times New Roman"/>
              </a:rPr>
              <a:t>at </a:t>
            </a:r>
            <a:r>
              <a:rPr dirty="0" sz="1150" spc="15">
                <a:latin typeface="Times New Roman"/>
                <a:cs typeface="Times New Roman"/>
              </a:rPr>
              <a:t>(0,1)</a:t>
            </a:r>
            <a:r>
              <a:rPr dirty="0" sz="1150" spc="-4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location.</a:t>
            </a:r>
            <a:endParaRPr sz="1150">
              <a:latin typeface="Times New Roman"/>
              <a:cs typeface="Times New Roman"/>
            </a:endParaRPr>
          </a:p>
          <a:p>
            <a:pPr marL="240665" marR="142875" indent="-228600">
              <a:lnSpc>
                <a:spcPct val="107000"/>
              </a:lnSpc>
              <a:spcBef>
                <a:spcPts val="12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50" spc="15">
                <a:latin typeface="Times New Roman"/>
                <a:cs typeface="Times New Roman"/>
              </a:rPr>
              <a:t>Similarly,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third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30">
                <a:latin typeface="Times New Roman"/>
                <a:cs typeface="Times New Roman"/>
              </a:rPr>
              <a:t>row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specifies</a:t>
            </a:r>
            <a:r>
              <a:rPr dirty="0" sz="1150" spc="-4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the</a:t>
            </a:r>
            <a:r>
              <a:rPr dirty="0" sz="1150" spc="-4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location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and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value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of</a:t>
            </a:r>
            <a:r>
              <a:rPr dirty="0" sz="1150" spc="-2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the</a:t>
            </a:r>
            <a:r>
              <a:rPr dirty="0" sz="1150" spc="15">
                <a:latin typeface="Times New Roman"/>
                <a:cs typeface="Times New Roman"/>
              </a:rPr>
              <a:t> next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30">
                <a:latin typeface="Times New Roman"/>
                <a:cs typeface="Times New Roman"/>
              </a:rPr>
              <a:t>non-zero</a:t>
            </a:r>
            <a:r>
              <a:rPr dirty="0" sz="1150" spc="-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i.e,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value</a:t>
            </a:r>
            <a:r>
              <a:rPr dirty="0" sz="1150" spc="-3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4  </a:t>
            </a:r>
            <a:r>
              <a:rPr dirty="0" sz="1150" spc="10">
                <a:latin typeface="Times New Roman"/>
                <a:cs typeface="Times New Roman"/>
              </a:rPr>
              <a:t>at </a:t>
            </a:r>
            <a:r>
              <a:rPr dirty="0" sz="1150" spc="15">
                <a:latin typeface="Times New Roman"/>
                <a:cs typeface="Times New Roman"/>
              </a:rPr>
              <a:t>(1,2)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location.</a:t>
            </a:r>
            <a:endParaRPr sz="1150">
              <a:latin typeface="Times New Roman"/>
              <a:cs typeface="Times New Roman"/>
            </a:endParaRPr>
          </a:p>
          <a:p>
            <a:pPr marL="12700" marR="1169670">
              <a:lnSpc>
                <a:spcPct val="161700"/>
              </a:lnSpc>
              <a:spcBef>
                <a:spcPts val="85"/>
              </a:spcBef>
            </a:pPr>
            <a:r>
              <a:rPr dirty="0" sz="1150" spc="20">
                <a:latin typeface="Times New Roman"/>
                <a:cs typeface="Times New Roman"/>
              </a:rPr>
              <a:t>Write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20">
                <a:latin typeface="Times New Roman"/>
                <a:cs typeface="Times New Roman"/>
              </a:rPr>
              <a:t>program </a:t>
            </a:r>
            <a:r>
              <a:rPr dirty="0" sz="1150" spc="15">
                <a:latin typeface="Times New Roman"/>
                <a:cs typeface="Times New Roman"/>
              </a:rPr>
              <a:t>that </a:t>
            </a:r>
            <a:r>
              <a:rPr dirty="0" sz="1150" spc="20">
                <a:latin typeface="Times New Roman"/>
                <a:cs typeface="Times New Roman"/>
              </a:rPr>
              <a:t>shows </a:t>
            </a:r>
            <a:r>
              <a:rPr dirty="0" sz="1150" spc="15">
                <a:latin typeface="Times New Roman"/>
                <a:cs typeface="Times New Roman"/>
              </a:rPr>
              <a:t>the array representation of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15">
                <a:latin typeface="Times New Roman"/>
                <a:cs typeface="Times New Roman"/>
              </a:rPr>
              <a:t>sparse </a:t>
            </a:r>
            <a:r>
              <a:rPr dirty="0" sz="1150" spc="20">
                <a:latin typeface="Times New Roman"/>
                <a:cs typeface="Times New Roman"/>
              </a:rPr>
              <a:t>matrix  #include&lt;stdio.h&gt;</a:t>
            </a:r>
            <a:endParaRPr sz="1150">
              <a:latin typeface="Times New Roman"/>
              <a:cs typeface="Times New Roman"/>
            </a:endParaRPr>
          </a:p>
          <a:p>
            <a:pPr marL="12700" marR="2708910">
              <a:lnSpc>
                <a:spcPct val="107100"/>
              </a:lnSpc>
              <a:spcBef>
                <a:spcPts val="35"/>
              </a:spcBef>
            </a:pPr>
            <a:r>
              <a:rPr dirty="0" sz="1150" spc="20">
                <a:latin typeface="Times New Roman"/>
                <a:cs typeface="Times New Roman"/>
              </a:rPr>
              <a:t>void sparse_matrix(int </a:t>
            </a:r>
            <a:r>
              <a:rPr dirty="0" sz="1150" spc="15">
                <a:latin typeface="Times New Roman"/>
                <a:cs typeface="Times New Roman"/>
              </a:rPr>
              <a:t>mat[3][3],int, </a:t>
            </a:r>
            <a:r>
              <a:rPr dirty="0" sz="1150" spc="10">
                <a:latin typeface="Times New Roman"/>
                <a:cs typeface="Times New Roman"/>
              </a:rPr>
              <a:t>int, </a:t>
            </a:r>
            <a:r>
              <a:rPr dirty="0" sz="1150" spc="15">
                <a:latin typeface="Times New Roman"/>
                <a:cs typeface="Times New Roman"/>
              </a:rPr>
              <a:t>int);  </a:t>
            </a:r>
            <a:r>
              <a:rPr dirty="0" sz="1150" spc="20">
                <a:latin typeface="Times New Roman"/>
                <a:cs typeface="Times New Roman"/>
              </a:rPr>
              <a:t>void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main()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12700" marR="2571115">
              <a:lnSpc>
                <a:spcPct val="108300"/>
              </a:lnSpc>
              <a:spcBef>
                <a:spcPts val="20"/>
              </a:spcBef>
            </a:pPr>
            <a:r>
              <a:rPr dirty="0" sz="1150" spc="10">
                <a:latin typeface="Times New Roman"/>
                <a:cs typeface="Times New Roman"/>
              </a:rPr>
              <a:t>int i, j, </a:t>
            </a:r>
            <a:r>
              <a:rPr dirty="0" sz="1150" spc="20">
                <a:latin typeface="Times New Roman"/>
                <a:cs typeface="Times New Roman"/>
              </a:rPr>
              <a:t>rows, </a:t>
            </a:r>
            <a:r>
              <a:rPr dirty="0" sz="1150" spc="15">
                <a:latin typeface="Times New Roman"/>
                <a:cs typeface="Times New Roman"/>
              </a:rPr>
              <a:t>cols, </a:t>
            </a:r>
            <a:r>
              <a:rPr dirty="0" sz="1150" spc="20">
                <a:latin typeface="Times New Roman"/>
                <a:cs typeface="Times New Roman"/>
              </a:rPr>
              <a:t>num_values=0,mat[30][30];  </a:t>
            </a:r>
            <a:r>
              <a:rPr dirty="0" sz="1150" spc="15">
                <a:latin typeface="Times New Roman"/>
                <a:cs typeface="Times New Roman"/>
              </a:rPr>
              <a:t>printf(“enter </a:t>
            </a:r>
            <a:r>
              <a:rPr dirty="0" sz="1150" spc="20">
                <a:latin typeface="Times New Roman"/>
                <a:cs typeface="Times New Roman"/>
              </a:rPr>
              <a:t>number </a:t>
            </a:r>
            <a:r>
              <a:rPr dirty="0" sz="1150" spc="15">
                <a:latin typeface="Times New Roman"/>
                <a:cs typeface="Times New Roman"/>
              </a:rPr>
              <a:t>of </a:t>
            </a:r>
            <a:r>
              <a:rPr dirty="0" sz="1150" spc="20">
                <a:latin typeface="Times New Roman"/>
                <a:cs typeface="Times New Roman"/>
              </a:rPr>
              <a:t>rows and columns </a:t>
            </a:r>
            <a:r>
              <a:rPr dirty="0" sz="1150" spc="15">
                <a:latin typeface="Times New Roman"/>
                <a:cs typeface="Times New Roman"/>
              </a:rPr>
              <a:t>\n”);  </a:t>
            </a:r>
            <a:r>
              <a:rPr dirty="0" sz="1150" spc="20">
                <a:latin typeface="Times New Roman"/>
                <a:cs typeface="Times New Roman"/>
              </a:rPr>
              <a:t>scanf(“%d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%d”,&amp;rows,&amp;cols);</a:t>
            </a:r>
            <a:endParaRPr sz="1150">
              <a:latin typeface="Times New Roman"/>
              <a:cs typeface="Times New Roman"/>
            </a:endParaRPr>
          </a:p>
          <a:p>
            <a:pPr marL="12700" marR="2844165">
              <a:lnSpc>
                <a:spcPct val="107000"/>
              </a:lnSpc>
              <a:spcBef>
                <a:spcPts val="10"/>
              </a:spcBef>
            </a:pPr>
            <a:r>
              <a:rPr dirty="0" sz="1150" spc="15">
                <a:latin typeface="Times New Roman"/>
                <a:cs typeface="Times New Roman"/>
              </a:rPr>
              <a:t>printf(“enter the </a:t>
            </a:r>
            <a:r>
              <a:rPr dirty="0" sz="1150" spc="20">
                <a:latin typeface="Times New Roman"/>
                <a:cs typeface="Times New Roman"/>
              </a:rPr>
              <a:t>elements </a:t>
            </a:r>
            <a:r>
              <a:rPr dirty="0" sz="1150" spc="15">
                <a:latin typeface="Times New Roman"/>
                <a:cs typeface="Times New Roman"/>
              </a:rPr>
              <a:t>of the </a:t>
            </a:r>
            <a:r>
              <a:rPr dirty="0" sz="1150" spc="20">
                <a:latin typeface="Times New Roman"/>
                <a:cs typeface="Times New Roman"/>
              </a:rPr>
              <a:t>array </a:t>
            </a:r>
            <a:r>
              <a:rPr dirty="0" sz="1150" spc="15">
                <a:latin typeface="Times New Roman"/>
                <a:cs typeface="Times New Roman"/>
              </a:rPr>
              <a:t>\n”);  for(i=0;i&lt;rows;i++)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for(j=0;j&lt;cols;j++)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150" spc="20">
                <a:latin typeface="Times New Roman"/>
                <a:cs typeface="Times New Roman"/>
              </a:rPr>
              <a:t>scanf(“%d”,</a:t>
            </a:r>
            <a:r>
              <a:rPr dirty="0" sz="1150" spc="3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&amp;mat[i][j]);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12700" marR="3474085">
              <a:lnSpc>
                <a:spcPct val="107000"/>
              </a:lnSpc>
              <a:spcBef>
                <a:spcPts val="35"/>
              </a:spcBef>
            </a:pPr>
            <a:r>
              <a:rPr dirty="0" sz="1150" spc="15">
                <a:latin typeface="Times New Roman"/>
                <a:cs typeface="Times New Roman"/>
              </a:rPr>
              <a:t>printf(“the sparse </a:t>
            </a:r>
            <a:r>
              <a:rPr dirty="0" sz="1150" spc="20">
                <a:latin typeface="Times New Roman"/>
                <a:cs typeface="Times New Roman"/>
              </a:rPr>
              <a:t>matrix </a:t>
            </a:r>
            <a:r>
              <a:rPr dirty="0" sz="1150" spc="10">
                <a:latin typeface="Times New Roman"/>
                <a:cs typeface="Times New Roman"/>
              </a:rPr>
              <a:t>is </a:t>
            </a:r>
            <a:r>
              <a:rPr dirty="0" sz="1150" spc="20">
                <a:latin typeface="Times New Roman"/>
                <a:cs typeface="Times New Roman"/>
              </a:rPr>
              <a:t>:\n”);  </a:t>
            </a:r>
            <a:r>
              <a:rPr dirty="0" sz="1150" spc="15">
                <a:latin typeface="Times New Roman"/>
                <a:cs typeface="Times New Roman"/>
              </a:rPr>
              <a:t>for(i=0;i&lt;rows;i++)</a:t>
            </a:r>
            <a:endParaRPr sz="1150">
              <a:latin typeface="Times New Roman"/>
              <a:cs typeface="Times New Roman"/>
            </a:endParaRPr>
          </a:p>
          <a:p>
            <a:pPr marL="12700" marR="4372610">
              <a:lnSpc>
                <a:spcPct val="107000"/>
              </a:lnSpc>
              <a:spcBef>
                <a:spcPts val="25"/>
              </a:spcBef>
            </a:pPr>
            <a:r>
              <a:rPr dirty="0" sz="1150" spc="15">
                <a:latin typeface="Times New Roman"/>
                <a:cs typeface="Times New Roman"/>
              </a:rPr>
              <a:t>{ printf(“\n”);  </a:t>
            </a:r>
            <a:r>
              <a:rPr dirty="0" sz="1150" spc="-5">
                <a:latin typeface="Times New Roman"/>
                <a:cs typeface="Times New Roman"/>
              </a:rPr>
              <a:t>for(j=0;j&lt;cols;j++)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1319834"/>
            <a:ext cx="4177665" cy="796544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1150" spc="20">
                <a:latin typeface="Times New Roman"/>
                <a:cs typeface="Times New Roman"/>
              </a:rPr>
              <a:t>printff(“%d </a:t>
            </a:r>
            <a:r>
              <a:rPr dirty="0" sz="1150" spc="15">
                <a:latin typeface="Times New Roman"/>
                <a:cs typeface="Times New Roman"/>
              </a:rPr>
              <a:t>\t”,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mat[i][j]);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15">
                <a:latin typeface="Times New Roman"/>
                <a:cs typeface="Times New Roman"/>
              </a:rPr>
              <a:t>for(i=0;i&lt;rows;i++)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5">
                <a:latin typeface="Times New Roman"/>
                <a:cs typeface="Times New Roman"/>
              </a:rPr>
              <a:t>for(j=0;j&lt;cols;j++)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240665" marR="2928620" indent="36195">
              <a:lnSpc>
                <a:spcPts val="1500"/>
              </a:lnSpc>
              <a:spcBef>
                <a:spcPts val="45"/>
              </a:spcBef>
            </a:pPr>
            <a:r>
              <a:rPr dirty="0" sz="1150" spc="15">
                <a:latin typeface="Times New Roman"/>
                <a:cs typeface="Times New Roman"/>
              </a:rPr>
              <a:t>if(mat[i][j]</a:t>
            </a:r>
            <a:r>
              <a:rPr dirty="0" sz="1150" spc="-4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!=0)  </a:t>
            </a:r>
            <a:r>
              <a:rPr dirty="0" sz="1150" spc="20">
                <a:latin typeface="Times New Roman"/>
                <a:cs typeface="Times New Roman"/>
              </a:rPr>
              <a:t>num_values++;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12700" marR="1809114">
              <a:lnSpc>
                <a:spcPct val="107000"/>
              </a:lnSpc>
            </a:pPr>
            <a:r>
              <a:rPr dirty="0" sz="1150" spc="-5">
                <a:latin typeface="Times New Roman"/>
                <a:cs typeface="Times New Roman"/>
              </a:rPr>
              <a:t>sparse_mat(mat,num_values,rows,cols);  </a:t>
            </a:r>
            <a:r>
              <a:rPr dirty="0" sz="1150" spc="15">
                <a:latin typeface="Times New Roman"/>
                <a:cs typeface="Times New Roman"/>
              </a:rPr>
              <a:t>getch();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50" spc="20">
                <a:latin typeface="Times New Roman"/>
                <a:cs typeface="Times New Roman"/>
              </a:rPr>
              <a:t>void sparse_mat(int </a:t>
            </a:r>
            <a:r>
              <a:rPr dirty="0" sz="1150" spc="15">
                <a:latin typeface="Times New Roman"/>
                <a:cs typeface="Times New Roman"/>
              </a:rPr>
              <a:t>mat[30][30], int </a:t>
            </a:r>
            <a:r>
              <a:rPr dirty="0" sz="1150" spc="20">
                <a:latin typeface="Times New Roman"/>
                <a:cs typeface="Times New Roman"/>
              </a:rPr>
              <a:t>num_values, </a:t>
            </a:r>
            <a:r>
              <a:rPr dirty="0" sz="1150" spc="10">
                <a:latin typeface="Times New Roman"/>
                <a:cs typeface="Times New Roman"/>
              </a:rPr>
              <a:t>int </a:t>
            </a:r>
            <a:r>
              <a:rPr dirty="0" sz="1150" spc="15">
                <a:latin typeface="Times New Roman"/>
                <a:cs typeface="Times New Roman"/>
              </a:rPr>
              <a:t>rows, int</a:t>
            </a:r>
            <a:r>
              <a:rPr dirty="0" sz="1150" spc="10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cols)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12700" marR="1905635">
              <a:lnSpc>
                <a:spcPts val="1490"/>
              </a:lnSpc>
              <a:spcBef>
                <a:spcPts val="55"/>
              </a:spcBef>
            </a:pPr>
            <a:r>
              <a:rPr dirty="0" sz="1150" spc="10">
                <a:latin typeface="Times New Roman"/>
                <a:cs typeface="Times New Roman"/>
              </a:rPr>
              <a:t>int </a:t>
            </a:r>
            <a:r>
              <a:rPr dirty="0" sz="1150" spc="20">
                <a:latin typeface="Times New Roman"/>
                <a:cs typeface="Times New Roman"/>
              </a:rPr>
              <a:t>new_mat[5][3],I,j,temp_index=1;  new_mat[0][0]=rows;  new_mat[0][1]=cols;</a:t>
            </a:r>
            <a:endParaRPr sz="1150">
              <a:latin typeface="Times New Roman"/>
              <a:cs typeface="Times New Roman"/>
            </a:endParaRPr>
          </a:p>
          <a:p>
            <a:pPr marL="12700" marR="2334260">
              <a:lnSpc>
                <a:spcPts val="1490"/>
              </a:lnSpc>
              <a:spcBef>
                <a:spcPts val="5"/>
              </a:spcBef>
            </a:pPr>
            <a:r>
              <a:rPr dirty="0" sz="1150" spc="20">
                <a:latin typeface="Times New Roman"/>
                <a:cs typeface="Times New Roman"/>
              </a:rPr>
              <a:t>new_mat[0][2]= num_values;  </a:t>
            </a:r>
            <a:r>
              <a:rPr dirty="0" sz="1150" spc="15">
                <a:latin typeface="Times New Roman"/>
                <a:cs typeface="Times New Roman"/>
              </a:rPr>
              <a:t>for(i=1;i&lt;=rows;i++)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15">
                <a:latin typeface="Times New Roman"/>
                <a:cs typeface="Times New Roman"/>
              </a:rPr>
              <a:t>for(j=1;j&lt;=cols;j++)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200025">
              <a:lnSpc>
                <a:spcPct val="100000"/>
              </a:lnSpc>
              <a:spcBef>
                <a:spcPts val="100"/>
              </a:spcBef>
            </a:pPr>
            <a:r>
              <a:rPr dirty="0" sz="1150" spc="15">
                <a:latin typeface="Times New Roman"/>
                <a:cs typeface="Times New Roman"/>
              </a:rPr>
              <a:t>if(mat[i-1][j-1] !=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0)</a:t>
            </a:r>
            <a:endParaRPr sz="1150">
              <a:latin typeface="Times New Roman"/>
              <a:cs typeface="Times New Roman"/>
            </a:endParaRPr>
          </a:p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699770" marR="946150">
              <a:lnSpc>
                <a:spcPct val="108100"/>
              </a:lnSpc>
              <a:spcBef>
                <a:spcPts val="20"/>
              </a:spcBef>
            </a:pPr>
            <a:r>
              <a:rPr dirty="0" sz="1150" spc="20">
                <a:latin typeface="Times New Roman"/>
                <a:cs typeface="Times New Roman"/>
              </a:rPr>
              <a:t>new_mat[temp_index][0] </a:t>
            </a:r>
            <a:r>
              <a:rPr dirty="0" sz="1150" spc="15">
                <a:latin typeface="Times New Roman"/>
                <a:cs typeface="Times New Roman"/>
              </a:rPr>
              <a:t>= </a:t>
            </a:r>
            <a:r>
              <a:rPr dirty="0" sz="1150" spc="20">
                <a:latin typeface="Times New Roman"/>
                <a:cs typeface="Times New Roman"/>
              </a:rPr>
              <a:t>i-1;  new_mat[temp_index][1] </a:t>
            </a:r>
            <a:r>
              <a:rPr dirty="0" sz="1150" spc="15">
                <a:latin typeface="Times New Roman"/>
                <a:cs typeface="Times New Roman"/>
              </a:rPr>
              <a:t>= </a:t>
            </a:r>
            <a:r>
              <a:rPr dirty="0" sz="1150" spc="20">
                <a:latin typeface="Times New Roman"/>
                <a:cs typeface="Times New Roman"/>
              </a:rPr>
              <a:t>j-1;  new_mat[temp_index][2] </a:t>
            </a:r>
            <a:r>
              <a:rPr dirty="0" sz="1150" spc="15">
                <a:latin typeface="Times New Roman"/>
                <a:cs typeface="Times New Roman"/>
              </a:rPr>
              <a:t>=</a:t>
            </a:r>
            <a:r>
              <a:rPr dirty="0" sz="1150" spc="-10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mat[i-1][j-1];  </a:t>
            </a:r>
            <a:r>
              <a:rPr dirty="0" sz="1150" spc="20">
                <a:latin typeface="Times New Roman"/>
                <a:cs typeface="Times New Roman"/>
              </a:rPr>
              <a:t>temp_index</a:t>
            </a:r>
            <a:r>
              <a:rPr dirty="0" sz="1150" spc="4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++;</a:t>
            </a:r>
            <a:endParaRPr sz="1150">
              <a:latin typeface="Times New Roman"/>
              <a:cs typeface="Times New Roman"/>
            </a:endParaRPr>
          </a:p>
          <a:p>
            <a:pPr marL="240665">
              <a:lnSpc>
                <a:spcPct val="100000"/>
              </a:lnSpc>
              <a:spcBef>
                <a:spcPts val="70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12700" marR="2299970">
              <a:lnSpc>
                <a:spcPct val="107800"/>
              </a:lnSpc>
              <a:spcBef>
                <a:spcPts val="5"/>
              </a:spcBef>
            </a:pPr>
            <a:r>
              <a:rPr dirty="0" sz="1150" spc="15">
                <a:latin typeface="Times New Roman"/>
                <a:cs typeface="Times New Roman"/>
              </a:rPr>
              <a:t>printf(“the </a:t>
            </a:r>
            <a:r>
              <a:rPr dirty="0" sz="1150" spc="20">
                <a:latin typeface="Times New Roman"/>
                <a:cs typeface="Times New Roman"/>
              </a:rPr>
              <a:t>new matrix </a:t>
            </a:r>
            <a:r>
              <a:rPr dirty="0" sz="1150" spc="25">
                <a:latin typeface="Times New Roman"/>
                <a:cs typeface="Times New Roman"/>
              </a:rPr>
              <a:t>is</a:t>
            </a:r>
            <a:r>
              <a:rPr dirty="0" sz="1150" spc="-145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:\n”);  </a:t>
            </a:r>
            <a:r>
              <a:rPr dirty="0" sz="1150" spc="20">
                <a:latin typeface="Times New Roman"/>
                <a:cs typeface="Times New Roman"/>
              </a:rPr>
              <a:t>for(i=0;i&lt;num_values;i++)</a:t>
            </a:r>
            <a:endParaRPr sz="1150">
              <a:latin typeface="Times New Roman"/>
              <a:cs typeface="Times New Roman"/>
            </a:endParaRPr>
          </a:p>
          <a:p>
            <a:pPr marL="12700" marR="3209290">
              <a:lnSpc>
                <a:spcPct val="107000"/>
              </a:lnSpc>
              <a:spcBef>
                <a:spcPts val="35"/>
              </a:spcBef>
            </a:pPr>
            <a:r>
              <a:rPr dirty="0" sz="1150" spc="15">
                <a:latin typeface="Times New Roman"/>
                <a:cs typeface="Times New Roman"/>
              </a:rPr>
              <a:t>{ printf(“\n”);  </a:t>
            </a:r>
            <a:r>
              <a:rPr dirty="0" sz="1150">
                <a:latin typeface="Times New Roman"/>
                <a:cs typeface="Times New Roman"/>
              </a:rPr>
              <a:t>for(j=0;j</a:t>
            </a:r>
            <a:r>
              <a:rPr dirty="0" sz="1150" spc="-15">
                <a:latin typeface="Times New Roman"/>
                <a:cs typeface="Times New Roman"/>
              </a:rPr>
              <a:t>&lt;</a:t>
            </a:r>
            <a:r>
              <a:rPr dirty="0" sz="1150">
                <a:latin typeface="Times New Roman"/>
                <a:cs typeface="Times New Roman"/>
              </a:rPr>
              <a:t>3;j++)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1150" spc="20">
                <a:latin typeface="Times New Roman"/>
                <a:cs typeface="Times New Roman"/>
              </a:rPr>
              <a:t>printf(“%d </a:t>
            </a:r>
            <a:r>
              <a:rPr dirty="0" sz="1150" spc="15">
                <a:latin typeface="Times New Roman"/>
                <a:cs typeface="Times New Roman"/>
              </a:rPr>
              <a:t>\t”,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new_mat[i][j]);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1502715"/>
            <a:ext cx="2160270" cy="97536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1150" spc="15">
                <a:latin typeface="Times New Roman"/>
                <a:cs typeface="Times New Roman"/>
              </a:rPr>
              <a:t>Output:</a:t>
            </a:r>
            <a:endParaRPr sz="1150">
              <a:latin typeface="Times New Roman"/>
              <a:cs typeface="Times New Roman"/>
            </a:endParaRPr>
          </a:p>
          <a:p>
            <a:pPr marL="12700" marR="198120">
              <a:lnSpc>
                <a:spcPct val="107000"/>
              </a:lnSpc>
              <a:spcBef>
                <a:spcPts val="35"/>
              </a:spcBef>
            </a:pPr>
            <a:r>
              <a:rPr dirty="0" sz="1150" spc="20">
                <a:latin typeface="Times New Roman"/>
                <a:cs typeface="Times New Roman"/>
              </a:rPr>
              <a:t>Enter </a:t>
            </a:r>
            <a:r>
              <a:rPr dirty="0" sz="1150" spc="15">
                <a:latin typeface="Times New Roman"/>
                <a:cs typeface="Times New Roman"/>
              </a:rPr>
              <a:t>the </a:t>
            </a:r>
            <a:r>
              <a:rPr dirty="0" sz="1150" spc="20">
                <a:latin typeface="Times New Roman"/>
                <a:cs typeface="Times New Roman"/>
              </a:rPr>
              <a:t>number </a:t>
            </a:r>
            <a:r>
              <a:rPr dirty="0" sz="1150" spc="10">
                <a:latin typeface="Times New Roman"/>
                <a:cs typeface="Times New Roman"/>
              </a:rPr>
              <a:t>of </a:t>
            </a:r>
            <a:r>
              <a:rPr dirty="0" sz="1150" spc="20">
                <a:latin typeface="Times New Roman"/>
                <a:cs typeface="Times New Roman"/>
              </a:rPr>
              <a:t>rows: </a:t>
            </a:r>
            <a:r>
              <a:rPr dirty="0" sz="1150" spc="15">
                <a:latin typeface="Times New Roman"/>
                <a:cs typeface="Times New Roman"/>
              </a:rPr>
              <a:t>2  </a:t>
            </a:r>
            <a:r>
              <a:rPr dirty="0" sz="1150" spc="20">
                <a:latin typeface="Times New Roman"/>
                <a:cs typeface="Times New Roman"/>
              </a:rPr>
              <a:t>Enter </a:t>
            </a:r>
            <a:r>
              <a:rPr dirty="0" sz="1150" spc="15">
                <a:latin typeface="Times New Roman"/>
                <a:cs typeface="Times New Roman"/>
              </a:rPr>
              <a:t>the </a:t>
            </a:r>
            <a:r>
              <a:rPr dirty="0" sz="1150" spc="20">
                <a:latin typeface="Times New Roman"/>
                <a:cs typeface="Times New Roman"/>
              </a:rPr>
              <a:t>number </a:t>
            </a:r>
            <a:r>
              <a:rPr dirty="0" sz="1150" spc="10">
                <a:latin typeface="Times New Roman"/>
                <a:cs typeface="Times New Roman"/>
              </a:rPr>
              <a:t>of </a:t>
            </a:r>
            <a:r>
              <a:rPr dirty="0" sz="1150" spc="20">
                <a:latin typeface="Times New Roman"/>
                <a:cs typeface="Times New Roman"/>
              </a:rPr>
              <a:t>columns: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2</a:t>
            </a:r>
            <a:endParaRPr sz="1150">
              <a:latin typeface="Times New Roman"/>
              <a:cs typeface="Times New Roman"/>
            </a:endParaRPr>
          </a:p>
          <a:p>
            <a:pPr marL="12700" marR="5080">
              <a:lnSpc>
                <a:spcPts val="1520"/>
              </a:lnSpc>
              <a:spcBef>
                <a:spcPts val="5"/>
              </a:spcBef>
              <a:tabLst>
                <a:tab pos="2071370" algn="l"/>
              </a:tabLst>
            </a:pPr>
            <a:r>
              <a:rPr dirty="0" sz="1150" spc="35">
                <a:latin typeface="Times New Roman"/>
                <a:cs typeface="Times New Roman"/>
              </a:rPr>
              <a:t>E</a:t>
            </a:r>
            <a:r>
              <a:rPr dirty="0" sz="1150" spc="10">
                <a:latin typeface="Times New Roman"/>
                <a:cs typeface="Times New Roman"/>
              </a:rPr>
              <a:t>nt</a:t>
            </a:r>
            <a:r>
              <a:rPr dirty="0" sz="1150" spc="20">
                <a:latin typeface="Times New Roman"/>
                <a:cs typeface="Times New Roman"/>
              </a:rPr>
              <a:t>e</a:t>
            </a:r>
            <a:r>
              <a:rPr dirty="0" sz="1150" spc="10">
                <a:latin typeface="Times New Roman"/>
                <a:cs typeface="Times New Roman"/>
              </a:rPr>
              <a:t>r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t</a:t>
            </a:r>
            <a:r>
              <a:rPr dirty="0" sz="1150" spc="20">
                <a:latin typeface="Times New Roman"/>
                <a:cs typeface="Times New Roman"/>
              </a:rPr>
              <a:t>h</a:t>
            </a:r>
            <a:r>
              <a:rPr dirty="0" sz="1150" spc="10">
                <a:latin typeface="Times New Roman"/>
                <a:cs typeface="Times New Roman"/>
              </a:rPr>
              <a:t>e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e</a:t>
            </a:r>
            <a:r>
              <a:rPr dirty="0" sz="1150" spc="10">
                <a:latin typeface="Times New Roman"/>
                <a:cs typeface="Times New Roman"/>
              </a:rPr>
              <a:t>l</a:t>
            </a:r>
            <a:r>
              <a:rPr dirty="0" sz="1150" spc="20">
                <a:latin typeface="Times New Roman"/>
                <a:cs typeface="Times New Roman"/>
              </a:rPr>
              <a:t>e</a:t>
            </a:r>
            <a:r>
              <a:rPr dirty="0" sz="1150" spc="40">
                <a:latin typeface="Times New Roman"/>
                <a:cs typeface="Times New Roman"/>
              </a:rPr>
              <a:t>m</a:t>
            </a:r>
            <a:r>
              <a:rPr dirty="0" sz="1150" spc="20">
                <a:latin typeface="Times New Roman"/>
                <a:cs typeface="Times New Roman"/>
              </a:rPr>
              <a:t>e</a:t>
            </a:r>
            <a:r>
              <a:rPr dirty="0" sz="1150" spc="15">
                <a:latin typeface="Times New Roman"/>
                <a:cs typeface="Times New Roman"/>
              </a:rPr>
              <a:t>n</a:t>
            </a:r>
            <a:r>
              <a:rPr dirty="0" sz="1150" spc="20">
                <a:latin typeface="Times New Roman"/>
                <a:cs typeface="Times New Roman"/>
              </a:rPr>
              <a:t>t</a:t>
            </a:r>
            <a:r>
              <a:rPr dirty="0" sz="1150" spc="10">
                <a:latin typeface="Times New Roman"/>
                <a:cs typeface="Times New Roman"/>
              </a:rPr>
              <a:t>s</a:t>
            </a:r>
            <a:r>
              <a:rPr dirty="0" sz="1150" spc="3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o</a:t>
            </a:r>
            <a:r>
              <a:rPr dirty="0" sz="1150" spc="10">
                <a:latin typeface="Times New Roman"/>
                <a:cs typeface="Times New Roman"/>
              </a:rPr>
              <a:t>f</a:t>
            </a:r>
            <a:r>
              <a:rPr dirty="0" sz="1150" spc="-85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a</a:t>
            </a:r>
            <a:r>
              <a:rPr dirty="0" sz="1150" spc="25">
                <a:latin typeface="Times New Roman"/>
                <a:cs typeface="Times New Roman"/>
              </a:rPr>
              <a:t>r</a:t>
            </a:r>
            <a:r>
              <a:rPr dirty="0" sz="1150" spc="20">
                <a:latin typeface="Times New Roman"/>
                <a:cs typeface="Times New Roman"/>
              </a:rPr>
              <a:t>ra</a:t>
            </a:r>
            <a:r>
              <a:rPr dirty="0" sz="1150" spc="10">
                <a:latin typeface="Times New Roman"/>
                <a:cs typeface="Times New Roman"/>
              </a:rPr>
              <a:t>y:</a:t>
            </a:r>
            <a:r>
              <a:rPr dirty="0" sz="1150" spc="-2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1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10">
                <a:latin typeface="Times New Roman"/>
                <a:cs typeface="Times New Roman"/>
              </a:rPr>
              <a:t>0  </a:t>
            </a:r>
            <a:r>
              <a:rPr dirty="0" sz="1150" spc="20">
                <a:latin typeface="Times New Roman"/>
                <a:cs typeface="Times New Roman"/>
              </a:rPr>
              <a:t>The </a:t>
            </a:r>
            <a:r>
              <a:rPr dirty="0" sz="1150" spc="15">
                <a:latin typeface="Times New Roman"/>
                <a:cs typeface="Times New Roman"/>
              </a:rPr>
              <a:t>sparse </a:t>
            </a:r>
            <a:r>
              <a:rPr dirty="0" sz="1150" spc="20">
                <a:latin typeface="Times New Roman"/>
                <a:cs typeface="Times New Roman"/>
              </a:rPr>
              <a:t>matrix </a:t>
            </a:r>
            <a:r>
              <a:rPr dirty="0" sz="1150" spc="10">
                <a:latin typeface="Times New Roman"/>
                <a:cs typeface="Times New Roman"/>
              </a:rPr>
              <a:t>is: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47313" y="2083054"/>
            <a:ext cx="10096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15">
                <a:latin typeface="Times New Roman"/>
                <a:cs typeface="Times New Roman"/>
              </a:rPr>
              <a:t>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04513" y="2083054"/>
            <a:ext cx="10096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15">
                <a:latin typeface="Times New Roman"/>
                <a:cs typeface="Times New Roman"/>
              </a:rPr>
              <a:t>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004" y="2450643"/>
            <a:ext cx="5749290" cy="3697604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204"/>
              </a:spcBef>
              <a:tabLst>
                <a:tab pos="469265" algn="l"/>
              </a:tabLst>
            </a:pPr>
            <a:r>
              <a:rPr dirty="0" sz="1150" spc="15">
                <a:latin typeface="Times New Roman"/>
                <a:cs typeface="Times New Roman"/>
              </a:rPr>
              <a:t>1	0</a:t>
            </a:r>
            <a:endParaRPr sz="115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10"/>
              </a:spcBef>
              <a:tabLst>
                <a:tab pos="469265" algn="l"/>
              </a:tabLst>
            </a:pPr>
            <a:r>
              <a:rPr dirty="0" sz="1150" spc="15">
                <a:latin typeface="Times New Roman"/>
                <a:cs typeface="Times New Roman"/>
              </a:rPr>
              <a:t>0	0</a:t>
            </a:r>
            <a:endParaRPr sz="115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0"/>
              </a:spcBef>
            </a:pPr>
            <a:r>
              <a:rPr dirty="0" sz="1150" spc="20">
                <a:latin typeface="Times New Roman"/>
                <a:cs typeface="Times New Roman"/>
              </a:rPr>
              <a:t>The new matrix</a:t>
            </a:r>
            <a:r>
              <a:rPr dirty="0" sz="1150" spc="10">
                <a:latin typeface="Times New Roman"/>
                <a:cs typeface="Times New Roman"/>
              </a:rPr>
              <a:t> is:</a:t>
            </a:r>
            <a:endParaRPr sz="115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00"/>
              </a:spcBef>
              <a:tabLst>
                <a:tab pos="469265" algn="l"/>
                <a:tab pos="730250" algn="l"/>
              </a:tabLst>
            </a:pPr>
            <a:r>
              <a:rPr dirty="0" sz="1150" spc="15">
                <a:latin typeface="Times New Roman"/>
                <a:cs typeface="Times New Roman"/>
              </a:rPr>
              <a:t>2	2	1</a:t>
            </a:r>
            <a:endParaRPr sz="115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0"/>
              </a:spcBef>
              <a:tabLst>
                <a:tab pos="469265" algn="l"/>
                <a:tab pos="730250" algn="l"/>
              </a:tabLst>
            </a:pPr>
            <a:r>
              <a:rPr dirty="0" sz="1150" spc="15">
                <a:latin typeface="Times New Roman"/>
                <a:cs typeface="Times New Roman"/>
              </a:rPr>
              <a:t>0	0	1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1150" spc="30" b="1">
                <a:latin typeface="Times New Roman"/>
                <a:cs typeface="Times New Roman"/>
              </a:rPr>
              <a:t>APPLICATIONS </a:t>
            </a:r>
            <a:r>
              <a:rPr dirty="0" sz="1150" spc="40" b="1">
                <a:latin typeface="Times New Roman"/>
                <a:cs typeface="Times New Roman"/>
              </a:rPr>
              <a:t>OF</a:t>
            </a:r>
            <a:r>
              <a:rPr dirty="0" sz="1150" spc="-10" b="1">
                <a:latin typeface="Times New Roman"/>
                <a:cs typeface="Times New Roman"/>
              </a:rPr>
              <a:t> </a:t>
            </a:r>
            <a:r>
              <a:rPr dirty="0" sz="1150" spc="30" b="1">
                <a:latin typeface="Times New Roman"/>
                <a:cs typeface="Times New Roman"/>
              </a:rPr>
              <a:t>ARRAYS</a:t>
            </a:r>
            <a:endParaRPr sz="1150">
              <a:latin typeface="Times New Roman"/>
              <a:cs typeface="Times New Roman"/>
            </a:endParaRPr>
          </a:p>
          <a:p>
            <a:pPr marL="928369" marR="45720" indent="-230504">
              <a:lnSpc>
                <a:spcPct val="103499"/>
              </a:lnSpc>
              <a:spcBef>
                <a:spcPts val="155"/>
              </a:spcBef>
              <a:buFont typeface="Symbol"/>
              <a:buChar char=""/>
              <a:tabLst>
                <a:tab pos="926465" algn="l"/>
                <a:tab pos="927100" algn="l"/>
              </a:tabLst>
            </a:pPr>
            <a:r>
              <a:rPr dirty="0" sz="1150" spc="20">
                <a:latin typeface="Times New Roman"/>
                <a:cs typeface="Times New Roman"/>
              </a:rPr>
              <a:t>Arrays</a:t>
            </a:r>
            <a:r>
              <a:rPr dirty="0" sz="1150" spc="-4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are</a:t>
            </a:r>
            <a:r>
              <a:rPr dirty="0" sz="1150" spc="-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widely</a:t>
            </a:r>
            <a:r>
              <a:rPr dirty="0" sz="1150" spc="-3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used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to</a:t>
            </a:r>
            <a:r>
              <a:rPr dirty="0" sz="1150" spc="-1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implement</a:t>
            </a:r>
            <a:r>
              <a:rPr dirty="0" sz="1150" spc="4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mathematical</a:t>
            </a:r>
            <a:r>
              <a:rPr dirty="0" sz="1150" spc="15">
                <a:latin typeface="Times New Roman"/>
                <a:cs typeface="Times New Roman"/>
              </a:rPr>
              <a:t> vectors,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matrices</a:t>
            </a:r>
            <a:r>
              <a:rPr dirty="0" sz="1150" spc="-3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and</a:t>
            </a:r>
            <a:r>
              <a:rPr dirty="0" sz="1150" spc="-1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other  kinds of </a:t>
            </a:r>
            <a:r>
              <a:rPr dirty="0" sz="1150" spc="20">
                <a:latin typeface="Times New Roman"/>
                <a:cs typeface="Times New Roman"/>
              </a:rPr>
              <a:t>rectangular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tables.</a:t>
            </a:r>
            <a:endParaRPr sz="1150">
              <a:latin typeface="Times New Roman"/>
              <a:cs typeface="Times New Roman"/>
            </a:endParaRPr>
          </a:p>
          <a:p>
            <a:pPr marL="926465" indent="-229235">
              <a:lnSpc>
                <a:spcPct val="100000"/>
              </a:lnSpc>
              <a:spcBef>
                <a:spcPts val="229"/>
              </a:spcBef>
              <a:buFont typeface="Symbol"/>
              <a:buChar char=""/>
              <a:tabLst>
                <a:tab pos="926465" algn="l"/>
                <a:tab pos="927100" algn="l"/>
              </a:tabLst>
            </a:pPr>
            <a:r>
              <a:rPr dirty="0" sz="1150" spc="25">
                <a:latin typeface="Times New Roman"/>
                <a:cs typeface="Times New Roman"/>
              </a:rPr>
              <a:t>Many </a:t>
            </a:r>
            <a:r>
              <a:rPr dirty="0" sz="1150" spc="20">
                <a:latin typeface="Times New Roman"/>
                <a:cs typeface="Times New Roman"/>
              </a:rPr>
              <a:t>databases include one-dimensional </a:t>
            </a:r>
            <a:r>
              <a:rPr dirty="0" sz="1150" spc="15">
                <a:latin typeface="Times New Roman"/>
                <a:cs typeface="Times New Roman"/>
              </a:rPr>
              <a:t>arrays </a:t>
            </a:r>
            <a:r>
              <a:rPr dirty="0" sz="1150" spc="20">
                <a:latin typeface="Times New Roman"/>
                <a:cs typeface="Times New Roman"/>
              </a:rPr>
              <a:t>where elements </a:t>
            </a:r>
            <a:r>
              <a:rPr dirty="0" sz="1150" spc="25">
                <a:latin typeface="Times New Roman"/>
                <a:cs typeface="Times New Roman"/>
              </a:rPr>
              <a:t>are</a:t>
            </a:r>
            <a:r>
              <a:rPr dirty="0" sz="1150" spc="-204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recorded.</a:t>
            </a:r>
            <a:endParaRPr sz="1150">
              <a:latin typeface="Times New Roman"/>
              <a:cs typeface="Times New Roman"/>
            </a:endParaRPr>
          </a:p>
          <a:p>
            <a:pPr marL="928369" marR="66675" indent="-230504">
              <a:lnSpc>
                <a:spcPct val="102600"/>
              </a:lnSpc>
              <a:spcBef>
                <a:spcPts val="180"/>
              </a:spcBef>
              <a:buFont typeface="Symbol"/>
              <a:buChar char=""/>
              <a:tabLst>
                <a:tab pos="926465" algn="l"/>
                <a:tab pos="927100" algn="l"/>
              </a:tabLst>
            </a:pPr>
            <a:r>
              <a:rPr dirty="0" sz="1150" spc="20">
                <a:latin typeface="Times New Roman"/>
                <a:cs typeface="Times New Roman"/>
              </a:rPr>
              <a:t>Arrays</a:t>
            </a:r>
            <a:r>
              <a:rPr dirty="0" sz="1150" spc="-4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are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also</a:t>
            </a:r>
            <a:r>
              <a:rPr dirty="0" sz="1150" spc="-3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used</a:t>
            </a:r>
            <a:r>
              <a:rPr dirty="0" sz="1150" spc="-2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to</a:t>
            </a:r>
            <a:r>
              <a:rPr dirty="0" sz="1150" spc="-1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implement </a:t>
            </a:r>
            <a:r>
              <a:rPr dirty="0" sz="1150" spc="15">
                <a:latin typeface="Times New Roman"/>
                <a:cs typeface="Times New Roman"/>
              </a:rPr>
              <a:t>other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data</a:t>
            </a:r>
            <a:r>
              <a:rPr dirty="0" sz="1150" spc="4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structures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such</a:t>
            </a:r>
            <a:r>
              <a:rPr dirty="0" sz="1150" spc="-1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as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strings, stacks,  queues, heaps </a:t>
            </a:r>
            <a:r>
              <a:rPr dirty="0" sz="1150" spc="35">
                <a:latin typeface="Times New Roman"/>
                <a:cs typeface="Times New Roman"/>
              </a:rPr>
              <a:t>and </a:t>
            </a:r>
            <a:r>
              <a:rPr dirty="0" sz="1150" spc="15">
                <a:latin typeface="Times New Roman"/>
                <a:cs typeface="Times New Roman"/>
              </a:rPr>
              <a:t>hash tables.</a:t>
            </a:r>
            <a:endParaRPr sz="1150">
              <a:latin typeface="Times New Roman"/>
              <a:cs typeface="Times New Roman"/>
            </a:endParaRPr>
          </a:p>
          <a:p>
            <a:pPr marL="926465" indent="-229235">
              <a:lnSpc>
                <a:spcPct val="100000"/>
              </a:lnSpc>
              <a:spcBef>
                <a:spcPts val="250"/>
              </a:spcBef>
              <a:buFont typeface="Symbol"/>
              <a:buChar char=""/>
              <a:tabLst>
                <a:tab pos="926465" algn="l"/>
                <a:tab pos="927100" algn="l"/>
              </a:tabLst>
            </a:pPr>
            <a:r>
              <a:rPr dirty="0" sz="1150" spc="20">
                <a:latin typeface="Times New Roman"/>
                <a:cs typeface="Times New Roman"/>
              </a:rPr>
              <a:t>Arrays can </a:t>
            </a:r>
            <a:r>
              <a:rPr dirty="0" sz="1150" spc="15">
                <a:latin typeface="Times New Roman"/>
                <a:cs typeface="Times New Roman"/>
              </a:rPr>
              <a:t>be used for sorting </a:t>
            </a:r>
            <a:r>
              <a:rPr dirty="0" sz="1150" spc="20">
                <a:latin typeface="Times New Roman"/>
                <a:cs typeface="Times New Roman"/>
              </a:rPr>
              <a:t>elements </a:t>
            </a:r>
            <a:r>
              <a:rPr dirty="0" sz="1150" spc="25">
                <a:latin typeface="Times New Roman"/>
                <a:cs typeface="Times New Roman"/>
              </a:rPr>
              <a:t>in </a:t>
            </a:r>
            <a:r>
              <a:rPr dirty="0" sz="1150" spc="20">
                <a:latin typeface="Times New Roman"/>
                <a:cs typeface="Times New Roman"/>
              </a:rPr>
              <a:t>ascending </a:t>
            </a:r>
            <a:r>
              <a:rPr dirty="0" sz="1150" spc="10">
                <a:latin typeface="Times New Roman"/>
                <a:cs typeface="Times New Roman"/>
              </a:rPr>
              <a:t>or </a:t>
            </a:r>
            <a:r>
              <a:rPr dirty="0" sz="1150" spc="20">
                <a:latin typeface="Times New Roman"/>
                <a:cs typeface="Times New Roman"/>
              </a:rPr>
              <a:t>descending</a:t>
            </a:r>
            <a:r>
              <a:rPr dirty="0" sz="1150" spc="-7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order.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latin typeface="Times New Roman"/>
                <a:cs typeface="Times New Roman"/>
              </a:rPr>
              <a:t>CASE </a:t>
            </a:r>
            <a:r>
              <a:rPr dirty="0" sz="1400" spc="-5" b="1">
                <a:latin typeface="Times New Roman"/>
                <a:cs typeface="Times New Roman"/>
              </a:rPr>
              <a:t>STUDY: SORTING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00" b="1">
                <a:latin typeface="Times New Roman"/>
                <a:cs typeface="Times New Roman"/>
              </a:rPr>
              <a:t>Bubble</a:t>
            </a:r>
            <a:r>
              <a:rPr dirty="0" sz="1400" spc="-5" b="1">
                <a:latin typeface="Times New Roman"/>
                <a:cs typeface="Times New Roman"/>
              </a:rPr>
              <a:t> Sort</a:t>
            </a:r>
            <a:endParaRPr sz="14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00899"/>
              </a:lnSpc>
              <a:spcBef>
                <a:spcPts val="90"/>
              </a:spcBef>
            </a:pPr>
            <a:r>
              <a:rPr dirty="0" sz="1150" spc="20">
                <a:latin typeface="Times New Roman"/>
                <a:cs typeface="Times New Roman"/>
              </a:rPr>
              <a:t>Bubble </a:t>
            </a:r>
            <a:r>
              <a:rPr dirty="0" sz="1150" spc="10">
                <a:latin typeface="Times New Roman"/>
                <a:cs typeface="Times New Roman"/>
              </a:rPr>
              <a:t>sort </a:t>
            </a:r>
            <a:r>
              <a:rPr dirty="0" sz="1150" spc="15">
                <a:latin typeface="Times New Roman"/>
                <a:cs typeface="Times New Roman"/>
              </a:rPr>
              <a:t>will </a:t>
            </a:r>
            <a:r>
              <a:rPr dirty="0" sz="1150" spc="10">
                <a:latin typeface="Times New Roman"/>
                <a:cs typeface="Times New Roman"/>
              </a:rPr>
              <a:t>start </a:t>
            </a:r>
            <a:r>
              <a:rPr dirty="0" sz="1150" spc="25">
                <a:latin typeface="Times New Roman"/>
                <a:cs typeface="Times New Roman"/>
              </a:rPr>
              <a:t>by </a:t>
            </a:r>
            <a:r>
              <a:rPr dirty="0" sz="1150" spc="20">
                <a:latin typeface="Times New Roman"/>
                <a:cs typeface="Times New Roman"/>
              </a:rPr>
              <a:t>comparing the </a:t>
            </a:r>
            <a:r>
              <a:rPr dirty="0" sz="1150" spc="10">
                <a:latin typeface="Times New Roman"/>
                <a:cs typeface="Times New Roman"/>
              </a:rPr>
              <a:t>first </a:t>
            </a:r>
            <a:r>
              <a:rPr dirty="0" sz="1150" spc="20">
                <a:latin typeface="Times New Roman"/>
                <a:cs typeface="Times New Roman"/>
              </a:rPr>
              <a:t>element </a:t>
            </a:r>
            <a:r>
              <a:rPr dirty="0" sz="1150" spc="15">
                <a:latin typeface="Times New Roman"/>
                <a:cs typeface="Times New Roman"/>
              </a:rPr>
              <a:t>of the </a:t>
            </a:r>
            <a:r>
              <a:rPr dirty="0" sz="1150" spc="25">
                <a:latin typeface="Times New Roman"/>
                <a:cs typeface="Times New Roman"/>
              </a:rPr>
              <a:t>array </a:t>
            </a:r>
            <a:r>
              <a:rPr dirty="0" sz="1150" spc="20">
                <a:latin typeface="Times New Roman"/>
                <a:cs typeface="Times New Roman"/>
              </a:rPr>
              <a:t>with </a:t>
            </a:r>
            <a:r>
              <a:rPr dirty="0" sz="1150" spc="15">
                <a:latin typeface="Times New Roman"/>
                <a:cs typeface="Times New Roman"/>
              </a:rPr>
              <a:t>the </a:t>
            </a:r>
            <a:r>
              <a:rPr dirty="0" sz="1150" spc="20">
                <a:latin typeface="Times New Roman"/>
                <a:cs typeface="Times New Roman"/>
              </a:rPr>
              <a:t>second  element, </a:t>
            </a:r>
            <a:r>
              <a:rPr dirty="0" sz="1150" spc="15">
                <a:latin typeface="Times New Roman"/>
                <a:cs typeface="Times New Roman"/>
              </a:rPr>
              <a:t>if </a:t>
            </a:r>
            <a:r>
              <a:rPr dirty="0" sz="1150" spc="20">
                <a:latin typeface="Times New Roman"/>
                <a:cs typeface="Times New Roman"/>
              </a:rPr>
              <a:t>the </a:t>
            </a:r>
            <a:r>
              <a:rPr dirty="0" sz="1150" spc="10">
                <a:latin typeface="Times New Roman"/>
                <a:cs typeface="Times New Roman"/>
              </a:rPr>
              <a:t>first </a:t>
            </a:r>
            <a:r>
              <a:rPr dirty="0" sz="1150" spc="20">
                <a:latin typeface="Times New Roman"/>
                <a:cs typeface="Times New Roman"/>
              </a:rPr>
              <a:t>element </a:t>
            </a:r>
            <a:r>
              <a:rPr dirty="0" sz="1150" spc="25">
                <a:latin typeface="Times New Roman"/>
                <a:cs typeface="Times New Roman"/>
              </a:rPr>
              <a:t>is </a:t>
            </a:r>
            <a:r>
              <a:rPr dirty="0" sz="1150" spc="15">
                <a:latin typeface="Times New Roman"/>
                <a:cs typeface="Times New Roman"/>
              </a:rPr>
              <a:t>greater </a:t>
            </a:r>
            <a:r>
              <a:rPr dirty="0" sz="1150" spc="20">
                <a:latin typeface="Times New Roman"/>
                <a:cs typeface="Times New Roman"/>
              </a:rPr>
              <a:t>than </a:t>
            </a:r>
            <a:r>
              <a:rPr dirty="0" sz="1150" spc="15">
                <a:latin typeface="Times New Roman"/>
                <a:cs typeface="Times New Roman"/>
              </a:rPr>
              <a:t>the second </a:t>
            </a:r>
            <a:r>
              <a:rPr dirty="0" sz="1150" spc="20">
                <a:latin typeface="Times New Roman"/>
                <a:cs typeface="Times New Roman"/>
              </a:rPr>
              <a:t>element, </a:t>
            </a:r>
            <a:r>
              <a:rPr dirty="0" sz="1150" spc="10">
                <a:latin typeface="Times New Roman"/>
                <a:cs typeface="Times New Roman"/>
              </a:rPr>
              <a:t>it </a:t>
            </a:r>
            <a:r>
              <a:rPr dirty="0" sz="1150" spc="15">
                <a:latin typeface="Times New Roman"/>
                <a:cs typeface="Times New Roman"/>
              </a:rPr>
              <a:t>will </a:t>
            </a:r>
            <a:r>
              <a:rPr dirty="0" sz="1150" spc="20">
                <a:latin typeface="Times New Roman"/>
                <a:cs typeface="Times New Roman"/>
              </a:rPr>
              <a:t>swap both </a:t>
            </a:r>
            <a:r>
              <a:rPr dirty="0" sz="1150" spc="15">
                <a:latin typeface="Times New Roman"/>
                <a:cs typeface="Times New Roman"/>
              </a:rPr>
              <a:t>the </a:t>
            </a:r>
            <a:r>
              <a:rPr dirty="0" sz="1150" spc="20">
                <a:latin typeface="Times New Roman"/>
                <a:cs typeface="Times New Roman"/>
              </a:rPr>
              <a:t>elements,  and then move </a:t>
            </a:r>
            <a:r>
              <a:rPr dirty="0" sz="1150" spc="15">
                <a:latin typeface="Times New Roman"/>
                <a:cs typeface="Times New Roman"/>
              </a:rPr>
              <a:t>on </a:t>
            </a:r>
            <a:r>
              <a:rPr dirty="0" sz="1150" spc="25">
                <a:latin typeface="Times New Roman"/>
                <a:cs typeface="Times New Roman"/>
              </a:rPr>
              <a:t>to </a:t>
            </a:r>
            <a:r>
              <a:rPr dirty="0" sz="1150" spc="20">
                <a:latin typeface="Times New Roman"/>
                <a:cs typeface="Times New Roman"/>
              </a:rPr>
              <a:t>compare </a:t>
            </a:r>
            <a:r>
              <a:rPr dirty="0" sz="1150" spc="15">
                <a:latin typeface="Times New Roman"/>
                <a:cs typeface="Times New Roman"/>
              </a:rPr>
              <a:t>the </a:t>
            </a:r>
            <a:r>
              <a:rPr dirty="0" sz="1150" spc="20">
                <a:latin typeface="Times New Roman"/>
                <a:cs typeface="Times New Roman"/>
              </a:rPr>
              <a:t>second </a:t>
            </a:r>
            <a:r>
              <a:rPr dirty="0" sz="1150" spc="35">
                <a:latin typeface="Times New Roman"/>
                <a:cs typeface="Times New Roman"/>
              </a:rPr>
              <a:t>and </a:t>
            </a:r>
            <a:r>
              <a:rPr dirty="0" sz="1150" spc="20">
                <a:latin typeface="Times New Roman"/>
                <a:cs typeface="Times New Roman"/>
              </a:rPr>
              <a:t>the third element, and </a:t>
            </a:r>
            <a:r>
              <a:rPr dirty="0" sz="1150" spc="10">
                <a:latin typeface="Times New Roman"/>
                <a:cs typeface="Times New Roman"/>
              </a:rPr>
              <a:t>so</a:t>
            </a:r>
            <a:r>
              <a:rPr dirty="0" sz="1150" spc="-8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on.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2004" y="8733282"/>
            <a:ext cx="1087120" cy="55054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>
                <a:latin typeface="Times New Roman"/>
                <a:cs typeface="Times New Roman"/>
              </a:rPr>
              <a:t>#incl</a:t>
            </a:r>
            <a:r>
              <a:rPr dirty="0" sz="1150" spc="-15">
                <a:latin typeface="Times New Roman"/>
                <a:cs typeface="Times New Roman"/>
              </a:rPr>
              <a:t>u</a:t>
            </a:r>
            <a:r>
              <a:rPr dirty="0" sz="1150">
                <a:latin typeface="Times New Roman"/>
                <a:cs typeface="Times New Roman"/>
              </a:rPr>
              <a:t>de</a:t>
            </a:r>
            <a:r>
              <a:rPr dirty="0" sz="1150">
                <a:latin typeface="Times New Roman"/>
                <a:cs typeface="Times New Roman"/>
              </a:rPr>
              <a:t>&lt;</a:t>
            </a:r>
            <a:r>
              <a:rPr dirty="0" sz="1150" spc="-10">
                <a:latin typeface="Times New Roman"/>
                <a:cs typeface="Times New Roman"/>
              </a:rPr>
              <a:t>s</a:t>
            </a:r>
            <a:r>
              <a:rPr dirty="0" sz="1150">
                <a:latin typeface="Times New Roman"/>
                <a:cs typeface="Times New Roman"/>
              </a:rPr>
              <a:t>td</a:t>
            </a:r>
            <a:r>
              <a:rPr dirty="0" sz="1150" spc="-10">
                <a:latin typeface="Times New Roman"/>
                <a:cs typeface="Times New Roman"/>
              </a:rPr>
              <a:t>i</a:t>
            </a:r>
            <a:r>
              <a:rPr dirty="0" sz="1150">
                <a:latin typeface="Times New Roman"/>
                <a:cs typeface="Times New Roman"/>
              </a:rPr>
              <a:t>o.h&gt;  </a:t>
            </a:r>
            <a:r>
              <a:rPr dirty="0" sz="1150" spc="20">
                <a:latin typeface="Times New Roman"/>
                <a:cs typeface="Times New Roman"/>
              </a:rPr>
              <a:t>void main(</a:t>
            </a:r>
            <a:r>
              <a:rPr dirty="0" sz="1150" spc="-15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45"/>
              </a:lnSpc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37260" y="6438900"/>
            <a:ext cx="5641847" cy="22955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331722"/>
            <a:ext cx="5737225" cy="7959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780154">
              <a:lnSpc>
                <a:spcPct val="100400"/>
              </a:lnSpc>
              <a:spcBef>
                <a:spcPts val="95"/>
              </a:spcBef>
            </a:pPr>
            <a:r>
              <a:rPr dirty="0" sz="1150" spc="10">
                <a:latin typeface="Times New Roman"/>
                <a:cs typeface="Times New Roman"/>
              </a:rPr>
              <a:t>int </a:t>
            </a:r>
            <a:r>
              <a:rPr dirty="0" sz="1150" spc="15">
                <a:latin typeface="Times New Roman"/>
                <a:cs typeface="Times New Roman"/>
              </a:rPr>
              <a:t>i,j,n,temp,a[100];  printf("Enter the </a:t>
            </a:r>
            <a:r>
              <a:rPr dirty="0" sz="1150" spc="20">
                <a:latin typeface="Times New Roman"/>
                <a:cs typeface="Times New Roman"/>
              </a:rPr>
              <a:t>value </a:t>
            </a:r>
            <a:r>
              <a:rPr dirty="0" sz="1150" spc="15">
                <a:latin typeface="Times New Roman"/>
                <a:cs typeface="Times New Roman"/>
              </a:rPr>
              <a:t>of </a:t>
            </a:r>
            <a:r>
              <a:rPr dirty="0" sz="1150" spc="20">
                <a:latin typeface="Times New Roman"/>
                <a:cs typeface="Times New Roman"/>
              </a:rPr>
              <a:t>n\n");  scanf("%d",&amp;n);</a:t>
            </a:r>
            <a:endParaRPr sz="1150">
              <a:latin typeface="Times New Roman"/>
              <a:cs typeface="Times New Roman"/>
            </a:endParaRPr>
          </a:p>
          <a:p>
            <a:pPr marL="12700" marR="2735580">
              <a:lnSpc>
                <a:spcPts val="1360"/>
              </a:lnSpc>
              <a:spcBef>
                <a:spcPts val="75"/>
              </a:spcBef>
            </a:pPr>
            <a:r>
              <a:rPr dirty="0" sz="1150" spc="15">
                <a:latin typeface="Times New Roman"/>
                <a:cs typeface="Times New Roman"/>
              </a:rPr>
              <a:t>printf("Enter the </a:t>
            </a:r>
            <a:r>
              <a:rPr dirty="0" sz="1150" spc="20">
                <a:latin typeface="Times New Roman"/>
                <a:cs typeface="Times New Roman"/>
              </a:rPr>
              <a:t>numbers in unsorted order:\n");  </a:t>
            </a:r>
            <a:r>
              <a:rPr dirty="0" sz="1150" spc="15">
                <a:latin typeface="Times New Roman"/>
                <a:cs typeface="Times New Roman"/>
              </a:rPr>
              <a:t>for(i=0;i&lt;n;i++)</a:t>
            </a:r>
            <a:endParaRPr sz="1150">
              <a:latin typeface="Times New Roman"/>
              <a:cs typeface="Times New Roman"/>
            </a:endParaRPr>
          </a:p>
          <a:p>
            <a:pPr marL="12700" marR="4514215">
              <a:lnSpc>
                <a:spcPts val="1370"/>
              </a:lnSpc>
              <a:spcBef>
                <a:spcPts val="20"/>
              </a:spcBef>
            </a:pPr>
            <a:r>
              <a:rPr dirty="0" sz="1150" spc="20">
                <a:latin typeface="Times New Roman"/>
                <a:cs typeface="Times New Roman"/>
              </a:rPr>
              <a:t>scanf("%d",</a:t>
            </a:r>
            <a:r>
              <a:rPr dirty="0" sz="1150" spc="-4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&amp;a[i]);  for(i=0;i&lt;n-1;i++)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10"/>
              </a:lnSpc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75"/>
              </a:lnSpc>
              <a:spcBef>
                <a:spcPts val="35"/>
              </a:spcBef>
            </a:pPr>
            <a:r>
              <a:rPr dirty="0" sz="1150" spc="15">
                <a:latin typeface="Times New Roman"/>
                <a:cs typeface="Times New Roman"/>
              </a:rPr>
              <a:t>for(j=0;j&lt;(n-i)-1;j++)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70"/>
              </a:lnSpc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75"/>
              </a:lnSpc>
            </a:pPr>
            <a:r>
              <a:rPr dirty="0" sz="1150" spc="10">
                <a:latin typeface="Times New Roman"/>
                <a:cs typeface="Times New Roman"/>
              </a:rPr>
              <a:t>if(</a:t>
            </a:r>
            <a:r>
              <a:rPr dirty="0" sz="1150" spc="2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a[j]&gt;a[j+1])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75"/>
              </a:lnSpc>
              <a:spcBef>
                <a:spcPts val="25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12700" marR="5002530">
              <a:lnSpc>
                <a:spcPts val="1380"/>
              </a:lnSpc>
              <a:spcBef>
                <a:spcPts val="40"/>
              </a:spcBef>
            </a:pPr>
            <a:r>
              <a:rPr dirty="0" sz="1150" spc="20">
                <a:latin typeface="Times New Roman"/>
                <a:cs typeface="Times New Roman"/>
              </a:rPr>
              <a:t>temp=a[j];  </a:t>
            </a:r>
            <a:r>
              <a:rPr dirty="0" sz="1150" spc="10">
                <a:latin typeface="Times New Roman"/>
                <a:cs typeface="Times New Roman"/>
              </a:rPr>
              <a:t>a[</a:t>
            </a:r>
            <a:r>
              <a:rPr dirty="0" sz="1150" spc="20">
                <a:latin typeface="Times New Roman"/>
                <a:cs typeface="Times New Roman"/>
              </a:rPr>
              <a:t>j</a:t>
            </a:r>
            <a:r>
              <a:rPr dirty="0" sz="1150" spc="20">
                <a:latin typeface="Times New Roman"/>
                <a:cs typeface="Times New Roman"/>
              </a:rPr>
              <a:t>]</a:t>
            </a:r>
            <a:r>
              <a:rPr dirty="0" sz="1150" spc="15">
                <a:latin typeface="Times New Roman"/>
                <a:cs typeface="Times New Roman"/>
              </a:rPr>
              <a:t>=</a:t>
            </a:r>
            <a:r>
              <a:rPr dirty="0" sz="1150" spc="20">
                <a:latin typeface="Times New Roman"/>
                <a:cs typeface="Times New Roman"/>
              </a:rPr>
              <a:t>a</a:t>
            </a:r>
            <a:r>
              <a:rPr dirty="0" sz="1150" spc="10">
                <a:latin typeface="Times New Roman"/>
                <a:cs typeface="Times New Roman"/>
              </a:rPr>
              <a:t>[</a:t>
            </a:r>
            <a:r>
              <a:rPr dirty="0" sz="1150" spc="25">
                <a:latin typeface="Times New Roman"/>
                <a:cs typeface="Times New Roman"/>
              </a:rPr>
              <a:t>j</a:t>
            </a:r>
            <a:r>
              <a:rPr dirty="0" sz="1150" spc="15">
                <a:latin typeface="Times New Roman"/>
                <a:cs typeface="Times New Roman"/>
              </a:rPr>
              <a:t>+</a:t>
            </a:r>
            <a:r>
              <a:rPr dirty="0" sz="1150" spc="20">
                <a:latin typeface="Times New Roman"/>
                <a:cs typeface="Times New Roman"/>
              </a:rPr>
              <a:t>1</a:t>
            </a:r>
            <a:r>
              <a:rPr dirty="0" sz="1150" spc="5">
                <a:latin typeface="Times New Roman"/>
                <a:cs typeface="Times New Roman"/>
              </a:rPr>
              <a:t>];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40"/>
              </a:lnSpc>
            </a:pPr>
            <a:r>
              <a:rPr dirty="0" sz="1150" spc="-5">
                <a:latin typeface="Times New Roman"/>
                <a:cs typeface="Times New Roman"/>
              </a:rPr>
              <a:t>a[j+1]=temp;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70"/>
              </a:lnSpc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70"/>
              </a:lnSpc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75"/>
              </a:lnSpc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12700" marR="3844290">
              <a:lnSpc>
                <a:spcPts val="1360"/>
              </a:lnSpc>
              <a:spcBef>
                <a:spcPts val="85"/>
              </a:spcBef>
            </a:pPr>
            <a:r>
              <a:rPr dirty="0" sz="1150" spc="20">
                <a:latin typeface="Times New Roman"/>
                <a:cs typeface="Times New Roman"/>
              </a:rPr>
              <a:t>printf("The </a:t>
            </a:r>
            <a:r>
              <a:rPr dirty="0" sz="1150" spc="15">
                <a:latin typeface="Times New Roman"/>
                <a:cs typeface="Times New Roman"/>
              </a:rPr>
              <a:t>sorted </a:t>
            </a:r>
            <a:r>
              <a:rPr dirty="0" sz="1150" spc="20">
                <a:latin typeface="Times New Roman"/>
                <a:cs typeface="Times New Roman"/>
              </a:rPr>
              <a:t>array </a:t>
            </a:r>
            <a:r>
              <a:rPr dirty="0" sz="1150" spc="15">
                <a:latin typeface="Times New Roman"/>
                <a:cs typeface="Times New Roman"/>
              </a:rPr>
              <a:t>is\n");  for(i=0;i&lt;n;i++)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35"/>
              </a:lnSpc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75"/>
              </a:lnSpc>
              <a:spcBef>
                <a:spcPts val="25"/>
              </a:spcBef>
            </a:pPr>
            <a:r>
              <a:rPr dirty="0" sz="1150" spc="15">
                <a:latin typeface="Times New Roman"/>
                <a:cs typeface="Times New Roman"/>
              </a:rPr>
              <a:t>printf("%d\n",a[i]);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70"/>
              </a:lnSpc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75"/>
              </a:lnSpc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Times New Roman"/>
                <a:cs typeface="Times New Roman"/>
              </a:rPr>
              <a:t>Selection Sort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ts val="1370"/>
              </a:lnSpc>
            </a:pPr>
            <a:r>
              <a:rPr dirty="0" sz="1150" spc="15">
                <a:latin typeface="Times New Roman"/>
                <a:cs typeface="Times New Roman"/>
              </a:rPr>
              <a:t>Selection </a:t>
            </a:r>
            <a:r>
              <a:rPr dirty="0" sz="1150" spc="10">
                <a:latin typeface="Times New Roman"/>
                <a:cs typeface="Times New Roman"/>
              </a:rPr>
              <a:t>sort </a:t>
            </a:r>
            <a:r>
              <a:rPr dirty="0" sz="1150" spc="15">
                <a:latin typeface="Times New Roman"/>
                <a:cs typeface="Times New Roman"/>
              </a:rPr>
              <a:t>will </a:t>
            </a:r>
            <a:r>
              <a:rPr dirty="0" sz="1150" spc="10">
                <a:latin typeface="Times New Roman"/>
                <a:cs typeface="Times New Roman"/>
              </a:rPr>
              <a:t>start </a:t>
            </a:r>
            <a:r>
              <a:rPr dirty="0" sz="1150" spc="15">
                <a:latin typeface="Times New Roman"/>
                <a:cs typeface="Times New Roman"/>
              </a:rPr>
              <a:t>by </a:t>
            </a:r>
            <a:r>
              <a:rPr dirty="0" sz="1150" spc="20">
                <a:latin typeface="Times New Roman"/>
                <a:cs typeface="Times New Roman"/>
              </a:rPr>
              <a:t>comparing </a:t>
            </a:r>
            <a:r>
              <a:rPr dirty="0" sz="1150" spc="15">
                <a:latin typeface="Times New Roman"/>
                <a:cs typeface="Times New Roman"/>
              </a:rPr>
              <a:t>the </a:t>
            </a:r>
            <a:r>
              <a:rPr dirty="0" sz="1150" spc="10">
                <a:latin typeface="Times New Roman"/>
                <a:cs typeface="Times New Roman"/>
              </a:rPr>
              <a:t>first </a:t>
            </a:r>
            <a:r>
              <a:rPr dirty="0" sz="1150" spc="20">
                <a:latin typeface="Times New Roman"/>
                <a:cs typeface="Times New Roman"/>
              </a:rPr>
              <a:t>element with </a:t>
            </a:r>
            <a:r>
              <a:rPr dirty="0" sz="1150" spc="15">
                <a:latin typeface="Times New Roman"/>
                <a:cs typeface="Times New Roman"/>
              </a:rPr>
              <a:t>other </a:t>
            </a:r>
            <a:r>
              <a:rPr dirty="0" sz="1150" spc="20">
                <a:latin typeface="Times New Roman"/>
                <a:cs typeface="Times New Roman"/>
              </a:rPr>
              <a:t>elements and </a:t>
            </a:r>
            <a:r>
              <a:rPr dirty="0" sz="1150" spc="15">
                <a:latin typeface="Times New Roman"/>
                <a:cs typeface="Times New Roman"/>
              </a:rPr>
              <a:t>finds  </a:t>
            </a:r>
            <a:r>
              <a:rPr dirty="0" sz="1150" spc="25">
                <a:latin typeface="Times New Roman"/>
                <a:cs typeface="Times New Roman"/>
              </a:rPr>
              <a:t>minimum </a:t>
            </a:r>
            <a:r>
              <a:rPr dirty="0" sz="1150" spc="20">
                <a:latin typeface="Times New Roman"/>
                <a:cs typeface="Times New Roman"/>
              </a:rPr>
              <a:t>element and swaps, then </a:t>
            </a:r>
            <a:r>
              <a:rPr dirty="0" sz="1150" spc="10">
                <a:latin typeface="Times New Roman"/>
                <a:cs typeface="Times New Roman"/>
              </a:rPr>
              <a:t>it </a:t>
            </a:r>
            <a:r>
              <a:rPr dirty="0" sz="1150" spc="15">
                <a:latin typeface="Times New Roman"/>
                <a:cs typeface="Times New Roman"/>
              </a:rPr>
              <a:t>starts </a:t>
            </a:r>
            <a:r>
              <a:rPr dirty="0" sz="1150" spc="20">
                <a:latin typeface="Times New Roman"/>
                <a:cs typeface="Times New Roman"/>
              </a:rPr>
              <a:t>comparing </a:t>
            </a:r>
            <a:r>
              <a:rPr dirty="0" sz="1150" spc="15">
                <a:latin typeface="Times New Roman"/>
                <a:cs typeface="Times New Roman"/>
              </a:rPr>
              <a:t>by </a:t>
            </a:r>
            <a:r>
              <a:rPr dirty="0" sz="1150" spc="20">
                <a:latin typeface="Times New Roman"/>
                <a:cs typeface="Times New Roman"/>
              </a:rPr>
              <a:t>taking </a:t>
            </a:r>
            <a:r>
              <a:rPr dirty="0" sz="1150" spc="15">
                <a:latin typeface="Times New Roman"/>
                <a:cs typeface="Times New Roman"/>
              </a:rPr>
              <a:t>second </a:t>
            </a:r>
            <a:r>
              <a:rPr dirty="0" sz="1150" spc="20">
                <a:latin typeface="Times New Roman"/>
                <a:cs typeface="Times New Roman"/>
              </a:rPr>
              <a:t>element with </a:t>
            </a:r>
            <a:r>
              <a:rPr dirty="0" sz="1150" spc="15">
                <a:latin typeface="Times New Roman"/>
                <a:cs typeface="Times New Roman"/>
              </a:rPr>
              <a:t>other  </a:t>
            </a:r>
            <a:r>
              <a:rPr dirty="0" sz="1150" spc="20">
                <a:latin typeface="Times New Roman"/>
                <a:cs typeface="Times New Roman"/>
              </a:rPr>
              <a:t>elements and </a:t>
            </a:r>
            <a:r>
              <a:rPr dirty="0" sz="1150" spc="15">
                <a:latin typeface="Times New Roman"/>
                <a:cs typeface="Times New Roman"/>
              </a:rPr>
              <a:t>so</a:t>
            </a:r>
            <a:r>
              <a:rPr dirty="0" sz="1150" spc="3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on.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75"/>
              </a:lnSpc>
            </a:pPr>
            <a:r>
              <a:rPr dirty="0" sz="1150" spc="20">
                <a:latin typeface="Times New Roman"/>
                <a:cs typeface="Times New Roman"/>
              </a:rPr>
              <a:t>#include&lt;stdio.h&gt;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75"/>
              </a:lnSpc>
            </a:pPr>
            <a:r>
              <a:rPr dirty="0" sz="1150" spc="10">
                <a:latin typeface="Times New Roman"/>
                <a:cs typeface="Times New Roman"/>
              </a:rPr>
              <a:t>int </a:t>
            </a:r>
            <a:r>
              <a:rPr dirty="0" sz="1150" spc="15">
                <a:latin typeface="Times New Roman"/>
                <a:cs typeface="Times New Roman"/>
              </a:rPr>
              <a:t>smallest(int arr[], int </a:t>
            </a:r>
            <a:r>
              <a:rPr dirty="0" sz="1150" spc="10">
                <a:latin typeface="Times New Roman"/>
                <a:cs typeface="Times New Roman"/>
              </a:rPr>
              <a:t>k, </a:t>
            </a:r>
            <a:r>
              <a:rPr dirty="0" sz="1150" spc="15">
                <a:latin typeface="Times New Roman"/>
                <a:cs typeface="Times New Roman"/>
              </a:rPr>
              <a:t>int</a:t>
            </a:r>
            <a:r>
              <a:rPr dirty="0" sz="1150" spc="65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n);</a:t>
            </a:r>
            <a:endParaRPr sz="1150">
              <a:latin typeface="Times New Roman"/>
              <a:cs typeface="Times New Roman"/>
            </a:endParaRPr>
          </a:p>
          <a:p>
            <a:pPr marL="12700" marR="3552190">
              <a:lnSpc>
                <a:spcPct val="100000"/>
              </a:lnSpc>
              <a:spcBef>
                <a:spcPts val="15"/>
              </a:spcBef>
            </a:pPr>
            <a:r>
              <a:rPr dirty="0" sz="1150" spc="20">
                <a:latin typeface="Times New Roman"/>
                <a:cs typeface="Times New Roman"/>
              </a:rPr>
              <a:t>void </a:t>
            </a:r>
            <a:r>
              <a:rPr dirty="0" sz="1150" spc="15">
                <a:latin typeface="Times New Roman"/>
                <a:cs typeface="Times New Roman"/>
              </a:rPr>
              <a:t>selection_sort(int arr[] </a:t>
            </a:r>
            <a:r>
              <a:rPr dirty="0" sz="1150" spc="5">
                <a:latin typeface="Times New Roman"/>
                <a:cs typeface="Times New Roman"/>
              </a:rPr>
              <a:t>, </a:t>
            </a:r>
            <a:r>
              <a:rPr dirty="0" sz="1150" spc="15">
                <a:latin typeface="Times New Roman"/>
                <a:cs typeface="Times New Roman"/>
              </a:rPr>
              <a:t>int </a:t>
            </a:r>
            <a:r>
              <a:rPr dirty="0" sz="1150" spc="10">
                <a:latin typeface="Times New Roman"/>
                <a:cs typeface="Times New Roman"/>
              </a:rPr>
              <a:t>n);  </a:t>
            </a:r>
            <a:r>
              <a:rPr dirty="0" sz="1150" spc="20">
                <a:latin typeface="Times New Roman"/>
                <a:cs typeface="Times New Roman"/>
              </a:rPr>
              <a:t>void main(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65"/>
              </a:lnSpc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75"/>
              </a:lnSpc>
            </a:pPr>
            <a:r>
              <a:rPr dirty="0" sz="1150" spc="10">
                <a:latin typeface="Times New Roman"/>
                <a:cs typeface="Times New Roman"/>
              </a:rPr>
              <a:t>int</a:t>
            </a:r>
            <a:r>
              <a:rPr dirty="0" sz="1150" spc="2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arr[100],i,n;</a:t>
            </a:r>
            <a:endParaRPr sz="1150">
              <a:latin typeface="Times New Roman"/>
              <a:cs typeface="Times New Roman"/>
            </a:endParaRPr>
          </a:p>
          <a:p>
            <a:pPr marL="12700" marR="3780154">
              <a:lnSpc>
                <a:spcPts val="1370"/>
              </a:lnSpc>
              <a:spcBef>
                <a:spcPts val="75"/>
              </a:spcBef>
            </a:pPr>
            <a:r>
              <a:rPr dirty="0" sz="1150" spc="15">
                <a:latin typeface="Times New Roman"/>
                <a:cs typeface="Times New Roman"/>
              </a:rPr>
              <a:t>printf("Enter the </a:t>
            </a:r>
            <a:r>
              <a:rPr dirty="0" sz="1150" spc="20">
                <a:latin typeface="Times New Roman"/>
                <a:cs typeface="Times New Roman"/>
              </a:rPr>
              <a:t>value </a:t>
            </a:r>
            <a:r>
              <a:rPr dirty="0" sz="1150" spc="15">
                <a:latin typeface="Times New Roman"/>
                <a:cs typeface="Times New Roman"/>
              </a:rPr>
              <a:t>of </a:t>
            </a:r>
            <a:r>
              <a:rPr dirty="0" sz="1150" spc="20">
                <a:latin typeface="Times New Roman"/>
                <a:cs typeface="Times New Roman"/>
              </a:rPr>
              <a:t>n\n");  scanf("%d",&amp;n);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20"/>
              </a:lnSpc>
            </a:pPr>
            <a:r>
              <a:rPr dirty="0" sz="1150" spc="15">
                <a:latin typeface="Times New Roman"/>
                <a:cs typeface="Times New Roman"/>
              </a:rPr>
              <a:t>printf("Enter the </a:t>
            </a:r>
            <a:r>
              <a:rPr dirty="0" sz="1150" spc="20">
                <a:latin typeface="Times New Roman"/>
                <a:cs typeface="Times New Roman"/>
              </a:rPr>
              <a:t>numbers in unsorted</a:t>
            </a:r>
            <a:r>
              <a:rPr dirty="0" sz="1150" spc="1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order:\n");</a:t>
            </a:r>
            <a:endParaRPr sz="1150">
              <a:latin typeface="Times New Roman"/>
              <a:cs typeface="Times New Roman"/>
            </a:endParaRPr>
          </a:p>
          <a:p>
            <a:pPr marL="12700" marR="4439920">
              <a:lnSpc>
                <a:spcPct val="102200"/>
              </a:lnSpc>
              <a:spcBef>
                <a:spcPts val="5"/>
              </a:spcBef>
            </a:pPr>
            <a:r>
              <a:rPr dirty="0" sz="1150" spc="15">
                <a:latin typeface="Times New Roman"/>
                <a:cs typeface="Times New Roman"/>
              </a:rPr>
              <a:t>for(i=0;i&lt;n;i++)  </a:t>
            </a:r>
            <a:r>
              <a:rPr dirty="0" sz="1150" spc="20">
                <a:latin typeface="Times New Roman"/>
                <a:cs typeface="Times New Roman"/>
              </a:rPr>
              <a:t>scanf("%d", </a:t>
            </a:r>
            <a:r>
              <a:rPr dirty="0" sz="1150" spc="15">
                <a:latin typeface="Times New Roman"/>
                <a:cs typeface="Times New Roman"/>
              </a:rPr>
              <a:t>&amp;a[i]);  selection_sort(arr,n);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150" spc="15">
                <a:latin typeface="Times New Roman"/>
                <a:cs typeface="Times New Roman"/>
              </a:rPr>
              <a:t>printf(“ sorted array is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:\n”);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331722"/>
            <a:ext cx="2004695" cy="30060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883919">
              <a:lnSpc>
                <a:spcPct val="1004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for(i=0;i&lt;n;i++)  printf("%d", </a:t>
            </a:r>
            <a:r>
              <a:rPr dirty="0" sz="1150" spc="10">
                <a:latin typeface="Times New Roman"/>
                <a:cs typeface="Times New Roman"/>
              </a:rPr>
              <a:t>a[i]);  </a:t>
            </a:r>
            <a:r>
              <a:rPr dirty="0" sz="1150" spc="15">
                <a:latin typeface="Times New Roman"/>
                <a:cs typeface="Times New Roman"/>
              </a:rPr>
              <a:t>getch();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60"/>
              </a:lnSpc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75"/>
              </a:lnSpc>
            </a:pPr>
            <a:r>
              <a:rPr dirty="0" sz="1150" spc="10">
                <a:latin typeface="Times New Roman"/>
                <a:cs typeface="Times New Roman"/>
              </a:rPr>
              <a:t>int </a:t>
            </a:r>
            <a:r>
              <a:rPr dirty="0" sz="1150" spc="15">
                <a:latin typeface="Times New Roman"/>
                <a:cs typeface="Times New Roman"/>
              </a:rPr>
              <a:t>smallest(int arr[], int </a:t>
            </a:r>
            <a:r>
              <a:rPr dirty="0" sz="1150" spc="10">
                <a:latin typeface="Times New Roman"/>
                <a:cs typeface="Times New Roman"/>
              </a:rPr>
              <a:t>k, </a:t>
            </a:r>
            <a:r>
              <a:rPr dirty="0" sz="1150" spc="15">
                <a:latin typeface="Times New Roman"/>
                <a:cs typeface="Times New Roman"/>
              </a:rPr>
              <a:t>int</a:t>
            </a:r>
            <a:r>
              <a:rPr dirty="0" sz="1150" spc="5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n)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12700" marR="366395">
              <a:lnSpc>
                <a:spcPts val="1360"/>
              </a:lnSpc>
              <a:spcBef>
                <a:spcPts val="60"/>
              </a:spcBef>
            </a:pPr>
            <a:r>
              <a:rPr dirty="0" sz="1150" spc="10">
                <a:latin typeface="Times New Roman"/>
                <a:cs typeface="Times New Roman"/>
              </a:rPr>
              <a:t>int </a:t>
            </a:r>
            <a:r>
              <a:rPr dirty="0" sz="1150" spc="15">
                <a:latin typeface="Times New Roman"/>
                <a:cs typeface="Times New Roman"/>
              </a:rPr>
              <a:t>pos=k, small=arr[k] </a:t>
            </a:r>
            <a:r>
              <a:rPr dirty="0" sz="1150" spc="5">
                <a:latin typeface="Times New Roman"/>
                <a:cs typeface="Times New Roman"/>
              </a:rPr>
              <a:t>, </a:t>
            </a:r>
            <a:r>
              <a:rPr dirty="0" sz="1150" spc="10">
                <a:latin typeface="Times New Roman"/>
                <a:cs typeface="Times New Roman"/>
              </a:rPr>
              <a:t>i;  </a:t>
            </a:r>
            <a:r>
              <a:rPr dirty="0" sz="1150" spc="15">
                <a:latin typeface="Times New Roman"/>
                <a:cs typeface="Times New Roman"/>
              </a:rPr>
              <a:t>for(i=k+1; i&lt;n;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i++)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60"/>
              </a:lnSpc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70"/>
              </a:lnSpc>
            </a:pPr>
            <a:r>
              <a:rPr dirty="0" sz="1150" spc="15">
                <a:latin typeface="Times New Roman"/>
                <a:cs typeface="Times New Roman"/>
              </a:rPr>
              <a:t>if(arr[i]&lt;small)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70"/>
              </a:lnSpc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12700" marR="1244600">
              <a:lnSpc>
                <a:spcPts val="1370"/>
              </a:lnSpc>
              <a:spcBef>
                <a:spcPts val="80"/>
              </a:spcBef>
            </a:pPr>
            <a:r>
              <a:rPr dirty="0" sz="1150" spc="-5">
                <a:latin typeface="Times New Roman"/>
                <a:cs typeface="Times New Roman"/>
              </a:rPr>
              <a:t>s</a:t>
            </a:r>
            <a:r>
              <a:rPr dirty="0" sz="1150">
                <a:latin typeface="Times New Roman"/>
                <a:cs typeface="Times New Roman"/>
              </a:rPr>
              <a:t>mall</a:t>
            </a:r>
            <a:r>
              <a:rPr dirty="0" sz="1150" spc="-15">
                <a:latin typeface="Times New Roman"/>
                <a:cs typeface="Times New Roman"/>
              </a:rPr>
              <a:t>=</a:t>
            </a:r>
            <a:r>
              <a:rPr dirty="0" sz="1150">
                <a:latin typeface="Times New Roman"/>
                <a:cs typeface="Times New Roman"/>
              </a:rPr>
              <a:t>arr[i</a:t>
            </a:r>
            <a:r>
              <a:rPr dirty="0" sz="1150" spc="-15">
                <a:latin typeface="Times New Roman"/>
                <a:cs typeface="Times New Roman"/>
              </a:rPr>
              <a:t>]</a:t>
            </a:r>
            <a:r>
              <a:rPr dirty="0" sz="1150">
                <a:latin typeface="Times New Roman"/>
                <a:cs typeface="Times New Roman"/>
              </a:rPr>
              <a:t>;  </a:t>
            </a:r>
            <a:r>
              <a:rPr dirty="0" sz="1150" spc="15">
                <a:latin typeface="Times New Roman"/>
                <a:cs typeface="Times New Roman"/>
              </a:rPr>
              <a:t>pos=i;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20"/>
              </a:lnSpc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75"/>
              </a:lnSpc>
            </a:pPr>
            <a:r>
              <a:rPr dirty="0" sz="1150" spc="15">
                <a:latin typeface="Times New Roman"/>
                <a:cs typeface="Times New Roman"/>
              </a:rPr>
              <a:t>return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pos;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75"/>
              </a:lnSpc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4488307"/>
            <a:ext cx="2502535" cy="2828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375"/>
              </a:lnSpc>
              <a:spcBef>
                <a:spcPts val="100"/>
              </a:spcBef>
            </a:pPr>
            <a:r>
              <a:rPr dirty="0" sz="1150" spc="20">
                <a:latin typeface="Times New Roman"/>
                <a:cs typeface="Times New Roman"/>
              </a:rPr>
              <a:t>void </a:t>
            </a:r>
            <a:r>
              <a:rPr dirty="0" sz="1150" spc="15">
                <a:latin typeface="Times New Roman"/>
                <a:cs typeface="Times New Roman"/>
              </a:rPr>
              <a:t>selection_sort(int arr[], int</a:t>
            </a:r>
            <a:r>
              <a:rPr dirty="0" sz="1150" spc="2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n)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70"/>
              </a:lnSpc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12700" marR="1314450">
              <a:lnSpc>
                <a:spcPts val="1400"/>
              </a:lnSpc>
              <a:spcBef>
                <a:spcPts val="25"/>
              </a:spcBef>
            </a:pPr>
            <a:r>
              <a:rPr dirty="0" sz="1150" spc="10">
                <a:latin typeface="Times New Roman"/>
                <a:cs typeface="Times New Roman"/>
              </a:rPr>
              <a:t>int </a:t>
            </a:r>
            <a:r>
              <a:rPr dirty="0" sz="1150" spc="20">
                <a:latin typeface="Times New Roman"/>
                <a:cs typeface="Times New Roman"/>
              </a:rPr>
              <a:t>k,pos,temp;  </a:t>
            </a:r>
            <a:r>
              <a:rPr dirty="0" sz="1150" spc="15">
                <a:latin typeface="Times New Roman"/>
                <a:cs typeface="Times New Roman"/>
              </a:rPr>
              <a:t>for(k=0; </a:t>
            </a:r>
            <a:r>
              <a:rPr dirty="0" sz="1150" spc="20">
                <a:latin typeface="Times New Roman"/>
                <a:cs typeface="Times New Roman"/>
              </a:rPr>
              <a:t>k&lt;n;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k++)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10"/>
              </a:lnSpc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12700" marR="1198880">
              <a:lnSpc>
                <a:spcPct val="99400"/>
              </a:lnSpc>
              <a:spcBef>
                <a:spcPts val="10"/>
              </a:spcBef>
            </a:pPr>
            <a:r>
              <a:rPr dirty="0" sz="1150" spc="-5">
                <a:latin typeface="Times New Roman"/>
                <a:cs typeface="Times New Roman"/>
              </a:rPr>
              <a:t>pos=smallest(arr,k,n);  </a:t>
            </a:r>
            <a:r>
              <a:rPr dirty="0" sz="1150" spc="20">
                <a:latin typeface="Times New Roman"/>
                <a:cs typeface="Times New Roman"/>
              </a:rPr>
              <a:t>temp=arr[k];  </a:t>
            </a:r>
            <a:r>
              <a:rPr dirty="0" sz="1150" spc="15">
                <a:latin typeface="Times New Roman"/>
                <a:cs typeface="Times New Roman"/>
              </a:rPr>
              <a:t>arr[k]=arr[pos];  </a:t>
            </a:r>
            <a:r>
              <a:rPr dirty="0" sz="1150" spc="20">
                <a:latin typeface="Times New Roman"/>
                <a:cs typeface="Times New Roman"/>
              </a:rPr>
              <a:t>arr[pos]=temp;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75"/>
              </a:lnSpc>
              <a:spcBef>
                <a:spcPts val="35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70"/>
              </a:lnSpc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75"/>
              </a:lnSpc>
            </a:pPr>
            <a:r>
              <a:rPr dirty="0" sz="1150" spc="15">
                <a:latin typeface="Times New Roman"/>
                <a:cs typeface="Times New Roman"/>
              </a:rPr>
              <a:t>Output:</a:t>
            </a:r>
            <a:endParaRPr sz="1150">
              <a:latin typeface="Times New Roman"/>
              <a:cs typeface="Times New Roman"/>
            </a:endParaRPr>
          </a:p>
          <a:p>
            <a:pPr algn="just" marL="12700" marR="5080">
              <a:lnSpc>
                <a:spcPts val="1370"/>
              </a:lnSpc>
              <a:spcBef>
                <a:spcPts val="80"/>
              </a:spcBef>
              <a:tabLst>
                <a:tab pos="2299970" algn="l"/>
              </a:tabLst>
            </a:pPr>
            <a:r>
              <a:rPr dirty="0" sz="1150" spc="20">
                <a:latin typeface="Times New Roman"/>
                <a:cs typeface="Times New Roman"/>
              </a:rPr>
              <a:t>Enter </a:t>
            </a:r>
            <a:r>
              <a:rPr dirty="0" sz="1150" spc="15">
                <a:latin typeface="Times New Roman"/>
                <a:cs typeface="Times New Roman"/>
              </a:rPr>
              <a:t>the </a:t>
            </a:r>
            <a:r>
              <a:rPr dirty="0" sz="1150" spc="20">
                <a:latin typeface="Times New Roman"/>
                <a:cs typeface="Times New Roman"/>
              </a:rPr>
              <a:t>number </a:t>
            </a:r>
            <a:r>
              <a:rPr dirty="0" sz="1150" spc="10">
                <a:latin typeface="Times New Roman"/>
                <a:cs typeface="Times New Roman"/>
              </a:rPr>
              <a:t>of </a:t>
            </a:r>
            <a:r>
              <a:rPr dirty="0" sz="1150" spc="20">
                <a:latin typeface="Times New Roman"/>
                <a:cs typeface="Times New Roman"/>
              </a:rPr>
              <a:t>elements in </a:t>
            </a:r>
            <a:r>
              <a:rPr dirty="0" sz="1150" spc="15">
                <a:latin typeface="Times New Roman"/>
                <a:cs typeface="Times New Roman"/>
              </a:rPr>
              <a:t>array: 6  </a:t>
            </a:r>
            <a:r>
              <a:rPr dirty="0" sz="1150" spc="20">
                <a:latin typeface="Times New Roman"/>
                <a:cs typeface="Times New Roman"/>
              </a:rPr>
              <a:t>Enter </a:t>
            </a:r>
            <a:r>
              <a:rPr dirty="0" sz="1150" spc="15">
                <a:latin typeface="Times New Roman"/>
                <a:cs typeface="Times New Roman"/>
              </a:rPr>
              <a:t>the </a:t>
            </a:r>
            <a:r>
              <a:rPr dirty="0" sz="1150" spc="20">
                <a:latin typeface="Times New Roman"/>
                <a:cs typeface="Times New Roman"/>
              </a:rPr>
              <a:t>element </a:t>
            </a:r>
            <a:r>
              <a:rPr dirty="0" sz="1150" spc="10">
                <a:latin typeface="Times New Roman"/>
                <a:cs typeface="Times New Roman"/>
              </a:rPr>
              <a:t>of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array:</a:t>
            </a:r>
            <a:r>
              <a:rPr dirty="0" sz="1150" spc="2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27	</a:t>
            </a:r>
            <a:r>
              <a:rPr dirty="0" sz="1150" spc="20">
                <a:latin typeface="Times New Roman"/>
                <a:cs typeface="Times New Roman"/>
              </a:rPr>
              <a:t>72  The </a:t>
            </a:r>
            <a:r>
              <a:rPr dirty="0" sz="1150" spc="15">
                <a:latin typeface="Times New Roman"/>
                <a:cs typeface="Times New Roman"/>
              </a:rPr>
              <a:t>sorted </a:t>
            </a:r>
            <a:r>
              <a:rPr dirty="0" sz="1150" spc="20">
                <a:latin typeface="Times New Roman"/>
                <a:cs typeface="Times New Roman"/>
              </a:rPr>
              <a:t>array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is</a:t>
            </a:r>
            <a:endParaRPr sz="1150">
              <a:latin typeface="Times New Roman"/>
              <a:cs typeface="Times New Roman"/>
            </a:endParaRPr>
          </a:p>
          <a:p>
            <a:pPr algn="just" marL="12700">
              <a:lnSpc>
                <a:spcPts val="1355"/>
              </a:lnSpc>
            </a:pPr>
            <a:r>
              <a:rPr dirty="0" sz="1150" spc="15">
                <a:latin typeface="Times New Roman"/>
                <a:cs typeface="Times New Roman"/>
              </a:rPr>
              <a:t>27 36 45 54 63</a:t>
            </a:r>
            <a:r>
              <a:rPr dirty="0" sz="1150" spc="195">
                <a:latin typeface="Times New Roman"/>
                <a:cs typeface="Times New Roman"/>
              </a:rPr>
              <a:t> </a:t>
            </a:r>
            <a:r>
              <a:rPr dirty="0" sz="1150" spc="35">
                <a:latin typeface="Times New Roman"/>
                <a:cs typeface="Times New Roman"/>
              </a:rPr>
              <a:t>72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47313" y="6763893"/>
            <a:ext cx="17780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20">
                <a:latin typeface="Times New Roman"/>
                <a:cs typeface="Times New Roman"/>
              </a:rPr>
              <a:t>36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4513" y="6763893"/>
            <a:ext cx="17780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20">
                <a:latin typeface="Times New Roman"/>
                <a:cs typeface="Times New Roman"/>
              </a:rPr>
              <a:t>63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61713" y="6763893"/>
            <a:ext cx="18097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35">
                <a:latin typeface="Times New Roman"/>
                <a:cs typeface="Times New Roman"/>
              </a:rPr>
              <a:t>45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7770" y="6763893"/>
            <a:ext cx="18097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35">
                <a:latin typeface="Times New Roman"/>
                <a:cs typeface="Times New Roman"/>
              </a:rPr>
              <a:t>54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2004" y="7468361"/>
            <a:ext cx="5751830" cy="897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375"/>
              </a:lnSpc>
              <a:spcBef>
                <a:spcPts val="100"/>
              </a:spcBef>
            </a:pPr>
            <a:r>
              <a:rPr dirty="0" sz="1150" spc="30" b="1">
                <a:latin typeface="Times New Roman"/>
                <a:cs typeface="Times New Roman"/>
              </a:rPr>
              <a:t>INSERTION</a:t>
            </a:r>
            <a:r>
              <a:rPr dirty="0" sz="1150" b="1">
                <a:latin typeface="Times New Roman"/>
                <a:cs typeface="Times New Roman"/>
              </a:rPr>
              <a:t> </a:t>
            </a:r>
            <a:r>
              <a:rPr dirty="0" sz="1150" spc="35" b="1">
                <a:latin typeface="Times New Roman"/>
                <a:cs typeface="Times New Roman"/>
              </a:rPr>
              <a:t>SORT</a:t>
            </a:r>
            <a:endParaRPr sz="11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99400"/>
              </a:lnSpc>
              <a:spcBef>
                <a:spcPts val="5"/>
              </a:spcBef>
            </a:pPr>
            <a:r>
              <a:rPr dirty="0" sz="1150" spc="5">
                <a:latin typeface="Times New Roman"/>
                <a:cs typeface="Times New Roman"/>
              </a:rPr>
              <a:t>It </a:t>
            </a:r>
            <a:r>
              <a:rPr dirty="0" sz="1150" spc="15">
                <a:latin typeface="Times New Roman"/>
                <a:cs typeface="Times New Roman"/>
              </a:rPr>
              <a:t>is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20">
                <a:latin typeface="Times New Roman"/>
                <a:cs typeface="Times New Roman"/>
              </a:rPr>
              <a:t>very simple </a:t>
            </a:r>
            <a:r>
              <a:rPr dirty="0" sz="1150" spc="15">
                <a:latin typeface="Times New Roman"/>
                <a:cs typeface="Times New Roman"/>
              </a:rPr>
              <a:t>sorting </a:t>
            </a:r>
            <a:r>
              <a:rPr dirty="0" sz="1150" spc="20">
                <a:latin typeface="Times New Roman"/>
                <a:cs typeface="Times New Roman"/>
              </a:rPr>
              <a:t>algorithm </a:t>
            </a:r>
            <a:r>
              <a:rPr dirty="0" sz="1150" spc="25">
                <a:latin typeface="Times New Roman"/>
                <a:cs typeface="Times New Roman"/>
              </a:rPr>
              <a:t>in </a:t>
            </a:r>
            <a:r>
              <a:rPr dirty="0" sz="1150" spc="20">
                <a:latin typeface="Times New Roman"/>
                <a:cs typeface="Times New Roman"/>
              </a:rPr>
              <a:t>which </a:t>
            </a:r>
            <a:r>
              <a:rPr dirty="0" sz="1150" spc="15">
                <a:latin typeface="Times New Roman"/>
                <a:cs typeface="Times New Roman"/>
              </a:rPr>
              <a:t>the sorted array </a:t>
            </a:r>
            <a:r>
              <a:rPr dirty="0" sz="1150" spc="20">
                <a:latin typeface="Times New Roman"/>
                <a:cs typeface="Times New Roman"/>
              </a:rPr>
              <a:t>is </a:t>
            </a:r>
            <a:r>
              <a:rPr dirty="0" sz="1150" spc="10">
                <a:latin typeface="Times New Roman"/>
                <a:cs typeface="Times New Roman"/>
              </a:rPr>
              <a:t>built </a:t>
            </a:r>
            <a:r>
              <a:rPr dirty="0" sz="1150" spc="15">
                <a:latin typeface="Times New Roman"/>
                <a:cs typeface="Times New Roman"/>
              </a:rPr>
              <a:t>one </a:t>
            </a:r>
            <a:r>
              <a:rPr dirty="0" sz="1150" spc="30">
                <a:latin typeface="Times New Roman"/>
                <a:cs typeface="Times New Roman"/>
              </a:rPr>
              <a:t>elementat </a:t>
            </a:r>
            <a:r>
              <a:rPr dirty="0" sz="1150" spc="10">
                <a:latin typeface="Times New Roman"/>
                <a:cs typeface="Times New Roman"/>
              </a:rPr>
              <a:t>a  </a:t>
            </a:r>
            <a:r>
              <a:rPr dirty="0" sz="1150" spc="15">
                <a:latin typeface="Times New Roman"/>
                <a:cs typeface="Times New Roman"/>
              </a:rPr>
              <a:t>time. </a:t>
            </a:r>
            <a:r>
              <a:rPr dirty="0" sz="1150" spc="5">
                <a:latin typeface="Times New Roman"/>
                <a:cs typeface="Times New Roman"/>
              </a:rPr>
              <a:t>It </a:t>
            </a:r>
            <a:r>
              <a:rPr dirty="0" sz="1150" spc="15">
                <a:latin typeface="Times New Roman"/>
                <a:cs typeface="Times New Roman"/>
              </a:rPr>
              <a:t>inserts </a:t>
            </a:r>
            <a:r>
              <a:rPr dirty="0" sz="1150" spc="20">
                <a:latin typeface="Times New Roman"/>
                <a:cs typeface="Times New Roman"/>
              </a:rPr>
              <a:t>each item into </a:t>
            </a:r>
            <a:r>
              <a:rPr dirty="0" sz="1150" spc="15">
                <a:latin typeface="Times New Roman"/>
                <a:cs typeface="Times New Roman"/>
              </a:rPr>
              <a:t>its proper place </a:t>
            </a:r>
            <a:r>
              <a:rPr dirty="0" sz="1150" spc="25">
                <a:latin typeface="Times New Roman"/>
                <a:cs typeface="Times New Roman"/>
              </a:rPr>
              <a:t>in </a:t>
            </a:r>
            <a:r>
              <a:rPr dirty="0" sz="1150" spc="15">
                <a:latin typeface="Times New Roman"/>
                <a:cs typeface="Times New Roman"/>
              </a:rPr>
              <a:t>the final list. </a:t>
            </a:r>
            <a:r>
              <a:rPr dirty="0" sz="1150" spc="5">
                <a:latin typeface="Times New Roman"/>
                <a:cs typeface="Times New Roman"/>
              </a:rPr>
              <a:t>It </a:t>
            </a:r>
            <a:r>
              <a:rPr dirty="0" sz="1150" spc="20">
                <a:latin typeface="Times New Roman"/>
                <a:cs typeface="Times New Roman"/>
              </a:rPr>
              <a:t>works </a:t>
            </a:r>
            <a:r>
              <a:rPr dirty="0" sz="1150" spc="15">
                <a:latin typeface="Times New Roman"/>
                <a:cs typeface="Times New Roman"/>
              </a:rPr>
              <a:t>by </a:t>
            </a:r>
            <a:r>
              <a:rPr dirty="0" sz="1150" spc="20">
                <a:latin typeface="Times New Roman"/>
                <a:cs typeface="Times New Roman"/>
              </a:rPr>
              <a:t>moving the </a:t>
            </a:r>
            <a:r>
              <a:rPr dirty="0" sz="1150" spc="15">
                <a:latin typeface="Times New Roman"/>
                <a:cs typeface="Times New Roman"/>
              </a:rPr>
              <a:t>current  data </a:t>
            </a:r>
            <a:r>
              <a:rPr dirty="0" sz="1150" spc="20">
                <a:latin typeface="Times New Roman"/>
                <a:cs typeface="Times New Roman"/>
              </a:rPr>
              <a:t>element </a:t>
            </a:r>
            <a:r>
              <a:rPr dirty="0" sz="1150" spc="15">
                <a:latin typeface="Times New Roman"/>
                <a:cs typeface="Times New Roman"/>
              </a:rPr>
              <a:t>past </a:t>
            </a:r>
            <a:r>
              <a:rPr dirty="0" sz="1150" spc="25">
                <a:latin typeface="Times New Roman"/>
                <a:cs typeface="Times New Roman"/>
              </a:rPr>
              <a:t>the </a:t>
            </a:r>
            <a:r>
              <a:rPr dirty="0" sz="1150" spc="20">
                <a:latin typeface="Times New Roman"/>
                <a:cs typeface="Times New Roman"/>
              </a:rPr>
              <a:t>already </a:t>
            </a:r>
            <a:r>
              <a:rPr dirty="0" sz="1150" spc="15">
                <a:latin typeface="Times New Roman"/>
                <a:cs typeface="Times New Roman"/>
              </a:rPr>
              <a:t>sorted </a:t>
            </a:r>
            <a:r>
              <a:rPr dirty="0" sz="1150" spc="20">
                <a:latin typeface="Times New Roman"/>
                <a:cs typeface="Times New Roman"/>
              </a:rPr>
              <a:t>values and repeatedly interchanging </a:t>
            </a:r>
            <a:r>
              <a:rPr dirty="0" sz="1150" spc="10">
                <a:latin typeface="Times New Roman"/>
                <a:cs typeface="Times New Roman"/>
              </a:rPr>
              <a:t>it </a:t>
            </a:r>
            <a:r>
              <a:rPr dirty="0" sz="1150" spc="20">
                <a:latin typeface="Times New Roman"/>
                <a:cs typeface="Times New Roman"/>
              </a:rPr>
              <a:t>with </a:t>
            </a:r>
            <a:r>
              <a:rPr dirty="0" sz="1150" spc="25">
                <a:latin typeface="Times New Roman"/>
                <a:cs typeface="Times New Roman"/>
              </a:rPr>
              <a:t>the </a:t>
            </a:r>
            <a:r>
              <a:rPr dirty="0" sz="1150" spc="20">
                <a:latin typeface="Times New Roman"/>
                <a:cs typeface="Times New Roman"/>
              </a:rPr>
              <a:t>preceding  value </a:t>
            </a:r>
            <a:r>
              <a:rPr dirty="0" sz="1150" spc="15">
                <a:latin typeface="Times New Roman"/>
                <a:cs typeface="Times New Roman"/>
              </a:rPr>
              <a:t>until </a:t>
            </a:r>
            <a:r>
              <a:rPr dirty="0" sz="1150" spc="10">
                <a:latin typeface="Times New Roman"/>
                <a:cs typeface="Times New Roman"/>
              </a:rPr>
              <a:t>it </a:t>
            </a:r>
            <a:r>
              <a:rPr dirty="0" sz="1150" spc="15">
                <a:latin typeface="Times New Roman"/>
                <a:cs typeface="Times New Roman"/>
              </a:rPr>
              <a:t>is </a:t>
            </a:r>
            <a:r>
              <a:rPr dirty="0" sz="1150" spc="20">
                <a:latin typeface="Times New Roman"/>
                <a:cs typeface="Times New Roman"/>
              </a:rPr>
              <a:t>in </a:t>
            </a:r>
            <a:r>
              <a:rPr dirty="0" sz="1150" spc="15">
                <a:latin typeface="Times New Roman"/>
                <a:cs typeface="Times New Roman"/>
              </a:rPr>
              <a:t>its correct</a:t>
            </a:r>
            <a:r>
              <a:rPr dirty="0" sz="1150" spc="3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place.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3107563"/>
            <a:ext cx="2973705" cy="5459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20">
                <a:latin typeface="Times New Roman"/>
                <a:cs typeface="Times New Roman"/>
              </a:rPr>
              <a:t>#include&lt;stdio.h&gt;</a:t>
            </a:r>
            <a:endParaRPr sz="1150">
              <a:latin typeface="Times New Roman"/>
              <a:cs typeface="Times New Roman"/>
            </a:endParaRPr>
          </a:p>
          <a:p>
            <a:pPr marL="12700" marR="835660">
              <a:lnSpc>
                <a:spcPts val="1370"/>
              </a:lnSpc>
              <a:spcBef>
                <a:spcPts val="80"/>
              </a:spcBef>
            </a:pPr>
            <a:r>
              <a:rPr dirty="0" sz="1150" spc="20">
                <a:latin typeface="Times New Roman"/>
                <a:cs typeface="Times New Roman"/>
              </a:rPr>
              <a:t>void </a:t>
            </a:r>
            <a:r>
              <a:rPr dirty="0" sz="1150" spc="15">
                <a:latin typeface="Times New Roman"/>
                <a:cs typeface="Times New Roman"/>
              </a:rPr>
              <a:t>insertion_sort(int arr[], int </a:t>
            </a:r>
            <a:r>
              <a:rPr dirty="0" sz="1150" spc="10">
                <a:latin typeface="Times New Roman"/>
                <a:cs typeface="Times New Roman"/>
              </a:rPr>
              <a:t>n);  </a:t>
            </a:r>
            <a:r>
              <a:rPr dirty="0" sz="1150" spc="20">
                <a:latin typeface="Times New Roman"/>
                <a:cs typeface="Times New Roman"/>
              </a:rPr>
              <a:t>void main(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20"/>
              </a:lnSpc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75"/>
              </a:lnSpc>
              <a:spcBef>
                <a:spcPts val="20"/>
              </a:spcBef>
            </a:pPr>
            <a:r>
              <a:rPr dirty="0" sz="1150" spc="10">
                <a:latin typeface="Times New Roman"/>
                <a:cs typeface="Times New Roman"/>
              </a:rPr>
              <a:t>int</a:t>
            </a:r>
            <a:r>
              <a:rPr dirty="0" sz="1150" spc="2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arr[100],I,n;</a:t>
            </a:r>
            <a:endParaRPr sz="1150">
              <a:latin typeface="Times New Roman"/>
              <a:cs typeface="Times New Roman"/>
            </a:endParaRPr>
          </a:p>
          <a:p>
            <a:pPr marL="12700" marR="1017905">
              <a:lnSpc>
                <a:spcPts val="1360"/>
              </a:lnSpc>
              <a:spcBef>
                <a:spcPts val="60"/>
              </a:spcBef>
            </a:pPr>
            <a:r>
              <a:rPr dirty="0" sz="1150" spc="20">
                <a:latin typeface="Times New Roman"/>
                <a:cs typeface="Times New Roman"/>
              </a:rPr>
              <a:t>printf("Enter </a:t>
            </a:r>
            <a:r>
              <a:rPr dirty="0" sz="1150" spc="15">
                <a:latin typeface="Times New Roman"/>
                <a:cs typeface="Times New Roman"/>
              </a:rPr>
              <a:t>the </a:t>
            </a:r>
            <a:r>
              <a:rPr dirty="0" sz="1150" spc="20">
                <a:latin typeface="Times New Roman"/>
                <a:cs typeface="Times New Roman"/>
              </a:rPr>
              <a:t>value </a:t>
            </a:r>
            <a:r>
              <a:rPr dirty="0" sz="1150" spc="15">
                <a:latin typeface="Times New Roman"/>
                <a:cs typeface="Times New Roman"/>
              </a:rPr>
              <a:t>of n\n");  </a:t>
            </a:r>
            <a:r>
              <a:rPr dirty="0" sz="1150" spc="20">
                <a:latin typeface="Times New Roman"/>
                <a:cs typeface="Times New Roman"/>
              </a:rPr>
              <a:t>scanf("%d",&amp;n);</a:t>
            </a:r>
            <a:endParaRPr sz="1150">
              <a:latin typeface="Times New Roman"/>
              <a:cs typeface="Times New Roman"/>
            </a:endParaRPr>
          </a:p>
          <a:p>
            <a:pPr marL="12700" marR="5080">
              <a:lnSpc>
                <a:spcPts val="1340"/>
              </a:lnSpc>
              <a:spcBef>
                <a:spcPts val="80"/>
              </a:spcBef>
            </a:pPr>
            <a:r>
              <a:rPr dirty="0" sz="1150" spc="15">
                <a:latin typeface="Times New Roman"/>
                <a:cs typeface="Times New Roman"/>
              </a:rPr>
              <a:t>printf("Enter the </a:t>
            </a:r>
            <a:r>
              <a:rPr dirty="0" sz="1150" spc="20">
                <a:latin typeface="Times New Roman"/>
                <a:cs typeface="Times New Roman"/>
              </a:rPr>
              <a:t>numbers in unsorted</a:t>
            </a:r>
            <a:r>
              <a:rPr dirty="0" sz="1150" spc="-16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order:\n");  for(i=0;i&lt;n;i++)</a:t>
            </a:r>
            <a:endParaRPr sz="1150">
              <a:latin typeface="Times New Roman"/>
              <a:cs typeface="Times New Roman"/>
            </a:endParaRPr>
          </a:p>
          <a:p>
            <a:pPr marL="12700" marR="1649095">
              <a:lnSpc>
                <a:spcPts val="1360"/>
              </a:lnSpc>
              <a:spcBef>
                <a:spcPts val="40"/>
              </a:spcBef>
            </a:pPr>
            <a:r>
              <a:rPr dirty="0" sz="1150" spc="20">
                <a:latin typeface="Times New Roman"/>
                <a:cs typeface="Times New Roman"/>
              </a:rPr>
              <a:t>scanf("%d",</a:t>
            </a:r>
            <a:r>
              <a:rPr dirty="0" sz="1150" spc="-3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&amp;arr[i]);  insertion_sort(arr,n);</a:t>
            </a:r>
            <a:endParaRPr sz="1150">
              <a:latin typeface="Times New Roman"/>
              <a:cs typeface="Times New Roman"/>
            </a:endParaRPr>
          </a:p>
          <a:p>
            <a:pPr marL="12700" marR="1099185">
              <a:lnSpc>
                <a:spcPts val="1370"/>
              </a:lnSpc>
              <a:spcBef>
                <a:spcPts val="5"/>
              </a:spcBef>
            </a:pPr>
            <a:r>
              <a:rPr dirty="0" sz="1150" spc="20">
                <a:latin typeface="Times New Roman"/>
                <a:cs typeface="Times New Roman"/>
              </a:rPr>
              <a:t>printf("The </a:t>
            </a:r>
            <a:r>
              <a:rPr dirty="0" sz="1150" spc="15">
                <a:latin typeface="Times New Roman"/>
                <a:cs typeface="Times New Roman"/>
              </a:rPr>
              <a:t>sorted </a:t>
            </a:r>
            <a:r>
              <a:rPr dirty="0" sz="1150" spc="20">
                <a:latin typeface="Times New Roman"/>
                <a:cs typeface="Times New Roman"/>
              </a:rPr>
              <a:t>array</a:t>
            </a:r>
            <a:r>
              <a:rPr dirty="0" sz="1150" spc="-16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is\n");  for(i=0;i&lt;n;i++)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65"/>
              </a:lnSpc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70"/>
              </a:lnSpc>
            </a:pPr>
            <a:r>
              <a:rPr dirty="0" sz="1150" spc="15">
                <a:latin typeface="Times New Roman"/>
                <a:cs typeface="Times New Roman"/>
              </a:rPr>
              <a:t>printf("%d\n",arr[i]);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75"/>
              </a:lnSpc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75"/>
              </a:lnSpc>
              <a:spcBef>
                <a:spcPts val="25"/>
              </a:spcBef>
            </a:pPr>
            <a:r>
              <a:rPr dirty="0" sz="1150" spc="15">
                <a:latin typeface="Times New Roman"/>
                <a:cs typeface="Times New Roman"/>
              </a:rPr>
              <a:t>getch();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75"/>
              </a:lnSpc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50" spc="20">
                <a:latin typeface="Times New Roman"/>
                <a:cs typeface="Times New Roman"/>
              </a:rPr>
              <a:t>void </a:t>
            </a:r>
            <a:r>
              <a:rPr dirty="0" sz="1150" spc="15">
                <a:latin typeface="Times New Roman"/>
                <a:cs typeface="Times New Roman"/>
              </a:rPr>
              <a:t>insertion_sort(int arr[], int</a:t>
            </a:r>
            <a:r>
              <a:rPr dirty="0" sz="1150" spc="2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n)</a:t>
            </a:r>
            <a:endParaRPr sz="1150">
              <a:latin typeface="Times New Roman"/>
              <a:cs typeface="Times New Roman"/>
            </a:endParaRPr>
          </a:p>
          <a:p>
            <a:pPr marL="12700" marR="2005330">
              <a:lnSpc>
                <a:spcPts val="1360"/>
              </a:lnSpc>
              <a:spcBef>
                <a:spcPts val="85"/>
              </a:spcBef>
            </a:pPr>
            <a:r>
              <a:rPr dirty="0" sz="1150" spc="15">
                <a:latin typeface="Times New Roman"/>
                <a:cs typeface="Times New Roman"/>
              </a:rPr>
              <a:t>{ int </a:t>
            </a:r>
            <a:r>
              <a:rPr dirty="0" sz="1150" spc="10">
                <a:latin typeface="Times New Roman"/>
                <a:cs typeface="Times New Roman"/>
              </a:rPr>
              <a:t>i, j, </a:t>
            </a:r>
            <a:r>
              <a:rPr dirty="0" sz="1150" spc="25">
                <a:latin typeface="Times New Roman"/>
                <a:cs typeface="Times New Roman"/>
              </a:rPr>
              <a:t>temp  </a:t>
            </a:r>
            <a:r>
              <a:rPr dirty="0" sz="1150">
                <a:latin typeface="Times New Roman"/>
                <a:cs typeface="Times New Roman"/>
              </a:rPr>
              <a:t>for(i=1;i</a:t>
            </a:r>
            <a:r>
              <a:rPr dirty="0" sz="1150" spc="-15">
                <a:latin typeface="Times New Roman"/>
                <a:cs typeface="Times New Roman"/>
              </a:rPr>
              <a:t>&lt;</a:t>
            </a:r>
            <a:r>
              <a:rPr dirty="0" sz="1150">
                <a:latin typeface="Times New Roman"/>
                <a:cs typeface="Times New Roman"/>
              </a:rPr>
              <a:t>n;i++)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20"/>
              </a:lnSpc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12700" marR="2237740">
              <a:lnSpc>
                <a:spcPts val="1370"/>
              </a:lnSpc>
              <a:spcBef>
                <a:spcPts val="80"/>
              </a:spcBef>
            </a:pPr>
            <a:r>
              <a:rPr dirty="0" sz="1150">
                <a:latin typeface="Times New Roman"/>
                <a:cs typeface="Times New Roman"/>
              </a:rPr>
              <a:t>temp</a:t>
            </a:r>
            <a:r>
              <a:rPr dirty="0" sz="1150" spc="-15">
                <a:latin typeface="Times New Roman"/>
                <a:cs typeface="Times New Roman"/>
              </a:rPr>
              <a:t>=</a:t>
            </a:r>
            <a:r>
              <a:rPr dirty="0" sz="1150">
                <a:latin typeface="Times New Roman"/>
                <a:cs typeface="Times New Roman"/>
              </a:rPr>
              <a:t>arr[i</a:t>
            </a:r>
            <a:r>
              <a:rPr dirty="0" sz="1150" spc="-15">
                <a:latin typeface="Times New Roman"/>
                <a:cs typeface="Times New Roman"/>
              </a:rPr>
              <a:t>]</a:t>
            </a:r>
            <a:r>
              <a:rPr dirty="0" sz="1150">
                <a:latin typeface="Times New Roman"/>
                <a:cs typeface="Times New Roman"/>
              </a:rPr>
              <a:t>;  </a:t>
            </a:r>
            <a:r>
              <a:rPr dirty="0" sz="1150" spc="10">
                <a:latin typeface="Times New Roman"/>
                <a:cs typeface="Times New Roman"/>
              </a:rPr>
              <a:t>j=i-1;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20"/>
              </a:lnSpc>
            </a:pPr>
            <a:r>
              <a:rPr dirty="0" sz="1150" spc="15">
                <a:latin typeface="Times New Roman"/>
                <a:cs typeface="Times New Roman"/>
              </a:rPr>
              <a:t>while((temp&lt;arr[j]) </a:t>
            </a:r>
            <a:r>
              <a:rPr dirty="0" sz="1150" spc="30">
                <a:latin typeface="Times New Roman"/>
                <a:cs typeface="Times New Roman"/>
              </a:rPr>
              <a:t>&amp;&amp;</a:t>
            </a:r>
            <a:r>
              <a:rPr dirty="0" sz="1150" spc="4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(j&gt;=0))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12700" marR="1958975">
              <a:lnSpc>
                <a:spcPts val="1360"/>
              </a:lnSpc>
              <a:spcBef>
                <a:spcPts val="65"/>
              </a:spcBef>
            </a:pPr>
            <a:r>
              <a:rPr dirty="0" sz="1150" spc="15">
                <a:latin typeface="Times New Roman"/>
                <a:cs typeface="Times New Roman"/>
              </a:rPr>
              <a:t>arr[j+1] =</a:t>
            </a:r>
            <a:r>
              <a:rPr dirty="0" sz="1150" spc="-4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arr[j];  </a:t>
            </a:r>
            <a:r>
              <a:rPr dirty="0" sz="1150" spc="10">
                <a:latin typeface="Times New Roman"/>
                <a:cs typeface="Times New Roman"/>
              </a:rPr>
              <a:t>j--;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50"/>
              </a:lnSpc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75"/>
              </a:lnSpc>
            </a:pPr>
            <a:r>
              <a:rPr dirty="0" sz="1150" spc="15">
                <a:latin typeface="Times New Roman"/>
                <a:cs typeface="Times New Roman"/>
              </a:rPr>
              <a:t>arr[j+1] =</a:t>
            </a:r>
            <a:r>
              <a:rPr dirty="0" sz="1150" spc="3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temp;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71600" y="1054608"/>
            <a:ext cx="2958465" cy="18409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9896" y="1327150"/>
            <a:ext cx="5420995" cy="937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STRINGS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marL="114300" marR="5080" indent="456565">
              <a:lnSpc>
                <a:spcPts val="1360"/>
              </a:lnSpc>
            </a:pPr>
            <a:r>
              <a:rPr dirty="0" sz="1150" spc="20">
                <a:latin typeface="Times New Roman"/>
                <a:cs typeface="Times New Roman"/>
              </a:rPr>
              <a:t>A </a:t>
            </a:r>
            <a:r>
              <a:rPr dirty="0" sz="1150" spc="15">
                <a:latin typeface="Times New Roman"/>
                <a:cs typeface="Times New Roman"/>
              </a:rPr>
              <a:t>String is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20">
                <a:latin typeface="Times New Roman"/>
                <a:cs typeface="Times New Roman"/>
              </a:rPr>
              <a:t>null-terminated </a:t>
            </a:r>
            <a:r>
              <a:rPr dirty="0" sz="1150" spc="15">
                <a:latin typeface="Times New Roman"/>
                <a:cs typeface="Times New Roman"/>
              </a:rPr>
              <a:t>character array. Last character is array </a:t>
            </a:r>
            <a:r>
              <a:rPr dirty="0" sz="1150" spc="20">
                <a:latin typeface="Times New Roman"/>
                <a:cs typeface="Times New Roman"/>
              </a:rPr>
              <a:t>in ‘\0’ </a:t>
            </a:r>
            <a:r>
              <a:rPr dirty="0" sz="1150" spc="15">
                <a:latin typeface="Times New Roman"/>
                <a:cs typeface="Times New Roman"/>
              </a:rPr>
              <a:t>null  character.</a:t>
            </a:r>
            <a:endParaRPr sz="1150">
              <a:latin typeface="Times New Roman"/>
              <a:cs typeface="Times New Roman"/>
            </a:endParaRPr>
          </a:p>
          <a:p>
            <a:pPr marL="114300">
              <a:lnSpc>
                <a:spcPts val="1360"/>
              </a:lnSpc>
            </a:pPr>
            <a:r>
              <a:rPr dirty="0" sz="1150" spc="20">
                <a:latin typeface="Times New Roman"/>
                <a:cs typeface="Times New Roman"/>
              </a:rPr>
              <a:t>Example: char </a:t>
            </a:r>
            <a:r>
              <a:rPr dirty="0" sz="1150" spc="25">
                <a:latin typeface="Times New Roman"/>
                <a:cs typeface="Times New Roman"/>
              </a:rPr>
              <a:t>str[]=”PROGRAM”;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3558667"/>
            <a:ext cx="5737860" cy="5162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456565">
              <a:lnSpc>
                <a:spcPct val="100699"/>
              </a:lnSpc>
              <a:spcBef>
                <a:spcPts val="90"/>
              </a:spcBef>
            </a:pPr>
            <a:r>
              <a:rPr dirty="0" sz="1150" spc="15">
                <a:latin typeface="Times New Roman"/>
                <a:cs typeface="Times New Roman"/>
              </a:rPr>
              <a:t>In the </a:t>
            </a:r>
            <a:r>
              <a:rPr dirty="0" sz="1150" spc="20">
                <a:latin typeface="Times New Roman"/>
                <a:cs typeface="Times New Roman"/>
              </a:rPr>
              <a:t>above example, </a:t>
            </a:r>
            <a:r>
              <a:rPr dirty="0" sz="1150" spc="10">
                <a:latin typeface="Times New Roman"/>
                <a:cs typeface="Times New Roman"/>
              </a:rPr>
              <a:t>str is a </a:t>
            </a:r>
            <a:r>
              <a:rPr dirty="0" sz="1150" spc="15">
                <a:latin typeface="Times New Roman"/>
                <a:cs typeface="Times New Roman"/>
              </a:rPr>
              <a:t>string storing the </a:t>
            </a:r>
            <a:r>
              <a:rPr dirty="0" sz="1150" spc="20">
                <a:latin typeface="Times New Roman"/>
                <a:cs typeface="Times New Roman"/>
              </a:rPr>
              <a:t>sequence </a:t>
            </a:r>
            <a:r>
              <a:rPr dirty="0" sz="1150" spc="15">
                <a:latin typeface="Times New Roman"/>
                <a:cs typeface="Times New Roman"/>
              </a:rPr>
              <a:t>of characters </a:t>
            </a:r>
            <a:r>
              <a:rPr dirty="0" sz="1150" spc="30">
                <a:latin typeface="Times New Roman"/>
                <a:cs typeface="Times New Roman"/>
              </a:rPr>
              <a:t>“PROGRAM”.  </a:t>
            </a:r>
            <a:r>
              <a:rPr dirty="0" sz="1150" spc="25">
                <a:latin typeface="Times New Roman"/>
                <a:cs typeface="Times New Roman"/>
              </a:rPr>
              <a:t>To </a:t>
            </a:r>
            <a:r>
              <a:rPr dirty="0" sz="1150" spc="15">
                <a:latin typeface="Times New Roman"/>
                <a:cs typeface="Times New Roman"/>
              </a:rPr>
              <a:t>store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15">
                <a:latin typeface="Times New Roman"/>
                <a:cs typeface="Times New Roman"/>
              </a:rPr>
              <a:t>string of </a:t>
            </a:r>
            <a:r>
              <a:rPr dirty="0" sz="1150" spc="20">
                <a:latin typeface="Times New Roman"/>
                <a:cs typeface="Times New Roman"/>
              </a:rPr>
              <a:t>length </a:t>
            </a:r>
            <a:r>
              <a:rPr dirty="0" sz="1150" spc="10">
                <a:latin typeface="Times New Roman"/>
                <a:cs typeface="Times New Roman"/>
              </a:rPr>
              <a:t>7, </a:t>
            </a:r>
            <a:r>
              <a:rPr dirty="0" sz="1150" spc="20">
                <a:latin typeface="Times New Roman"/>
                <a:cs typeface="Times New Roman"/>
              </a:rPr>
              <a:t>we need </a:t>
            </a:r>
            <a:r>
              <a:rPr dirty="0" sz="1150" spc="15">
                <a:latin typeface="Times New Roman"/>
                <a:cs typeface="Times New Roman"/>
              </a:rPr>
              <a:t>7+1 location </a:t>
            </a:r>
            <a:r>
              <a:rPr dirty="0" sz="1150" spc="10">
                <a:latin typeface="Times New Roman"/>
                <a:cs typeface="Times New Roman"/>
              </a:rPr>
              <a:t>( </a:t>
            </a:r>
            <a:r>
              <a:rPr dirty="0" sz="1150" spc="15">
                <a:latin typeface="Times New Roman"/>
                <a:cs typeface="Times New Roman"/>
              </a:rPr>
              <a:t>1 extra for the null character). </a:t>
            </a:r>
            <a:r>
              <a:rPr dirty="0" sz="1150" spc="25">
                <a:latin typeface="Times New Roman"/>
                <a:cs typeface="Times New Roman"/>
              </a:rPr>
              <a:t>The name  </a:t>
            </a:r>
            <a:r>
              <a:rPr dirty="0" sz="1150" spc="15">
                <a:latin typeface="Times New Roman"/>
                <a:cs typeface="Times New Roman"/>
              </a:rPr>
              <a:t>of the character </a:t>
            </a:r>
            <a:r>
              <a:rPr dirty="0" sz="1150" spc="20">
                <a:latin typeface="Times New Roman"/>
                <a:cs typeface="Times New Roman"/>
              </a:rPr>
              <a:t>array </a:t>
            </a:r>
            <a:r>
              <a:rPr dirty="0" sz="1150" spc="15">
                <a:latin typeface="Times New Roman"/>
                <a:cs typeface="Times New Roman"/>
              </a:rPr>
              <a:t>is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15">
                <a:latin typeface="Times New Roman"/>
                <a:cs typeface="Times New Roman"/>
              </a:rPr>
              <a:t>pointer </a:t>
            </a:r>
            <a:r>
              <a:rPr dirty="0" sz="1150" spc="20">
                <a:latin typeface="Times New Roman"/>
                <a:cs typeface="Times New Roman"/>
              </a:rPr>
              <a:t>to </a:t>
            </a:r>
            <a:r>
              <a:rPr dirty="0" sz="1150" spc="15">
                <a:latin typeface="Times New Roman"/>
                <a:cs typeface="Times New Roman"/>
              </a:rPr>
              <a:t>the </a:t>
            </a:r>
            <a:r>
              <a:rPr dirty="0" sz="1150" spc="20">
                <a:latin typeface="Times New Roman"/>
                <a:cs typeface="Times New Roman"/>
              </a:rPr>
              <a:t>beginning </a:t>
            </a:r>
            <a:r>
              <a:rPr dirty="0" sz="1150" spc="15">
                <a:latin typeface="Times New Roman"/>
                <a:cs typeface="Times New Roman"/>
              </a:rPr>
              <a:t>of the string. </a:t>
            </a:r>
            <a:r>
              <a:rPr dirty="0" sz="1150" spc="25">
                <a:latin typeface="Times New Roman"/>
                <a:cs typeface="Times New Roman"/>
              </a:rPr>
              <a:t>The </a:t>
            </a:r>
            <a:r>
              <a:rPr dirty="0" sz="1150" spc="15">
                <a:latin typeface="Times New Roman"/>
                <a:cs typeface="Times New Roman"/>
              </a:rPr>
              <a:t>subscript starts </a:t>
            </a:r>
            <a:r>
              <a:rPr dirty="0" sz="1150" spc="20">
                <a:latin typeface="Times New Roman"/>
                <a:cs typeface="Times New Roman"/>
              </a:rPr>
              <a:t>with </a:t>
            </a:r>
            <a:r>
              <a:rPr dirty="0" sz="1150" spc="10">
                <a:latin typeface="Times New Roman"/>
                <a:cs typeface="Times New Roman"/>
              </a:rPr>
              <a:t>a  </a:t>
            </a:r>
            <a:r>
              <a:rPr dirty="0" sz="1150" spc="15">
                <a:latin typeface="Times New Roman"/>
                <a:cs typeface="Times New Roman"/>
              </a:rPr>
              <a:t>zero. All the characters of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15">
                <a:latin typeface="Times New Roman"/>
                <a:cs typeface="Times New Roman"/>
              </a:rPr>
              <a:t>string </a:t>
            </a:r>
            <a:r>
              <a:rPr dirty="0" sz="1150" spc="20">
                <a:latin typeface="Times New Roman"/>
                <a:cs typeface="Times New Roman"/>
              </a:rPr>
              <a:t>array </a:t>
            </a:r>
            <a:r>
              <a:rPr dirty="0" sz="1150" spc="15">
                <a:latin typeface="Times New Roman"/>
                <a:cs typeface="Times New Roman"/>
              </a:rPr>
              <a:t>are stored in successive </a:t>
            </a:r>
            <a:r>
              <a:rPr dirty="0" sz="1150" spc="25">
                <a:latin typeface="Times New Roman"/>
                <a:cs typeface="Times New Roman"/>
              </a:rPr>
              <a:t>memory </a:t>
            </a:r>
            <a:r>
              <a:rPr dirty="0" sz="1150" spc="15">
                <a:latin typeface="Times New Roman"/>
                <a:cs typeface="Times New Roman"/>
              </a:rPr>
              <a:t>locations. In figure,  </a:t>
            </a:r>
            <a:r>
              <a:rPr dirty="0" sz="1150" spc="20">
                <a:latin typeface="Times New Roman"/>
                <a:cs typeface="Times New Roman"/>
              </a:rPr>
              <a:t>we can </a:t>
            </a:r>
            <a:r>
              <a:rPr dirty="0" sz="1150" spc="15">
                <a:latin typeface="Times New Roman"/>
                <a:cs typeface="Times New Roman"/>
              </a:rPr>
              <a:t>see the address is 1000, 1001 </a:t>
            </a:r>
            <a:r>
              <a:rPr dirty="0" sz="1150" spc="20">
                <a:latin typeface="Times New Roman"/>
                <a:cs typeface="Times New Roman"/>
              </a:rPr>
              <a:t>and </a:t>
            </a:r>
            <a:r>
              <a:rPr dirty="0" sz="1150" spc="15">
                <a:latin typeface="Times New Roman"/>
                <a:cs typeface="Times New Roman"/>
              </a:rPr>
              <a:t>so</a:t>
            </a:r>
            <a:r>
              <a:rPr dirty="0" sz="1150" spc="6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on.</a:t>
            </a:r>
            <a:endParaRPr sz="11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745"/>
              </a:spcBef>
            </a:pPr>
            <a:r>
              <a:rPr dirty="0" sz="1150" spc="25" b="1">
                <a:latin typeface="Times New Roman"/>
                <a:cs typeface="Times New Roman"/>
              </a:rPr>
              <a:t>Declaring </a:t>
            </a:r>
            <a:r>
              <a:rPr dirty="0" sz="1150" spc="20" b="1">
                <a:latin typeface="Times New Roman"/>
                <a:cs typeface="Times New Roman"/>
              </a:rPr>
              <a:t>string variables: </a:t>
            </a:r>
            <a:r>
              <a:rPr dirty="0" sz="1150" spc="20">
                <a:latin typeface="Times New Roman"/>
                <a:cs typeface="Times New Roman"/>
              </a:rPr>
              <a:t>A </a:t>
            </a:r>
            <a:r>
              <a:rPr dirty="0" sz="1150" spc="15">
                <a:latin typeface="Times New Roman"/>
                <a:cs typeface="Times New Roman"/>
              </a:rPr>
              <a:t>string is declared like </a:t>
            </a:r>
            <a:r>
              <a:rPr dirty="0" sz="1150" spc="20">
                <a:latin typeface="Times New Roman"/>
                <a:cs typeface="Times New Roman"/>
              </a:rPr>
              <a:t>an </a:t>
            </a:r>
            <a:r>
              <a:rPr dirty="0" sz="1150" spc="15">
                <a:latin typeface="Times New Roman"/>
                <a:cs typeface="Times New Roman"/>
              </a:rPr>
              <a:t>array of</a:t>
            </a:r>
            <a:r>
              <a:rPr dirty="0" sz="1150" spc="4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characters.</a:t>
            </a:r>
            <a:endParaRPr sz="115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925"/>
              </a:spcBef>
            </a:pPr>
            <a:r>
              <a:rPr dirty="0" sz="1150" spc="25" b="1">
                <a:latin typeface="Times New Roman"/>
                <a:cs typeface="Times New Roman"/>
              </a:rPr>
              <a:t>Syntax: </a:t>
            </a:r>
            <a:r>
              <a:rPr dirty="0" sz="1150" spc="15">
                <a:latin typeface="Times New Roman"/>
                <a:cs typeface="Times New Roman"/>
              </a:rPr>
              <a:t>char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string_name[size];</a:t>
            </a:r>
            <a:endParaRPr sz="1150">
              <a:latin typeface="Times New Roman"/>
              <a:cs typeface="Times New Roman"/>
            </a:endParaRPr>
          </a:p>
          <a:p>
            <a:pPr marL="826135">
              <a:lnSpc>
                <a:spcPct val="100000"/>
              </a:lnSpc>
              <a:spcBef>
                <a:spcPts val="960"/>
              </a:spcBef>
            </a:pPr>
            <a:r>
              <a:rPr dirty="0" sz="1150" spc="25" b="1">
                <a:latin typeface="Times New Roman"/>
                <a:cs typeface="Times New Roman"/>
              </a:rPr>
              <a:t>Ex: </a:t>
            </a:r>
            <a:r>
              <a:rPr dirty="0" sz="1150" spc="15">
                <a:latin typeface="Times New Roman"/>
                <a:cs typeface="Times New Roman"/>
              </a:rPr>
              <a:t>char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name[21];</a:t>
            </a:r>
            <a:endParaRPr sz="1150">
              <a:latin typeface="Times New Roman"/>
              <a:cs typeface="Times New Roman"/>
            </a:endParaRPr>
          </a:p>
          <a:p>
            <a:pPr algn="just" marL="12700" marR="5080">
              <a:lnSpc>
                <a:spcPct val="107800"/>
              </a:lnSpc>
              <a:spcBef>
                <a:spcPts val="855"/>
              </a:spcBef>
            </a:pPr>
            <a:r>
              <a:rPr dirty="0" sz="1150" spc="15">
                <a:latin typeface="Times New Roman"/>
                <a:cs typeface="Times New Roman"/>
              </a:rPr>
              <a:t>Size 21 </a:t>
            </a:r>
            <a:r>
              <a:rPr dirty="0" sz="1150" spc="20">
                <a:latin typeface="Times New Roman"/>
                <a:cs typeface="Times New Roman"/>
              </a:rPr>
              <a:t>means </a:t>
            </a:r>
            <a:r>
              <a:rPr dirty="0" sz="1150" spc="10">
                <a:latin typeface="Times New Roman"/>
                <a:cs typeface="Times New Roman"/>
              </a:rPr>
              <a:t>it </a:t>
            </a:r>
            <a:r>
              <a:rPr dirty="0" sz="1150" spc="20">
                <a:latin typeface="Times New Roman"/>
                <a:cs typeface="Times New Roman"/>
              </a:rPr>
              <a:t>can </a:t>
            </a:r>
            <a:r>
              <a:rPr dirty="0" sz="1150" spc="15">
                <a:latin typeface="Times New Roman"/>
                <a:cs typeface="Times New Roman"/>
              </a:rPr>
              <a:t>store up </a:t>
            </a:r>
            <a:r>
              <a:rPr dirty="0" sz="1150" spc="25">
                <a:latin typeface="Times New Roman"/>
                <a:cs typeface="Times New Roman"/>
              </a:rPr>
              <a:t>to </a:t>
            </a:r>
            <a:r>
              <a:rPr dirty="0" sz="1150" spc="15">
                <a:latin typeface="Times New Roman"/>
                <a:cs typeface="Times New Roman"/>
              </a:rPr>
              <a:t>20 characters plus the </a:t>
            </a:r>
            <a:r>
              <a:rPr dirty="0" sz="1150" spc="10">
                <a:latin typeface="Times New Roman"/>
                <a:cs typeface="Times New Roman"/>
              </a:rPr>
              <a:t>null </a:t>
            </a:r>
            <a:r>
              <a:rPr dirty="0" sz="1150" spc="15">
                <a:latin typeface="Times New Roman"/>
                <a:cs typeface="Times New Roman"/>
              </a:rPr>
              <a:t>character. Entire storage location  </a:t>
            </a:r>
            <a:r>
              <a:rPr dirty="0" sz="1150" spc="25">
                <a:latin typeface="Times New Roman"/>
                <a:cs typeface="Times New Roman"/>
              </a:rPr>
              <a:t>name</a:t>
            </a:r>
            <a:r>
              <a:rPr dirty="0" sz="1150" spc="-4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is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divided</a:t>
            </a:r>
            <a:r>
              <a:rPr dirty="0" sz="1150" spc="-4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in</a:t>
            </a:r>
            <a:r>
              <a:rPr dirty="0" sz="1150" spc="-35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to</a:t>
            </a:r>
            <a:r>
              <a:rPr dirty="0" sz="1150" spc="-1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21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boxes</a:t>
            </a:r>
            <a:r>
              <a:rPr dirty="0" sz="1150" spc="-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called</a:t>
            </a:r>
            <a:r>
              <a:rPr dirty="0" sz="1150" spc="-2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bytes,</a:t>
            </a:r>
            <a:r>
              <a:rPr dirty="0" sz="1150" spc="20">
                <a:latin typeface="Times New Roman"/>
                <a:cs typeface="Times New Roman"/>
              </a:rPr>
              <a:t> each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of</a:t>
            </a:r>
            <a:r>
              <a:rPr dirty="0" sz="1150" spc="-2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which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holds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one</a:t>
            </a:r>
            <a:r>
              <a:rPr dirty="0" sz="1150" spc="-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character.</a:t>
            </a:r>
            <a:r>
              <a:rPr dirty="0" sz="1150" spc="-20">
                <a:latin typeface="Times New Roman"/>
                <a:cs typeface="Times New Roman"/>
              </a:rPr>
              <a:t> </a:t>
            </a:r>
            <a:r>
              <a:rPr dirty="0" sz="1150" spc="30">
                <a:latin typeface="Times New Roman"/>
                <a:cs typeface="Times New Roman"/>
              </a:rPr>
              <a:t>Each</a:t>
            </a:r>
            <a:r>
              <a:rPr dirty="0" sz="1150" spc="-2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character  </a:t>
            </a:r>
            <a:r>
              <a:rPr dirty="0" sz="1150" spc="10">
                <a:latin typeface="Times New Roman"/>
                <a:cs typeface="Times New Roman"/>
              </a:rPr>
              <a:t>is </a:t>
            </a:r>
            <a:r>
              <a:rPr dirty="0" sz="1150" spc="20">
                <a:latin typeface="Times New Roman"/>
                <a:cs typeface="Times New Roman"/>
              </a:rPr>
              <a:t>element </a:t>
            </a:r>
            <a:r>
              <a:rPr dirty="0" sz="1150" spc="15">
                <a:latin typeface="Times New Roman"/>
                <a:cs typeface="Times New Roman"/>
              </a:rPr>
              <a:t>of data </a:t>
            </a:r>
            <a:r>
              <a:rPr dirty="0" sz="1150" spc="20">
                <a:latin typeface="Times New Roman"/>
                <a:cs typeface="Times New Roman"/>
              </a:rPr>
              <a:t>type</a:t>
            </a:r>
            <a:r>
              <a:rPr dirty="0" sz="1150" spc="6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char.</a:t>
            </a:r>
            <a:endParaRPr sz="11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40"/>
              </a:spcBef>
            </a:pPr>
            <a:r>
              <a:rPr dirty="0" sz="1150" spc="20" b="1">
                <a:latin typeface="Times New Roman"/>
                <a:cs typeface="Times New Roman"/>
              </a:rPr>
              <a:t>Initializing </a:t>
            </a:r>
            <a:r>
              <a:rPr dirty="0" sz="1150" spc="25" b="1">
                <a:latin typeface="Times New Roman"/>
                <a:cs typeface="Times New Roman"/>
              </a:rPr>
              <a:t>the </a:t>
            </a:r>
            <a:r>
              <a:rPr dirty="0" sz="1150" spc="20" b="1">
                <a:latin typeface="Times New Roman"/>
                <a:cs typeface="Times New Roman"/>
              </a:rPr>
              <a:t>string in </a:t>
            </a:r>
            <a:r>
              <a:rPr dirty="0" sz="1150" spc="25" b="1">
                <a:latin typeface="Times New Roman"/>
                <a:cs typeface="Times New Roman"/>
              </a:rPr>
              <a:t>the</a:t>
            </a:r>
            <a:r>
              <a:rPr dirty="0" sz="1150" spc="-50" b="1">
                <a:latin typeface="Times New Roman"/>
                <a:cs typeface="Times New Roman"/>
              </a:rPr>
              <a:t> </a:t>
            </a:r>
            <a:r>
              <a:rPr dirty="0" sz="1150" spc="20" b="1">
                <a:latin typeface="Times New Roman"/>
                <a:cs typeface="Times New Roman"/>
              </a:rPr>
              <a:t>declaration:</a:t>
            </a:r>
            <a:endParaRPr sz="1150">
              <a:latin typeface="Times New Roman"/>
              <a:cs typeface="Times New Roman"/>
            </a:endParaRPr>
          </a:p>
          <a:p>
            <a:pPr algn="just" marL="12700" marR="5080">
              <a:lnSpc>
                <a:spcPct val="107000"/>
              </a:lnSpc>
            </a:pPr>
            <a:r>
              <a:rPr dirty="0" sz="1150" spc="20">
                <a:latin typeface="Times New Roman"/>
                <a:cs typeface="Times New Roman"/>
              </a:rPr>
              <a:t>The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following</a:t>
            </a:r>
            <a:r>
              <a:rPr dirty="0" sz="1150" spc="-1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code</a:t>
            </a:r>
            <a:r>
              <a:rPr dirty="0" sz="1150" spc="15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shows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to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initialize</a:t>
            </a:r>
            <a:r>
              <a:rPr dirty="0" sz="1150" spc="-2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a</a:t>
            </a:r>
            <a:r>
              <a:rPr dirty="0" sz="1150" spc="4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string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30">
                <a:latin typeface="Times New Roman"/>
                <a:cs typeface="Times New Roman"/>
              </a:rPr>
              <a:t>as</a:t>
            </a:r>
            <a:r>
              <a:rPr dirty="0" sz="1150" spc="-2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an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array</a:t>
            </a:r>
            <a:r>
              <a:rPr dirty="0" sz="1150" spc="3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of</a:t>
            </a:r>
            <a:r>
              <a:rPr dirty="0" sz="1150" spc="-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characters.</a:t>
            </a:r>
            <a:r>
              <a:rPr dirty="0" sz="1150" spc="30">
                <a:latin typeface="Times New Roman"/>
                <a:cs typeface="Times New Roman"/>
              </a:rPr>
              <a:t> We</a:t>
            </a:r>
            <a:r>
              <a:rPr dirty="0" sz="1150" spc="1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need</a:t>
            </a:r>
            <a:r>
              <a:rPr dirty="0" sz="1150" spc="-2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to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explicitly  </a:t>
            </a:r>
            <a:r>
              <a:rPr dirty="0" sz="1150" spc="20">
                <a:latin typeface="Times New Roman"/>
                <a:cs typeface="Times New Roman"/>
              </a:rPr>
              <a:t>add </a:t>
            </a:r>
            <a:r>
              <a:rPr dirty="0" sz="1150" spc="15">
                <a:latin typeface="Times New Roman"/>
                <a:cs typeface="Times New Roman"/>
              </a:rPr>
              <a:t>the </a:t>
            </a:r>
            <a:r>
              <a:rPr dirty="0" sz="1150" spc="10">
                <a:latin typeface="Times New Roman"/>
                <a:cs typeface="Times New Roman"/>
              </a:rPr>
              <a:t>null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character.</a:t>
            </a:r>
            <a:endParaRPr sz="11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20"/>
              </a:spcBef>
            </a:pPr>
            <a:r>
              <a:rPr dirty="0" sz="1150" spc="15">
                <a:latin typeface="Times New Roman"/>
                <a:cs typeface="Times New Roman"/>
              </a:rPr>
              <a:t>char</a:t>
            </a:r>
            <a:r>
              <a:rPr dirty="0" sz="1150" spc="3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str[]={‘H’,’E’,’L’,’L’,’O’,’\0’};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00">
              <a:latin typeface="Times New Roman"/>
              <a:cs typeface="Times New Roman"/>
            </a:endParaRPr>
          </a:p>
          <a:p>
            <a:pPr algn="just" marL="12700" marR="13970">
              <a:lnSpc>
                <a:spcPct val="107000"/>
              </a:lnSpc>
              <a:spcBef>
                <a:spcPts val="5"/>
              </a:spcBef>
            </a:pPr>
            <a:r>
              <a:rPr dirty="0" sz="1150" spc="25">
                <a:latin typeface="Times New Roman"/>
                <a:cs typeface="Times New Roman"/>
              </a:rPr>
              <a:t>We </a:t>
            </a:r>
            <a:r>
              <a:rPr dirty="0" sz="1150" spc="20">
                <a:latin typeface="Times New Roman"/>
                <a:cs typeface="Times New Roman"/>
              </a:rPr>
              <a:t>can </a:t>
            </a:r>
            <a:r>
              <a:rPr dirty="0" sz="1150" spc="15">
                <a:latin typeface="Times New Roman"/>
                <a:cs typeface="Times New Roman"/>
              </a:rPr>
              <a:t>also declare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15">
                <a:latin typeface="Times New Roman"/>
                <a:cs typeface="Times New Roman"/>
              </a:rPr>
              <a:t>string with size </a:t>
            </a:r>
            <a:r>
              <a:rPr dirty="0" sz="1150" spc="25">
                <a:latin typeface="Times New Roman"/>
                <a:cs typeface="Times New Roman"/>
              </a:rPr>
              <a:t>much </a:t>
            </a:r>
            <a:r>
              <a:rPr dirty="0" sz="1150" spc="15">
                <a:latin typeface="Times New Roman"/>
                <a:cs typeface="Times New Roman"/>
              </a:rPr>
              <a:t>larger </a:t>
            </a:r>
            <a:r>
              <a:rPr dirty="0" sz="1150" spc="20">
                <a:latin typeface="Times New Roman"/>
                <a:cs typeface="Times New Roman"/>
              </a:rPr>
              <a:t>than </a:t>
            </a:r>
            <a:r>
              <a:rPr dirty="0" sz="1150" spc="15">
                <a:latin typeface="Times New Roman"/>
                <a:cs typeface="Times New Roman"/>
              </a:rPr>
              <a:t>the </a:t>
            </a:r>
            <a:r>
              <a:rPr dirty="0" sz="1150" spc="20">
                <a:latin typeface="Times New Roman"/>
                <a:cs typeface="Times New Roman"/>
              </a:rPr>
              <a:t>number </a:t>
            </a:r>
            <a:r>
              <a:rPr dirty="0" sz="1150" spc="15">
                <a:latin typeface="Times New Roman"/>
                <a:cs typeface="Times New Roman"/>
              </a:rPr>
              <a:t>of </a:t>
            </a:r>
            <a:r>
              <a:rPr dirty="0" sz="1150" spc="20">
                <a:latin typeface="Times New Roman"/>
                <a:cs typeface="Times New Roman"/>
              </a:rPr>
              <a:t>elements </a:t>
            </a:r>
            <a:r>
              <a:rPr dirty="0" sz="1150" spc="15">
                <a:latin typeface="Times New Roman"/>
                <a:cs typeface="Times New Roman"/>
              </a:rPr>
              <a:t>that are  initialized.</a:t>
            </a:r>
            <a:endParaRPr sz="11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5">
                <a:latin typeface="Times New Roman"/>
                <a:cs typeface="Times New Roman"/>
              </a:rPr>
              <a:t>char</a:t>
            </a:r>
            <a:r>
              <a:rPr dirty="0" sz="1150" spc="20">
                <a:latin typeface="Times New Roman"/>
                <a:cs typeface="Times New Roman"/>
              </a:rPr>
              <a:t> str[10]=”HELLO”;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1400" spc="-5" b="1">
                <a:latin typeface="Times New Roman"/>
                <a:cs typeface="Times New Roman"/>
              </a:rPr>
              <a:t>Reading</a:t>
            </a:r>
            <a:r>
              <a:rPr dirty="0" sz="1400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Strings</a:t>
            </a:r>
            <a:endParaRPr sz="14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40"/>
              </a:spcBef>
            </a:pPr>
            <a:r>
              <a:rPr dirty="0" sz="1150" spc="15">
                <a:latin typeface="Times New Roman"/>
                <a:cs typeface="Times New Roman"/>
              </a:rPr>
              <a:t>Strings </a:t>
            </a:r>
            <a:r>
              <a:rPr dirty="0" sz="1150" spc="20">
                <a:latin typeface="Times New Roman"/>
                <a:cs typeface="Times New Roman"/>
              </a:rPr>
              <a:t>can </a:t>
            </a:r>
            <a:r>
              <a:rPr dirty="0" sz="1150" spc="15">
                <a:latin typeface="Times New Roman"/>
                <a:cs typeface="Times New Roman"/>
              </a:rPr>
              <a:t>be </a:t>
            </a:r>
            <a:r>
              <a:rPr dirty="0" sz="1150" spc="20">
                <a:latin typeface="Times New Roman"/>
                <a:cs typeface="Times New Roman"/>
              </a:rPr>
              <a:t>read using </a:t>
            </a:r>
            <a:r>
              <a:rPr dirty="0" sz="1150" spc="15">
                <a:latin typeface="Times New Roman"/>
                <a:cs typeface="Times New Roman"/>
              </a:rPr>
              <a:t>3</a:t>
            </a:r>
            <a:r>
              <a:rPr dirty="0" sz="1150" spc="5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ways</a:t>
            </a:r>
            <a:endParaRPr sz="1150">
              <a:latin typeface="Times New Roman"/>
              <a:cs typeface="Times New Roman"/>
            </a:endParaRPr>
          </a:p>
          <a:p>
            <a:pPr marL="469265" indent="-230504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20">
                <a:latin typeface="Times New Roman"/>
                <a:cs typeface="Times New Roman"/>
              </a:rPr>
              <a:t>Using </a:t>
            </a:r>
            <a:r>
              <a:rPr dirty="0" sz="1150" spc="15">
                <a:latin typeface="Times New Roman"/>
                <a:cs typeface="Times New Roman"/>
              </a:rPr>
              <a:t>scanf()</a:t>
            </a:r>
            <a:r>
              <a:rPr dirty="0" sz="1150" spc="9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function</a:t>
            </a:r>
            <a:endParaRPr sz="1150">
              <a:latin typeface="Times New Roman"/>
              <a:cs typeface="Times New Roman"/>
            </a:endParaRPr>
          </a:p>
          <a:p>
            <a:pPr marL="469265" indent="-230504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20">
                <a:latin typeface="Times New Roman"/>
                <a:cs typeface="Times New Roman"/>
              </a:rPr>
              <a:t>Using </a:t>
            </a:r>
            <a:r>
              <a:rPr dirty="0" sz="1150" spc="15">
                <a:latin typeface="Times New Roman"/>
                <a:cs typeface="Times New Roman"/>
              </a:rPr>
              <a:t>gets()</a:t>
            </a:r>
            <a:r>
              <a:rPr dirty="0" sz="1150" spc="5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function</a:t>
            </a:r>
            <a:endParaRPr sz="1150">
              <a:latin typeface="Times New Roman"/>
              <a:cs typeface="Times New Roman"/>
            </a:endParaRPr>
          </a:p>
          <a:p>
            <a:pPr marL="469265" indent="-230504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20">
                <a:latin typeface="Times New Roman"/>
                <a:cs typeface="Times New Roman"/>
              </a:rPr>
              <a:t>Using </a:t>
            </a:r>
            <a:r>
              <a:rPr dirty="0" sz="1150" spc="15">
                <a:latin typeface="Times New Roman"/>
                <a:cs typeface="Times New Roman"/>
              </a:rPr>
              <a:t>getchar(), getch() or getche()</a:t>
            </a:r>
            <a:r>
              <a:rPr dirty="0" sz="1150" spc="17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function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65555" y="2486025"/>
            <a:ext cx="5019675" cy="876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340866"/>
            <a:ext cx="5793105" cy="76301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25" b="1">
                <a:latin typeface="Times New Roman"/>
                <a:cs typeface="Times New Roman"/>
              </a:rPr>
              <a:t>Using </a:t>
            </a:r>
            <a:r>
              <a:rPr dirty="0" sz="1150" spc="20" b="1">
                <a:latin typeface="Times New Roman"/>
                <a:cs typeface="Times New Roman"/>
              </a:rPr>
              <a:t>scanf()</a:t>
            </a:r>
            <a:r>
              <a:rPr dirty="0" sz="1150" spc="-10" b="1">
                <a:latin typeface="Times New Roman"/>
                <a:cs typeface="Times New Roman"/>
              </a:rPr>
              <a:t> </a:t>
            </a:r>
            <a:r>
              <a:rPr dirty="0" sz="1150" spc="20" b="1">
                <a:latin typeface="Times New Roman"/>
                <a:cs typeface="Times New Roman"/>
              </a:rPr>
              <a:t>function</a:t>
            </a:r>
            <a:endParaRPr sz="1150">
              <a:latin typeface="Times New Roman"/>
              <a:cs typeface="Times New Roman"/>
            </a:endParaRPr>
          </a:p>
          <a:p>
            <a:pPr marL="928369" marR="2642870" indent="-459105">
              <a:lnSpc>
                <a:spcPts val="1500"/>
              </a:lnSpc>
              <a:spcBef>
                <a:spcPts val="10"/>
              </a:spcBef>
            </a:pPr>
            <a:r>
              <a:rPr dirty="0" sz="1150" spc="15">
                <a:latin typeface="Times New Roman"/>
                <a:cs typeface="Times New Roman"/>
              </a:rPr>
              <a:t>Strings </a:t>
            </a:r>
            <a:r>
              <a:rPr dirty="0" sz="1150" spc="20">
                <a:latin typeface="Times New Roman"/>
                <a:cs typeface="Times New Roman"/>
              </a:rPr>
              <a:t>can </a:t>
            </a:r>
            <a:r>
              <a:rPr dirty="0" sz="1150" spc="15">
                <a:latin typeface="Times New Roman"/>
                <a:cs typeface="Times New Roman"/>
              </a:rPr>
              <a:t>be </a:t>
            </a:r>
            <a:r>
              <a:rPr dirty="0" sz="1150" spc="20">
                <a:latin typeface="Times New Roman"/>
                <a:cs typeface="Times New Roman"/>
              </a:rPr>
              <a:t>read using </a:t>
            </a:r>
            <a:r>
              <a:rPr dirty="0" sz="1150" spc="15">
                <a:latin typeface="Times New Roman"/>
                <a:cs typeface="Times New Roman"/>
              </a:rPr>
              <a:t>scanf() by writing  scanf(“%s”,str);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20">
                <a:latin typeface="Times New Roman"/>
                <a:cs typeface="Times New Roman"/>
              </a:rPr>
              <a:t>Example:</a:t>
            </a:r>
            <a:endParaRPr sz="1150">
              <a:latin typeface="Times New Roman"/>
              <a:cs typeface="Times New Roman"/>
            </a:endParaRPr>
          </a:p>
          <a:p>
            <a:pPr marL="12700" marR="4575810">
              <a:lnSpc>
                <a:spcPct val="108700"/>
              </a:lnSpc>
              <a:spcBef>
                <a:spcPts val="25"/>
              </a:spcBef>
            </a:pPr>
            <a:r>
              <a:rPr dirty="0" sz="1150" spc="15">
                <a:latin typeface="Times New Roman"/>
                <a:cs typeface="Times New Roman"/>
              </a:rPr>
              <a:t>char </a:t>
            </a:r>
            <a:r>
              <a:rPr dirty="0" sz="1150" spc="20">
                <a:latin typeface="Times New Roman"/>
                <a:cs typeface="Times New Roman"/>
              </a:rPr>
              <a:t>name[20];  scanf(“%s”,</a:t>
            </a:r>
            <a:r>
              <a:rPr dirty="0" sz="1150" spc="-5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name);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 marR="181610">
              <a:lnSpc>
                <a:spcPct val="107000"/>
              </a:lnSpc>
            </a:pPr>
            <a:r>
              <a:rPr dirty="0" sz="1150" spc="20">
                <a:latin typeface="Times New Roman"/>
                <a:cs typeface="Times New Roman"/>
              </a:rPr>
              <a:t>The disadvantage </a:t>
            </a:r>
            <a:r>
              <a:rPr dirty="0" sz="1150" spc="15">
                <a:latin typeface="Times New Roman"/>
                <a:cs typeface="Times New Roman"/>
              </a:rPr>
              <a:t>of </a:t>
            </a:r>
            <a:r>
              <a:rPr dirty="0" sz="1150" spc="20">
                <a:latin typeface="Times New Roman"/>
                <a:cs typeface="Times New Roman"/>
              </a:rPr>
              <a:t>scanf() </a:t>
            </a:r>
            <a:r>
              <a:rPr dirty="0" sz="1150" spc="15">
                <a:latin typeface="Times New Roman"/>
                <a:cs typeface="Times New Roman"/>
              </a:rPr>
              <a:t>is that the function </a:t>
            </a:r>
            <a:r>
              <a:rPr dirty="0" sz="1150" spc="20">
                <a:latin typeface="Times New Roman"/>
                <a:cs typeface="Times New Roman"/>
              </a:rPr>
              <a:t>terminates </a:t>
            </a:r>
            <a:r>
              <a:rPr dirty="0" sz="1150" spc="15">
                <a:latin typeface="Times New Roman"/>
                <a:cs typeface="Times New Roman"/>
              </a:rPr>
              <a:t>as soon as </a:t>
            </a:r>
            <a:r>
              <a:rPr dirty="0" sz="1150" spc="10">
                <a:latin typeface="Times New Roman"/>
                <a:cs typeface="Times New Roman"/>
              </a:rPr>
              <a:t>it </a:t>
            </a:r>
            <a:r>
              <a:rPr dirty="0" sz="1150" spc="15">
                <a:latin typeface="Times New Roman"/>
                <a:cs typeface="Times New Roman"/>
              </a:rPr>
              <a:t>finds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20">
                <a:latin typeface="Times New Roman"/>
                <a:cs typeface="Times New Roman"/>
              </a:rPr>
              <a:t>blank </a:t>
            </a:r>
            <a:r>
              <a:rPr dirty="0" sz="1150" spc="15">
                <a:latin typeface="Times New Roman"/>
                <a:cs typeface="Times New Roman"/>
              </a:rPr>
              <a:t>space.  For </a:t>
            </a:r>
            <a:r>
              <a:rPr dirty="0" sz="1150" spc="20">
                <a:latin typeface="Times New Roman"/>
                <a:cs typeface="Times New Roman"/>
              </a:rPr>
              <a:t>example, </a:t>
            </a:r>
            <a:r>
              <a:rPr dirty="0" sz="1150" spc="15">
                <a:latin typeface="Times New Roman"/>
                <a:cs typeface="Times New Roman"/>
              </a:rPr>
              <a:t>if the user enters </a:t>
            </a:r>
            <a:r>
              <a:rPr dirty="0" sz="1150" spc="20">
                <a:latin typeface="Times New Roman"/>
                <a:cs typeface="Times New Roman"/>
              </a:rPr>
              <a:t>Hello World, then </a:t>
            </a:r>
            <a:r>
              <a:rPr dirty="0" sz="1150" spc="25">
                <a:latin typeface="Times New Roman"/>
                <a:cs typeface="Times New Roman"/>
              </a:rPr>
              <a:t>name </a:t>
            </a:r>
            <a:r>
              <a:rPr dirty="0" sz="1150" spc="15">
                <a:latin typeface="Times New Roman"/>
                <a:cs typeface="Times New Roman"/>
              </a:rPr>
              <a:t>will </a:t>
            </a:r>
            <a:r>
              <a:rPr dirty="0" sz="1150" spc="20">
                <a:latin typeface="Times New Roman"/>
                <a:cs typeface="Times New Roman"/>
              </a:rPr>
              <a:t>contain only</a:t>
            </a:r>
            <a:r>
              <a:rPr dirty="0" sz="1150" spc="6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Hello.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25" b="1">
                <a:latin typeface="Times New Roman"/>
                <a:cs typeface="Times New Roman"/>
              </a:rPr>
              <a:t>Using </a:t>
            </a:r>
            <a:r>
              <a:rPr dirty="0" sz="1150" spc="20" b="1">
                <a:latin typeface="Times New Roman"/>
                <a:cs typeface="Times New Roman"/>
              </a:rPr>
              <a:t>gets()</a:t>
            </a:r>
            <a:r>
              <a:rPr dirty="0" sz="1150" spc="-10" b="1">
                <a:latin typeface="Times New Roman"/>
                <a:cs typeface="Times New Roman"/>
              </a:rPr>
              <a:t> </a:t>
            </a:r>
            <a:r>
              <a:rPr dirty="0" sz="1150" spc="20" b="1">
                <a:latin typeface="Times New Roman"/>
                <a:cs typeface="Times New Roman"/>
              </a:rPr>
              <a:t>function</a:t>
            </a:r>
            <a:endParaRPr sz="1150">
              <a:latin typeface="Times New Roman"/>
              <a:cs typeface="Times New Roman"/>
            </a:endParaRPr>
          </a:p>
          <a:p>
            <a:pPr algn="just" marL="928369" marR="3297554" indent="-459105">
              <a:lnSpc>
                <a:spcPct val="106100"/>
              </a:lnSpc>
              <a:spcBef>
                <a:spcPts val="10"/>
              </a:spcBef>
            </a:pPr>
            <a:r>
              <a:rPr dirty="0" sz="1150" spc="20">
                <a:latin typeface="Times New Roman"/>
                <a:cs typeface="Times New Roman"/>
              </a:rPr>
              <a:t>The </a:t>
            </a:r>
            <a:r>
              <a:rPr dirty="0" sz="1150" spc="15">
                <a:latin typeface="Times New Roman"/>
                <a:cs typeface="Times New Roman"/>
              </a:rPr>
              <a:t>string can be </a:t>
            </a:r>
            <a:r>
              <a:rPr dirty="0" sz="1150" spc="20">
                <a:latin typeface="Times New Roman"/>
                <a:cs typeface="Times New Roman"/>
              </a:rPr>
              <a:t>read </a:t>
            </a:r>
            <a:r>
              <a:rPr dirty="0" sz="1150" spc="25">
                <a:latin typeface="Times New Roman"/>
                <a:cs typeface="Times New Roman"/>
              </a:rPr>
              <a:t>by</a:t>
            </a:r>
            <a:r>
              <a:rPr dirty="0" sz="1150" spc="-6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writing  gets(str);</a:t>
            </a:r>
            <a:endParaRPr sz="1150">
              <a:latin typeface="Times New Roman"/>
              <a:cs typeface="Times New Roman"/>
            </a:endParaRPr>
          </a:p>
          <a:p>
            <a:pPr algn="just" marL="12700" marR="60325">
              <a:lnSpc>
                <a:spcPct val="107800"/>
              </a:lnSpc>
              <a:spcBef>
                <a:spcPts val="35"/>
              </a:spcBef>
            </a:pPr>
            <a:r>
              <a:rPr dirty="0" sz="1150" spc="15">
                <a:latin typeface="Times New Roman"/>
                <a:cs typeface="Times New Roman"/>
              </a:rPr>
              <a:t>gets() </a:t>
            </a:r>
            <a:r>
              <a:rPr dirty="0" sz="1150" spc="20">
                <a:latin typeface="Times New Roman"/>
                <a:cs typeface="Times New Roman"/>
              </a:rPr>
              <a:t>overcomes </a:t>
            </a:r>
            <a:r>
              <a:rPr dirty="0" sz="1150" spc="15">
                <a:latin typeface="Times New Roman"/>
                <a:cs typeface="Times New Roman"/>
              </a:rPr>
              <a:t>the </a:t>
            </a:r>
            <a:r>
              <a:rPr dirty="0" sz="1150" spc="20">
                <a:latin typeface="Times New Roman"/>
                <a:cs typeface="Times New Roman"/>
              </a:rPr>
              <a:t>drawbacks </a:t>
            </a:r>
            <a:r>
              <a:rPr dirty="0" sz="1150" spc="15">
                <a:latin typeface="Times New Roman"/>
                <a:cs typeface="Times New Roman"/>
              </a:rPr>
              <a:t>of scanf() function. </a:t>
            </a:r>
            <a:r>
              <a:rPr dirty="0" sz="1150" spc="40">
                <a:latin typeface="Times New Roman"/>
                <a:cs typeface="Times New Roman"/>
              </a:rPr>
              <a:t>It </a:t>
            </a:r>
            <a:r>
              <a:rPr dirty="0" sz="1150" spc="20">
                <a:latin typeface="Times New Roman"/>
                <a:cs typeface="Times New Roman"/>
              </a:rPr>
              <a:t>takes </a:t>
            </a:r>
            <a:r>
              <a:rPr dirty="0" sz="1150" spc="15">
                <a:latin typeface="Times New Roman"/>
                <a:cs typeface="Times New Roman"/>
              </a:rPr>
              <a:t>the starting </a:t>
            </a:r>
            <a:r>
              <a:rPr dirty="0" sz="1150" spc="20">
                <a:latin typeface="Times New Roman"/>
                <a:cs typeface="Times New Roman"/>
              </a:rPr>
              <a:t>address </a:t>
            </a:r>
            <a:r>
              <a:rPr dirty="0" sz="1150" spc="15">
                <a:latin typeface="Times New Roman"/>
                <a:cs typeface="Times New Roman"/>
              </a:rPr>
              <a:t>of the string  </a:t>
            </a:r>
            <a:r>
              <a:rPr dirty="0" sz="1150" spc="20">
                <a:latin typeface="Times New Roman"/>
                <a:cs typeface="Times New Roman"/>
              </a:rPr>
              <a:t>which </a:t>
            </a:r>
            <a:r>
              <a:rPr dirty="0" sz="1150" spc="15">
                <a:latin typeface="Times New Roman"/>
                <a:cs typeface="Times New Roman"/>
              </a:rPr>
              <a:t>will </a:t>
            </a:r>
            <a:r>
              <a:rPr dirty="0" sz="1150" spc="20">
                <a:latin typeface="Times New Roman"/>
                <a:cs typeface="Times New Roman"/>
              </a:rPr>
              <a:t>hold </a:t>
            </a:r>
            <a:r>
              <a:rPr dirty="0" sz="1150" spc="15">
                <a:latin typeface="Times New Roman"/>
                <a:cs typeface="Times New Roman"/>
              </a:rPr>
              <a:t>the input. </a:t>
            </a:r>
            <a:r>
              <a:rPr dirty="0" sz="1150" spc="25">
                <a:latin typeface="Times New Roman"/>
                <a:cs typeface="Times New Roman"/>
              </a:rPr>
              <a:t>The </a:t>
            </a:r>
            <a:r>
              <a:rPr dirty="0" sz="1150" spc="15">
                <a:latin typeface="Times New Roman"/>
                <a:cs typeface="Times New Roman"/>
              </a:rPr>
              <a:t>string inputted </a:t>
            </a:r>
            <a:r>
              <a:rPr dirty="0" sz="1150" spc="20">
                <a:latin typeface="Times New Roman"/>
                <a:cs typeface="Times New Roman"/>
              </a:rPr>
              <a:t>using </a:t>
            </a:r>
            <a:r>
              <a:rPr dirty="0" sz="1150" spc="15">
                <a:latin typeface="Times New Roman"/>
                <a:cs typeface="Times New Roman"/>
              </a:rPr>
              <a:t>gets() is </a:t>
            </a:r>
            <a:r>
              <a:rPr dirty="0" sz="1150" spc="20">
                <a:latin typeface="Times New Roman"/>
                <a:cs typeface="Times New Roman"/>
              </a:rPr>
              <a:t>automatically terminated </a:t>
            </a:r>
            <a:r>
              <a:rPr dirty="0" sz="1150" spc="15">
                <a:latin typeface="Times New Roman"/>
                <a:cs typeface="Times New Roman"/>
              </a:rPr>
              <a:t>with </a:t>
            </a:r>
            <a:r>
              <a:rPr dirty="0" sz="1150" spc="10">
                <a:latin typeface="Times New Roman"/>
                <a:cs typeface="Times New Roman"/>
              </a:rPr>
              <a:t>a  </a:t>
            </a:r>
            <a:r>
              <a:rPr dirty="0" sz="1150" spc="15">
                <a:latin typeface="Times New Roman"/>
                <a:cs typeface="Times New Roman"/>
              </a:rPr>
              <a:t>null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character.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50" spc="25" b="1">
                <a:latin typeface="Times New Roman"/>
                <a:cs typeface="Times New Roman"/>
              </a:rPr>
              <a:t>Using </a:t>
            </a:r>
            <a:r>
              <a:rPr dirty="0" sz="1150" spc="20" b="1">
                <a:latin typeface="Times New Roman"/>
                <a:cs typeface="Times New Roman"/>
              </a:rPr>
              <a:t>getchar()</a:t>
            </a:r>
            <a:r>
              <a:rPr dirty="0" sz="1150" spc="-10" b="1">
                <a:latin typeface="Times New Roman"/>
                <a:cs typeface="Times New Roman"/>
              </a:rPr>
              <a:t> </a:t>
            </a:r>
            <a:r>
              <a:rPr dirty="0" sz="1150" spc="20" b="1">
                <a:latin typeface="Times New Roman"/>
                <a:cs typeface="Times New Roman"/>
              </a:rPr>
              <a:t>function</a:t>
            </a:r>
            <a:endParaRPr sz="1150">
              <a:latin typeface="Times New Roman"/>
              <a:cs typeface="Times New Roman"/>
            </a:endParaRPr>
          </a:p>
          <a:p>
            <a:pPr marL="12700" marR="5080" indent="456565">
              <a:lnSpc>
                <a:spcPts val="1500"/>
              </a:lnSpc>
              <a:spcBef>
                <a:spcPts val="10"/>
              </a:spcBef>
            </a:pPr>
            <a:r>
              <a:rPr dirty="0" sz="1150" spc="15">
                <a:latin typeface="Times New Roman"/>
                <a:cs typeface="Times New Roman"/>
              </a:rPr>
              <a:t>Strings </a:t>
            </a:r>
            <a:r>
              <a:rPr dirty="0" sz="1150" spc="20">
                <a:latin typeface="Times New Roman"/>
                <a:cs typeface="Times New Roman"/>
              </a:rPr>
              <a:t>can </a:t>
            </a:r>
            <a:r>
              <a:rPr dirty="0" sz="1150" spc="15">
                <a:latin typeface="Times New Roman"/>
                <a:cs typeface="Times New Roman"/>
              </a:rPr>
              <a:t>also be </a:t>
            </a:r>
            <a:r>
              <a:rPr dirty="0" sz="1150" spc="20">
                <a:latin typeface="Times New Roman"/>
                <a:cs typeface="Times New Roman"/>
              </a:rPr>
              <a:t>read </a:t>
            </a:r>
            <a:r>
              <a:rPr dirty="0" sz="1150" spc="15">
                <a:latin typeface="Times New Roman"/>
                <a:cs typeface="Times New Roman"/>
              </a:rPr>
              <a:t>by calling the getchar() function </a:t>
            </a:r>
            <a:r>
              <a:rPr dirty="0" sz="1150" spc="20">
                <a:latin typeface="Times New Roman"/>
                <a:cs typeface="Times New Roman"/>
              </a:rPr>
              <a:t>repeatedly to </a:t>
            </a:r>
            <a:r>
              <a:rPr dirty="0" sz="1150" spc="40">
                <a:latin typeface="Times New Roman"/>
                <a:cs typeface="Times New Roman"/>
              </a:rPr>
              <a:t>read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20">
                <a:latin typeface="Times New Roman"/>
                <a:cs typeface="Times New Roman"/>
              </a:rPr>
              <a:t>sequence  </a:t>
            </a:r>
            <a:r>
              <a:rPr dirty="0" sz="1150" spc="15">
                <a:latin typeface="Times New Roman"/>
                <a:cs typeface="Times New Roman"/>
              </a:rPr>
              <a:t>of single characters </a:t>
            </a:r>
            <a:r>
              <a:rPr dirty="0" sz="1150" spc="20">
                <a:latin typeface="Times New Roman"/>
                <a:cs typeface="Times New Roman"/>
              </a:rPr>
              <a:t>and simultaneously </a:t>
            </a:r>
            <a:r>
              <a:rPr dirty="0" sz="1150" spc="15">
                <a:latin typeface="Times New Roman"/>
                <a:cs typeface="Times New Roman"/>
              </a:rPr>
              <a:t>storing </a:t>
            </a:r>
            <a:r>
              <a:rPr dirty="0" sz="1150" spc="10">
                <a:latin typeface="Times New Roman"/>
                <a:cs typeface="Times New Roman"/>
              </a:rPr>
              <a:t>it </a:t>
            </a:r>
            <a:r>
              <a:rPr dirty="0" sz="1150" spc="20">
                <a:latin typeface="Times New Roman"/>
                <a:cs typeface="Times New Roman"/>
              </a:rPr>
              <a:t>in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15">
                <a:latin typeface="Times New Roman"/>
                <a:cs typeface="Times New Roman"/>
              </a:rPr>
              <a:t>character</a:t>
            </a:r>
            <a:r>
              <a:rPr dirty="0" sz="1150" spc="7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array.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15">
                <a:latin typeface="Times New Roman"/>
                <a:cs typeface="Times New Roman"/>
              </a:rPr>
              <a:t>i=0;</a:t>
            </a:r>
            <a:endParaRPr sz="1150">
              <a:latin typeface="Times New Roman"/>
              <a:cs typeface="Times New Roman"/>
            </a:endParaRPr>
          </a:p>
          <a:p>
            <a:pPr marL="12700" marR="4909820">
              <a:lnSpc>
                <a:spcPct val="107000"/>
              </a:lnSpc>
              <a:spcBef>
                <a:spcPts val="50"/>
              </a:spcBef>
            </a:pPr>
            <a:r>
              <a:rPr dirty="0" sz="1150" spc="15">
                <a:latin typeface="Times New Roman"/>
                <a:cs typeface="Times New Roman"/>
              </a:rPr>
              <a:t>ch=getchar();  </a:t>
            </a:r>
            <a:r>
              <a:rPr dirty="0" sz="1150" spc="-5">
                <a:latin typeface="Times New Roman"/>
                <a:cs typeface="Times New Roman"/>
              </a:rPr>
              <a:t>w</a:t>
            </a:r>
            <a:r>
              <a:rPr dirty="0" sz="1150">
                <a:latin typeface="Times New Roman"/>
                <a:cs typeface="Times New Roman"/>
              </a:rPr>
              <a:t>hile</a:t>
            </a:r>
            <a:r>
              <a:rPr dirty="0" sz="1150" spc="-15">
                <a:latin typeface="Times New Roman"/>
                <a:cs typeface="Times New Roman"/>
              </a:rPr>
              <a:t>(</a:t>
            </a:r>
            <a:r>
              <a:rPr dirty="0" sz="1150">
                <a:latin typeface="Times New Roman"/>
                <a:cs typeface="Times New Roman"/>
              </a:rPr>
              <a:t>ch!=’*’)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12700" marR="5227320">
              <a:lnSpc>
                <a:spcPts val="1500"/>
              </a:lnSpc>
              <a:spcBef>
                <a:spcPts val="60"/>
              </a:spcBef>
            </a:pPr>
            <a:r>
              <a:rPr dirty="0" sz="1150" spc="-5">
                <a:latin typeface="Times New Roman"/>
                <a:cs typeface="Times New Roman"/>
              </a:rPr>
              <a:t>s</a:t>
            </a:r>
            <a:r>
              <a:rPr dirty="0" sz="1150">
                <a:latin typeface="Times New Roman"/>
                <a:cs typeface="Times New Roman"/>
              </a:rPr>
              <a:t>tr[i]=c</a:t>
            </a:r>
            <a:r>
              <a:rPr dirty="0" sz="1150" spc="-10">
                <a:latin typeface="Times New Roman"/>
                <a:cs typeface="Times New Roman"/>
              </a:rPr>
              <a:t>h</a:t>
            </a:r>
            <a:r>
              <a:rPr dirty="0" sz="1150">
                <a:latin typeface="Times New Roman"/>
                <a:cs typeface="Times New Roman"/>
              </a:rPr>
              <a:t>;  </a:t>
            </a:r>
            <a:r>
              <a:rPr dirty="0" sz="1150" spc="10">
                <a:latin typeface="Times New Roman"/>
                <a:cs typeface="Times New Roman"/>
              </a:rPr>
              <a:t>i++;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150" spc="15">
                <a:latin typeface="Times New Roman"/>
                <a:cs typeface="Times New Roman"/>
              </a:rPr>
              <a:t>ch=getchar();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5">
                <a:latin typeface="Times New Roman"/>
                <a:cs typeface="Times New Roman"/>
              </a:rPr>
              <a:t>str[i]=’\0’;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30" b="1">
                <a:latin typeface="Times New Roman"/>
                <a:cs typeface="Times New Roman"/>
              </a:rPr>
              <a:t>WRITING</a:t>
            </a:r>
            <a:r>
              <a:rPr dirty="0" sz="1150" spc="15" b="1">
                <a:latin typeface="Times New Roman"/>
                <a:cs typeface="Times New Roman"/>
              </a:rPr>
              <a:t> </a:t>
            </a:r>
            <a:r>
              <a:rPr dirty="0" sz="1150" spc="30" b="1">
                <a:latin typeface="Times New Roman"/>
                <a:cs typeface="Times New Roman"/>
              </a:rPr>
              <a:t>STRINGS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150" spc="15">
                <a:latin typeface="Times New Roman"/>
                <a:cs typeface="Times New Roman"/>
              </a:rPr>
              <a:t>Strings </a:t>
            </a:r>
            <a:r>
              <a:rPr dirty="0" sz="1150" spc="20">
                <a:latin typeface="Times New Roman"/>
                <a:cs typeface="Times New Roman"/>
              </a:rPr>
              <a:t>can </a:t>
            </a:r>
            <a:r>
              <a:rPr dirty="0" sz="1150" spc="15">
                <a:latin typeface="Times New Roman"/>
                <a:cs typeface="Times New Roman"/>
              </a:rPr>
              <a:t>be </a:t>
            </a:r>
            <a:r>
              <a:rPr dirty="0" sz="1150" spc="20">
                <a:latin typeface="Times New Roman"/>
                <a:cs typeface="Times New Roman"/>
              </a:rPr>
              <a:t>displayed </a:t>
            </a:r>
            <a:r>
              <a:rPr dirty="0" sz="1150" spc="15">
                <a:latin typeface="Times New Roman"/>
                <a:cs typeface="Times New Roman"/>
              </a:rPr>
              <a:t>on screen using 3</a:t>
            </a:r>
            <a:r>
              <a:rPr dirty="0" sz="1150" spc="10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ways</a:t>
            </a:r>
            <a:endParaRPr sz="1150">
              <a:latin typeface="Times New Roman"/>
              <a:cs typeface="Times New Roman"/>
            </a:endParaRPr>
          </a:p>
          <a:p>
            <a:pPr marL="469265" indent="-230504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20">
                <a:latin typeface="Times New Roman"/>
                <a:cs typeface="Times New Roman"/>
              </a:rPr>
              <a:t>Using </a:t>
            </a:r>
            <a:r>
              <a:rPr dirty="0" sz="1150" spc="15">
                <a:latin typeface="Times New Roman"/>
                <a:cs typeface="Times New Roman"/>
              </a:rPr>
              <a:t>printf()</a:t>
            </a:r>
            <a:r>
              <a:rPr dirty="0" sz="1150" spc="11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function</a:t>
            </a:r>
            <a:endParaRPr sz="1150">
              <a:latin typeface="Times New Roman"/>
              <a:cs typeface="Times New Roman"/>
            </a:endParaRPr>
          </a:p>
          <a:p>
            <a:pPr marL="469265" indent="-230504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20">
                <a:latin typeface="Times New Roman"/>
                <a:cs typeface="Times New Roman"/>
              </a:rPr>
              <a:t>Using </a:t>
            </a:r>
            <a:r>
              <a:rPr dirty="0" sz="1150" spc="15">
                <a:latin typeface="Times New Roman"/>
                <a:cs typeface="Times New Roman"/>
              </a:rPr>
              <a:t>puts()</a:t>
            </a:r>
            <a:r>
              <a:rPr dirty="0" sz="1150" spc="6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function</a:t>
            </a:r>
            <a:endParaRPr sz="1150">
              <a:latin typeface="Times New Roman"/>
              <a:cs typeface="Times New Roman"/>
            </a:endParaRPr>
          </a:p>
          <a:p>
            <a:pPr marL="469265" indent="-230504">
              <a:lnSpc>
                <a:spcPct val="100000"/>
              </a:lnSpc>
              <a:spcBef>
                <a:spcPts val="15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20">
                <a:latin typeface="Times New Roman"/>
                <a:cs typeface="Times New Roman"/>
              </a:rPr>
              <a:t>Using </a:t>
            </a:r>
            <a:r>
              <a:rPr dirty="0" sz="1150" spc="15">
                <a:latin typeface="Times New Roman"/>
                <a:cs typeface="Times New Roman"/>
              </a:rPr>
              <a:t>putchar()</a:t>
            </a:r>
            <a:r>
              <a:rPr dirty="0" sz="1150" spc="6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repeatedly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50" spc="25" b="1">
                <a:latin typeface="Times New Roman"/>
                <a:cs typeface="Times New Roman"/>
              </a:rPr>
              <a:t>Using </a:t>
            </a:r>
            <a:r>
              <a:rPr dirty="0" sz="1150" spc="20" b="1">
                <a:latin typeface="Times New Roman"/>
                <a:cs typeface="Times New Roman"/>
              </a:rPr>
              <a:t>printf()</a:t>
            </a:r>
            <a:r>
              <a:rPr dirty="0" sz="1150" spc="-10" b="1">
                <a:latin typeface="Times New Roman"/>
                <a:cs typeface="Times New Roman"/>
              </a:rPr>
              <a:t> </a:t>
            </a:r>
            <a:r>
              <a:rPr dirty="0" sz="1150" spc="20" b="1">
                <a:latin typeface="Times New Roman"/>
                <a:cs typeface="Times New Roman"/>
              </a:rPr>
              <a:t>function</a:t>
            </a:r>
            <a:endParaRPr sz="1150">
              <a:latin typeface="Times New Roman"/>
              <a:cs typeface="Times New Roman"/>
            </a:endParaRPr>
          </a:p>
          <a:p>
            <a:pPr marL="928369" marR="2303780" indent="-459105">
              <a:lnSpc>
                <a:spcPts val="1510"/>
              </a:lnSpc>
            </a:pPr>
            <a:r>
              <a:rPr dirty="0" sz="1150" spc="15">
                <a:latin typeface="Times New Roman"/>
                <a:cs typeface="Times New Roman"/>
              </a:rPr>
              <a:t>Strings </a:t>
            </a:r>
            <a:r>
              <a:rPr dirty="0" sz="1150" spc="20">
                <a:latin typeface="Times New Roman"/>
                <a:cs typeface="Times New Roman"/>
              </a:rPr>
              <a:t>can </a:t>
            </a:r>
            <a:r>
              <a:rPr dirty="0" sz="1150" spc="15">
                <a:latin typeface="Times New Roman"/>
                <a:cs typeface="Times New Roman"/>
              </a:rPr>
              <a:t>be </a:t>
            </a:r>
            <a:r>
              <a:rPr dirty="0" sz="1150" spc="20">
                <a:latin typeface="Times New Roman"/>
                <a:cs typeface="Times New Roman"/>
              </a:rPr>
              <a:t>displayed </a:t>
            </a:r>
            <a:r>
              <a:rPr dirty="0" sz="1150" spc="15">
                <a:latin typeface="Times New Roman"/>
                <a:cs typeface="Times New Roman"/>
              </a:rPr>
              <a:t>using printf() by writing  printf(“%s”,str);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150" spc="20">
                <a:latin typeface="Times New Roman"/>
                <a:cs typeface="Times New Roman"/>
              </a:rPr>
              <a:t>%s </a:t>
            </a:r>
            <a:r>
              <a:rPr dirty="0" sz="1150" spc="15">
                <a:latin typeface="Times New Roman"/>
                <a:cs typeface="Times New Roman"/>
              </a:rPr>
              <a:t>is used </a:t>
            </a:r>
            <a:r>
              <a:rPr dirty="0" sz="1150" spc="20">
                <a:latin typeface="Times New Roman"/>
                <a:cs typeface="Times New Roman"/>
              </a:rPr>
              <a:t>to specify </a:t>
            </a:r>
            <a:r>
              <a:rPr dirty="0" sz="1150" spc="15">
                <a:latin typeface="Times New Roman"/>
                <a:cs typeface="Times New Roman"/>
              </a:rPr>
              <a:t>that we are printig</a:t>
            </a:r>
            <a:r>
              <a:rPr dirty="0" sz="1150" spc="4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string.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324406"/>
            <a:ext cx="5735320" cy="458152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1150" spc="15">
                <a:latin typeface="Times New Roman"/>
                <a:cs typeface="Times New Roman"/>
              </a:rPr>
              <a:t>printf(“%5.3s”,str);</a:t>
            </a:r>
            <a:endParaRPr sz="1150">
              <a:latin typeface="Times New Roman"/>
              <a:cs typeface="Times New Roman"/>
            </a:endParaRPr>
          </a:p>
          <a:p>
            <a:pPr marL="12700" marR="5080">
              <a:lnSpc>
                <a:spcPts val="1490"/>
              </a:lnSpc>
              <a:spcBef>
                <a:spcPts val="55"/>
              </a:spcBef>
            </a:pPr>
            <a:r>
              <a:rPr dirty="0" sz="1150" spc="20">
                <a:latin typeface="Times New Roman"/>
                <a:cs typeface="Times New Roman"/>
              </a:rPr>
              <a:t>The </a:t>
            </a:r>
            <a:r>
              <a:rPr dirty="0" sz="1150" spc="30">
                <a:latin typeface="Times New Roman"/>
                <a:cs typeface="Times New Roman"/>
              </a:rPr>
              <a:t>above </a:t>
            </a:r>
            <a:r>
              <a:rPr dirty="0" sz="1150" spc="15">
                <a:latin typeface="Times New Roman"/>
                <a:cs typeface="Times New Roman"/>
              </a:rPr>
              <a:t>statement </a:t>
            </a:r>
            <a:r>
              <a:rPr dirty="0" sz="1150" spc="20">
                <a:latin typeface="Times New Roman"/>
                <a:cs typeface="Times New Roman"/>
              </a:rPr>
              <a:t>would </a:t>
            </a:r>
            <a:r>
              <a:rPr dirty="0" sz="1150" spc="15">
                <a:latin typeface="Times New Roman"/>
                <a:cs typeface="Times New Roman"/>
              </a:rPr>
              <a:t>print only </a:t>
            </a:r>
            <a:r>
              <a:rPr dirty="0" sz="1150" spc="20">
                <a:latin typeface="Times New Roman"/>
                <a:cs typeface="Times New Roman"/>
              </a:rPr>
              <a:t>the </a:t>
            </a:r>
            <a:r>
              <a:rPr dirty="0" sz="1150" spc="10">
                <a:latin typeface="Times New Roman"/>
                <a:cs typeface="Times New Roman"/>
              </a:rPr>
              <a:t>first </a:t>
            </a:r>
            <a:r>
              <a:rPr dirty="0" sz="1150" spc="15">
                <a:latin typeface="Times New Roman"/>
                <a:cs typeface="Times New Roman"/>
              </a:rPr>
              <a:t>three </a:t>
            </a:r>
            <a:r>
              <a:rPr dirty="0" sz="1150" spc="20">
                <a:latin typeface="Times New Roman"/>
                <a:cs typeface="Times New Roman"/>
              </a:rPr>
              <a:t>characters in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15">
                <a:latin typeface="Times New Roman"/>
                <a:cs typeface="Times New Roman"/>
              </a:rPr>
              <a:t>total field </a:t>
            </a:r>
            <a:r>
              <a:rPr dirty="0" sz="1150" spc="10">
                <a:latin typeface="Times New Roman"/>
                <a:cs typeface="Times New Roman"/>
              </a:rPr>
              <a:t>of </a:t>
            </a:r>
            <a:r>
              <a:rPr dirty="0" sz="1150" spc="15">
                <a:latin typeface="Times New Roman"/>
                <a:cs typeface="Times New Roman"/>
              </a:rPr>
              <a:t>five  characters.</a:t>
            </a:r>
            <a:r>
              <a:rPr dirty="0" sz="1150" spc="3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Here,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the </a:t>
            </a:r>
            <a:r>
              <a:rPr dirty="0" sz="1150" spc="15">
                <a:latin typeface="Times New Roman"/>
                <a:cs typeface="Times New Roman"/>
              </a:rPr>
              <a:t>strings</a:t>
            </a:r>
            <a:r>
              <a:rPr dirty="0" sz="1150" spc="-2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are</a:t>
            </a:r>
            <a:r>
              <a:rPr dirty="0" sz="1150" spc="-1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right justified.</a:t>
            </a:r>
            <a:r>
              <a:rPr dirty="0" sz="1150" spc="-15">
                <a:latin typeface="Times New Roman"/>
                <a:cs typeface="Times New Roman"/>
              </a:rPr>
              <a:t> </a:t>
            </a:r>
            <a:r>
              <a:rPr dirty="0" sz="1150" spc="30">
                <a:latin typeface="Times New Roman"/>
                <a:cs typeface="Times New Roman"/>
              </a:rPr>
              <a:t>To</a:t>
            </a:r>
            <a:r>
              <a:rPr dirty="0" sz="1150" spc="6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make</a:t>
            </a:r>
            <a:r>
              <a:rPr dirty="0" sz="1150" spc="-4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the</a:t>
            </a:r>
            <a:r>
              <a:rPr dirty="0" sz="1150" spc="2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string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left</a:t>
            </a:r>
            <a:r>
              <a:rPr dirty="0" sz="1150" spc="-1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justified,</a:t>
            </a:r>
            <a:r>
              <a:rPr dirty="0" sz="1150" spc="3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we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must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use</a:t>
            </a:r>
            <a:r>
              <a:rPr dirty="0" sz="1150" spc="-15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a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150" spc="20">
                <a:latin typeface="Times New Roman"/>
                <a:cs typeface="Times New Roman"/>
              </a:rPr>
              <a:t>minus</a:t>
            </a:r>
            <a:r>
              <a:rPr dirty="0" sz="1150" spc="5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sign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5">
                <a:latin typeface="Times New Roman"/>
                <a:cs typeface="Times New Roman"/>
              </a:rPr>
              <a:t>printf(“%-5.3s”,str);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50" spc="25" b="1">
                <a:latin typeface="Times New Roman"/>
                <a:cs typeface="Times New Roman"/>
              </a:rPr>
              <a:t>Using </a:t>
            </a:r>
            <a:r>
              <a:rPr dirty="0" sz="1150" spc="20" b="1">
                <a:latin typeface="Times New Roman"/>
                <a:cs typeface="Times New Roman"/>
              </a:rPr>
              <a:t>puts()</a:t>
            </a:r>
            <a:r>
              <a:rPr dirty="0" sz="1150" spc="-10" b="1">
                <a:latin typeface="Times New Roman"/>
                <a:cs typeface="Times New Roman"/>
              </a:rPr>
              <a:t> </a:t>
            </a:r>
            <a:r>
              <a:rPr dirty="0" sz="1150" spc="20" b="1">
                <a:latin typeface="Times New Roman"/>
                <a:cs typeface="Times New Roman"/>
              </a:rPr>
              <a:t>function</a:t>
            </a:r>
            <a:endParaRPr sz="1150">
              <a:latin typeface="Times New Roman"/>
              <a:cs typeface="Times New Roman"/>
            </a:endParaRPr>
          </a:p>
          <a:p>
            <a:pPr marL="928369" marR="2905125" indent="-459105">
              <a:lnSpc>
                <a:spcPct val="107000"/>
              </a:lnSpc>
            </a:pPr>
            <a:r>
              <a:rPr dirty="0" sz="1150" spc="20">
                <a:latin typeface="Times New Roman"/>
                <a:cs typeface="Times New Roman"/>
              </a:rPr>
              <a:t>The </a:t>
            </a:r>
            <a:r>
              <a:rPr dirty="0" sz="1150" spc="15">
                <a:latin typeface="Times New Roman"/>
                <a:cs typeface="Times New Roman"/>
              </a:rPr>
              <a:t>string can be </a:t>
            </a:r>
            <a:r>
              <a:rPr dirty="0" sz="1150" spc="20">
                <a:latin typeface="Times New Roman"/>
                <a:cs typeface="Times New Roman"/>
              </a:rPr>
              <a:t>displayed </a:t>
            </a:r>
            <a:r>
              <a:rPr dirty="0" sz="1150" spc="15">
                <a:latin typeface="Times New Roman"/>
                <a:cs typeface="Times New Roman"/>
              </a:rPr>
              <a:t>by writing  puts(str);</a:t>
            </a:r>
            <a:endParaRPr sz="1150">
              <a:latin typeface="Times New Roman"/>
              <a:cs typeface="Times New Roman"/>
            </a:endParaRPr>
          </a:p>
          <a:p>
            <a:pPr marL="12700" marR="391795">
              <a:lnSpc>
                <a:spcPct val="107000"/>
              </a:lnSpc>
              <a:spcBef>
                <a:spcPts val="35"/>
              </a:spcBef>
            </a:pPr>
            <a:r>
              <a:rPr dirty="0" sz="1150" spc="20">
                <a:latin typeface="Times New Roman"/>
                <a:cs typeface="Times New Roman"/>
              </a:rPr>
              <a:t>This </a:t>
            </a:r>
            <a:r>
              <a:rPr dirty="0" sz="1150" spc="15">
                <a:latin typeface="Times New Roman"/>
                <a:cs typeface="Times New Roman"/>
              </a:rPr>
              <a:t>function writes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20">
                <a:latin typeface="Times New Roman"/>
                <a:cs typeface="Times New Roman"/>
              </a:rPr>
              <a:t>line </a:t>
            </a:r>
            <a:r>
              <a:rPr dirty="0" sz="1150" spc="15">
                <a:latin typeface="Times New Roman"/>
                <a:cs typeface="Times New Roman"/>
              </a:rPr>
              <a:t>of output on the screen. </a:t>
            </a:r>
            <a:r>
              <a:rPr dirty="0" sz="1150" spc="5">
                <a:latin typeface="Times New Roman"/>
                <a:cs typeface="Times New Roman"/>
              </a:rPr>
              <a:t>It </a:t>
            </a:r>
            <a:r>
              <a:rPr dirty="0" sz="1150" spc="20">
                <a:latin typeface="Times New Roman"/>
                <a:cs typeface="Times New Roman"/>
              </a:rPr>
              <a:t>terminates </a:t>
            </a:r>
            <a:r>
              <a:rPr dirty="0" sz="1150" spc="15">
                <a:latin typeface="Times New Roman"/>
                <a:cs typeface="Times New Roman"/>
              </a:rPr>
              <a:t>the line </a:t>
            </a:r>
            <a:r>
              <a:rPr dirty="0" sz="1150" spc="20">
                <a:latin typeface="Times New Roman"/>
                <a:cs typeface="Times New Roman"/>
              </a:rPr>
              <a:t>with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20">
                <a:latin typeface="Times New Roman"/>
                <a:cs typeface="Times New Roman"/>
              </a:rPr>
              <a:t>newline  </a:t>
            </a:r>
            <a:r>
              <a:rPr dirty="0" sz="1150" spc="15">
                <a:latin typeface="Times New Roman"/>
                <a:cs typeface="Times New Roman"/>
              </a:rPr>
              <a:t>character.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50" spc="25" b="1">
                <a:latin typeface="Times New Roman"/>
                <a:cs typeface="Times New Roman"/>
              </a:rPr>
              <a:t>Using</a:t>
            </a:r>
            <a:r>
              <a:rPr dirty="0" sz="1150" b="1">
                <a:latin typeface="Times New Roman"/>
                <a:cs typeface="Times New Roman"/>
              </a:rPr>
              <a:t> </a:t>
            </a:r>
            <a:r>
              <a:rPr dirty="0" sz="1150" spc="25" b="1">
                <a:latin typeface="Times New Roman"/>
                <a:cs typeface="Times New Roman"/>
              </a:rPr>
              <a:t>putchar()</a:t>
            </a:r>
            <a:endParaRPr sz="1150">
              <a:latin typeface="Times New Roman"/>
              <a:cs typeface="Times New Roman"/>
            </a:endParaRPr>
          </a:p>
          <a:p>
            <a:pPr marL="12700" marR="353060" indent="456565">
              <a:lnSpc>
                <a:spcPct val="107000"/>
              </a:lnSpc>
            </a:pPr>
            <a:r>
              <a:rPr dirty="0" sz="1150" spc="15">
                <a:latin typeface="Times New Roman"/>
                <a:cs typeface="Times New Roman"/>
              </a:rPr>
              <a:t>Strings </a:t>
            </a:r>
            <a:r>
              <a:rPr dirty="0" sz="1150" spc="20">
                <a:latin typeface="Times New Roman"/>
                <a:cs typeface="Times New Roman"/>
              </a:rPr>
              <a:t>can </a:t>
            </a:r>
            <a:r>
              <a:rPr dirty="0" sz="1150" spc="15">
                <a:latin typeface="Times New Roman"/>
                <a:cs typeface="Times New Roman"/>
              </a:rPr>
              <a:t>also be written by calling the putchar() function repeatedly </a:t>
            </a:r>
            <a:r>
              <a:rPr dirty="0" sz="1150" spc="20">
                <a:latin typeface="Times New Roman"/>
                <a:cs typeface="Times New Roman"/>
              </a:rPr>
              <a:t>to </a:t>
            </a:r>
            <a:r>
              <a:rPr dirty="0" sz="1150" spc="15">
                <a:latin typeface="Times New Roman"/>
                <a:cs typeface="Times New Roman"/>
              </a:rPr>
              <a:t>print </a:t>
            </a:r>
            <a:r>
              <a:rPr dirty="0" sz="1150" spc="10">
                <a:latin typeface="Times New Roman"/>
                <a:cs typeface="Times New Roman"/>
              </a:rPr>
              <a:t>a  </a:t>
            </a:r>
            <a:r>
              <a:rPr dirty="0" sz="1150" spc="20">
                <a:latin typeface="Times New Roman"/>
                <a:cs typeface="Times New Roman"/>
              </a:rPr>
              <a:t>sequence </a:t>
            </a:r>
            <a:r>
              <a:rPr dirty="0" sz="1150" spc="15">
                <a:latin typeface="Times New Roman"/>
                <a:cs typeface="Times New Roman"/>
              </a:rPr>
              <a:t>of single</a:t>
            </a:r>
            <a:r>
              <a:rPr dirty="0" sz="1150" spc="3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characters.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50" spc="15">
                <a:latin typeface="Times New Roman"/>
                <a:cs typeface="Times New Roman"/>
              </a:rPr>
              <a:t>i=0;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5">
                <a:latin typeface="Times New Roman"/>
                <a:cs typeface="Times New Roman"/>
              </a:rPr>
              <a:t>while(str[i]!=’\0’)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12700" marR="4854575">
              <a:lnSpc>
                <a:spcPct val="107000"/>
              </a:lnSpc>
              <a:spcBef>
                <a:spcPts val="40"/>
              </a:spcBef>
            </a:pPr>
            <a:r>
              <a:rPr dirty="0" sz="1150">
                <a:latin typeface="Times New Roman"/>
                <a:cs typeface="Times New Roman"/>
              </a:rPr>
              <a:t>putc</a:t>
            </a:r>
            <a:r>
              <a:rPr dirty="0" sz="1150" spc="-15">
                <a:latin typeface="Times New Roman"/>
                <a:cs typeface="Times New Roman"/>
              </a:rPr>
              <a:t>h</a:t>
            </a:r>
            <a:r>
              <a:rPr dirty="0" sz="1150">
                <a:latin typeface="Times New Roman"/>
                <a:cs typeface="Times New Roman"/>
              </a:rPr>
              <a:t>ar(str[i]</a:t>
            </a:r>
            <a:r>
              <a:rPr dirty="0" sz="1150" spc="-15">
                <a:latin typeface="Times New Roman"/>
                <a:cs typeface="Times New Roman"/>
              </a:rPr>
              <a:t>)</a:t>
            </a:r>
            <a:r>
              <a:rPr dirty="0" sz="1150">
                <a:latin typeface="Times New Roman"/>
                <a:cs typeface="Times New Roman"/>
              </a:rPr>
              <a:t>;  </a:t>
            </a:r>
            <a:r>
              <a:rPr dirty="0" sz="1150" spc="10">
                <a:latin typeface="Times New Roman"/>
                <a:cs typeface="Times New Roman"/>
              </a:rPr>
              <a:t>i++;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50" spc="30" b="1">
                <a:latin typeface="Times New Roman"/>
                <a:cs typeface="Times New Roman"/>
              </a:rPr>
              <a:t>Summary </a:t>
            </a:r>
            <a:r>
              <a:rPr dirty="0" sz="1150" spc="15" b="1">
                <a:latin typeface="Times New Roman"/>
                <a:cs typeface="Times New Roman"/>
              </a:rPr>
              <a:t>of </a:t>
            </a:r>
            <a:r>
              <a:rPr dirty="0" sz="1150" spc="20" b="1">
                <a:latin typeface="Times New Roman"/>
                <a:cs typeface="Times New Roman"/>
              </a:rPr>
              <a:t>functions </a:t>
            </a:r>
            <a:r>
              <a:rPr dirty="0" sz="1150" spc="25" b="1">
                <a:latin typeface="Times New Roman"/>
                <a:cs typeface="Times New Roman"/>
              </a:rPr>
              <a:t>used </a:t>
            </a:r>
            <a:r>
              <a:rPr dirty="0" sz="1150" spc="20" b="1">
                <a:latin typeface="Times New Roman"/>
                <a:cs typeface="Times New Roman"/>
              </a:rPr>
              <a:t>to </a:t>
            </a:r>
            <a:r>
              <a:rPr dirty="0" sz="1150" spc="25" b="1">
                <a:latin typeface="Times New Roman"/>
                <a:cs typeface="Times New Roman"/>
              </a:rPr>
              <a:t>read and </a:t>
            </a:r>
            <a:r>
              <a:rPr dirty="0" sz="1150" spc="20" b="1">
                <a:latin typeface="Times New Roman"/>
                <a:cs typeface="Times New Roman"/>
              </a:rPr>
              <a:t>write</a:t>
            </a:r>
            <a:r>
              <a:rPr dirty="0" sz="1150" spc="-100" b="1">
                <a:latin typeface="Times New Roman"/>
                <a:cs typeface="Times New Roman"/>
              </a:rPr>
              <a:t> </a:t>
            </a:r>
            <a:r>
              <a:rPr dirty="0" sz="1150" spc="25" b="1">
                <a:latin typeface="Times New Roman"/>
                <a:cs typeface="Times New Roman"/>
              </a:rPr>
              <a:t>characters</a:t>
            </a:r>
            <a:endParaRPr sz="115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5906389"/>
          <a:ext cx="5737860" cy="1940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7935"/>
                <a:gridCol w="4471035"/>
              </a:tblGrid>
              <a:tr h="196596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50" spc="25" b="1">
                          <a:latin typeface="Times New Roman"/>
                          <a:cs typeface="Times New Roman"/>
                        </a:rPr>
                        <a:t>Function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50" spc="25" b="1">
                          <a:latin typeface="Times New Roman"/>
                          <a:cs typeface="Times New Roman"/>
                        </a:rPr>
                        <a:t>Operation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6071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50" spc="15">
                          <a:latin typeface="Times New Roman"/>
                          <a:cs typeface="Times New Roman"/>
                        </a:rPr>
                        <a:t>getchar()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50" spc="20">
                          <a:latin typeface="Times New Roman"/>
                          <a:cs typeface="Times New Roman"/>
                        </a:rPr>
                        <a:t>Used to read </a:t>
                      </a:r>
                      <a:r>
                        <a:rPr dirty="0" sz="1150" spc="1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dirty="0" sz="1150" spc="15">
                          <a:latin typeface="Times New Roman"/>
                          <a:cs typeface="Times New Roman"/>
                        </a:rPr>
                        <a:t>character </a:t>
                      </a:r>
                      <a:r>
                        <a:rPr dirty="0" sz="1150" spc="20">
                          <a:latin typeface="Times New Roman"/>
                          <a:cs typeface="Times New Roman"/>
                        </a:rPr>
                        <a:t>from </a:t>
                      </a:r>
                      <a:r>
                        <a:rPr dirty="0" sz="1150" spc="15">
                          <a:latin typeface="Times New Roman"/>
                          <a:cs typeface="Times New Roman"/>
                        </a:rPr>
                        <a:t>the keyboard, waits for</a:t>
                      </a:r>
                      <a:r>
                        <a:rPr dirty="0" sz="1150" spc="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50" spc="20">
                          <a:latin typeface="Times New Roman"/>
                          <a:cs typeface="Times New Roman"/>
                        </a:rPr>
                        <a:t>carriage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74295" marR="103505">
                        <a:lnSpc>
                          <a:spcPts val="1500"/>
                        </a:lnSpc>
                        <a:spcBef>
                          <a:spcPts val="45"/>
                        </a:spcBef>
                      </a:pPr>
                      <a:r>
                        <a:rPr dirty="0" sz="1150" spc="15">
                          <a:latin typeface="Times New Roman"/>
                          <a:cs typeface="Times New Roman"/>
                        </a:rPr>
                        <a:t>return(enter key). </a:t>
                      </a:r>
                      <a:r>
                        <a:rPr dirty="0" sz="1150" spc="5">
                          <a:latin typeface="Times New Roman"/>
                          <a:cs typeface="Times New Roman"/>
                        </a:rPr>
                        <a:t>It </a:t>
                      </a:r>
                      <a:r>
                        <a:rPr dirty="0" sz="1150" spc="20">
                          <a:latin typeface="Times New Roman"/>
                          <a:cs typeface="Times New Roman"/>
                        </a:rPr>
                        <a:t>can </a:t>
                      </a:r>
                      <a:r>
                        <a:rPr dirty="0" sz="1150" spc="15">
                          <a:latin typeface="Times New Roman"/>
                          <a:cs typeface="Times New Roman"/>
                        </a:rPr>
                        <a:t>be used </a:t>
                      </a:r>
                      <a:r>
                        <a:rPr dirty="0" sz="1150" spc="2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dirty="0" sz="1150" spc="15">
                          <a:latin typeface="Times New Roman"/>
                          <a:cs typeface="Times New Roman"/>
                        </a:rPr>
                        <a:t>input </a:t>
                      </a:r>
                      <a:r>
                        <a:rPr dirty="0" sz="1150" spc="20">
                          <a:latin typeface="Times New Roman"/>
                          <a:cs typeface="Times New Roman"/>
                        </a:rPr>
                        <a:t>any key </a:t>
                      </a:r>
                      <a:r>
                        <a:rPr dirty="0" sz="1150" spc="15">
                          <a:latin typeface="Times New Roman"/>
                          <a:cs typeface="Times New Roman"/>
                        </a:rPr>
                        <a:t>including </a:t>
                      </a:r>
                      <a:r>
                        <a:rPr dirty="0" sz="1150" spc="25">
                          <a:latin typeface="Times New Roman"/>
                          <a:cs typeface="Times New Roman"/>
                        </a:rPr>
                        <a:t>RETURN,  TAB </a:t>
                      </a:r>
                      <a:r>
                        <a:rPr dirty="0" sz="1150" spc="2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50" spc="25">
                          <a:latin typeface="Times New Roman"/>
                          <a:cs typeface="Times New Roman"/>
                        </a:rPr>
                        <a:t>ESC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50" spc="15">
                          <a:latin typeface="Times New Roman"/>
                          <a:cs typeface="Times New Roman"/>
                        </a:rPr>
                        <a:t>getch()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50" spc="15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dirty="0" sz="1150" spc="20">
                          <a:latin typeface="Times New Roman"/>
                          <a:cs typeface="Times New Roman"/>
                        </a:rPr>
                        <a:t>an </a:t>
                      </a:r>
                      <a:r>
                        <a:rPr dirty="0" sz="1150" spc="15">
                          <a:latin typeface="Times New Roman"/>
                          <a:cs typeface="Times New Roman"/>
                        </a:rPr>
                        <a:t>alternative for getchar(). </a:t>
                      </a:r>
                      <a:r>
                        <a:rPr dirty="0" sz="1150" spc="5">
                          <a:latin typeface="Times New Roman"/>
                          <a:cs typeface="Times New Roman"/>
                        </a:rPr>
                        <a:t>It </a:t>
                      </a:r>
                      <a:r>
                        <a:rPr dirty="0" sz="1150" spc="20">
                          <a:latin typeface="Times New Roman"/>
                          <a:cs typeface="Times New Roman"/>
                        </a:rPr>
                        <a:t>waits </a:t>
                      </a:r>
                      <a:r>
                        <a:rPr dirty="0" sz="1150" spc="15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dirty="0" sz="1150" spc="1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dirty="0" sz="1150" spc="15">
                          <a:latin typeface="Times New Roman"/>
                          <a:cs typeface="Times New Roman"/>
                        </a:rPr>
                        <a:t>keypress, after </a:t>
                      </a:r>
                      <a:r>
                        <a:rPr dirty="0" sz="1150" spc="20">
                          <a:latin typeface="Times New Roman"/>
                          <a:cs typeface="Times New Roman"/>
                        </a:rPr>
                        <a:t>which</a:t>
                      </a:r>
                      <a:r>
                        <a:rPr dirty="0" sz="11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50" spc="10">
                          <a:latin typeface="Times New Roman"/>
                          <a:cs typeface="Times New Roman"/>
                        </a:rPr>
                        <a:t>it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7429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150" spc="15">
                          <a:latin typeface="Times New Roman"/>
                          <a:cs typeface="Times New Roman"/>
                        </a:rPr>
                        <a:t>return</a:t>
                      </a:r>
                      <a:r>
                        <a:rPr dirty="0" sz="11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50" spc="20">
                          <a:latin typeface="Times New Roman"/>
                          <a:cs typeface="Times New Roman"/>
                        </a:rPr>
                        <a:t>immediately.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73025">
                        <a:lnSpc>
                          <a:spcPts val="1360"/>
                        </a:lnSpc>
                      </a:pPr>
                      <a:r>
                        <a:rPr dirty="0" sz="1150" spc="15">
                          <a:latin typeface="Times New Roman"/>
                          <a:cs typeface="Times New Roman"/>
                        </a:rPr>
                        <a:t>getche()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360"/>
                        </a:lnSpc>
                      </a:pPr>
                      <a:r>
                        <a:rPr dirty="0" sz="1150" spc="15">
                          <a:latin typeface="Times New Roman"/>
                          <a:cs typeface="Times New Roman"/>
                        </a:rPr>
                        <a:t>Similar </a:t>
                      </a:r>
                      <a:r>
                        <a:rPr dirty="0" sz="1150" spc="2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dirty="0" sz="1150" spc="15">
                          <a:latin typeface="Times New Roman"/>
                          <a:cs typeface="Times New Roman"/>
                        </a:rPr>
                        <a:t>getch(). </a:t>
                      </a:r>
                      <a:r>
                        <a:rPr dirty="0" sz="1150" spc="25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150" spc="15">
                          <a:latin typeface="Times New Roman"/>
                          <a:cs typeface="Times New Roman"/>
                        </a:rPr>
                        <a:t>only difference is that </a:t>
                      </a:r>
                      <a:r>
                        <a:rPr dirty="0" sz="1150" spc="10">
                          <a:latin typeface="Times New Roman"/>
                          <a:cs typeface="Times New Roman"/>
                        </a:rPr>
                        <a:t>it </a:t>
                      </a:r>
                      <a:r>
                        <a:rPr dirty="0" sz="1150" spc="20">
                          <a:latin typeface="Times New Roman"/>
                          <a:cs typeface="Times New Roman"/>
                        </a:rPr>
                        <a:t>echoes </a:t>
                      </a:r>
                      <a:r>
                        <a:rPr dirty="0" sz="1150" spc="15">
                          <a:latin typeface="Times New Roman"/>
                          <a:cs typeface="Times New Roman"/>
                        </a:rPr>
                        <a:t>the character</a:t>
                      </a:r>
                      <a:r>
                        <a:rPr dirty="0" sz="11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50" spc="15">
                          <a:latin typeface="Times New Roman"/>
                          <a:cs typeface="Times New Roman"/>
                        </a:rPr>
                        <a:t>on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7429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150" spc="20">
                          <a:latin typeface="Times New Roman"/>
                          <a:cs typeface="Times New Roman"/>
                        </a:rPr>
                        <a:t>screen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900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50" spc="15">
                          <a:latin typeface="Times New Roman"/>
                          <a:cs typeface="Times New Roman"/>
                        </a:rPr>
                        <a:t>putchar()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50" spc="20">
                          <a:latin typeface="Times New Roman"/>
                          <a:cs typeface="Times New Roman"/>
                        </a:rPr>
                        <a:t>Used to </a:t>
                      </a:r>
                      <a:r>
                        <a:rPr dirty="0" sz="1150" spc="15">
                          <a:latin typeface="Times New Roman"/>
                          <a:cs typeface="Times New Roman"/>
                        </a:rPr>
                        <a:t>write </a:t>
                      </a:r>
                      <a:r>
                        <a:rPr dirty="0" sz="1150" spc="1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dirty="0" sz="1150" spc="15">
                          <a:latin typeface="Times New Roman"/>
                          <a:cs typeface="Times New Roman"/>
                        </a:rPr>
                        <a:t>character to the screen. </a:t>
                      </a:r>
                      <a:r>
                        <a:rPr dirty="0" sz="1150" spc="20">
                          <a:latin typeface="Times New Roman"/>
                          <a:cs typeface="Times New Roman"/>
                        </a:rPr>
                        <a:t>Returns </a:t>
                      </a:r>
                      <a:r>
                        <a:rPr dirty="0" sz="1150" spc="15">
                          <a:latin typeface="Times New Roman"/>
                          <a:cs typeface="Times New Roman"/>
                        </a:rPr>
                        <a:t>the character written</a:t>
                      </a:r>
                      <a:r>
                        <a:rPr dirty="0" sz="11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50" spc="10">
                          <a:latin typeface="Times New Roman"/>
                          <a:cs typeface="Times New Roman"/>
                        </a:rPr>
                        <a:t>or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7429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150" spc="25">
                          <a:latin typeface="Times New Roman"/>
                          <a:cs typeface="Times New Roman"/>
                        </a:rPr>
                        <a:t>EOF </a:t>
                      </a:r>
                      <a:r>
                        <a:rPr dirty="0" sz="1150" spc="15">
                          <a:latin typeface="Times New Roman"/>
                          <a:cs typeface="Times New Roman"/>
                        </a:rPr>
                        <a:t>(-1) if </a:t>
                      </a:r>
                      <a:r>
                        <a:rPr dirty="0" sz="1150" spc="20">
                          <a:latin typeface="Times New Roman"/>
                          <a:cs typeface="Times New Roman"/>
                        </a:rPr>
                        <a:t>an </a:t>
                      </a:r>
                      <a:r>
                        <a:rPr dirty="0" sz="1150" spc="15">
                          <a:latin typeface="Times New Roman"/>
                          <a:cs typeface="Times New Roman"/>
                        </a:rPr>
                        <a:t>error</a:t>
                      </a:r>
                      <a:r>
                        <a:rPr dirty="0" sz="115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50" spc="15">
                          <a:latin typeface="Times New Roman"/>
                          <a:cs typeface="Times New Roman"/>
                        </a:rPr>
                        <a:t>occurs.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02004" y="8008163"/>
            <a:ext cx="2845435" cy="11595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7000"/>
              </a:lnSpc>
              <a:spcBef>
                <a:spcPts val="95"/>
              </a:spcBef>
            </a:pPr>
            <a:r>
              <a:rPr dirty="0" sz="1150" spc="20">
                <a:latin typeface="Times New Roman"/>
                <a:cs typeface="Times New Roman"/>
              </a:rPr>
              <a:t>Write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20">
                <a:latin typeface="Times New Roman"/>
                <a:cs typeface="Times New Roman"/>
              </a:rPr>
              <a:t>program to </a:t>
            </a:r>
            <a:r>
              <a:rPr dirty="0" sz="1150" spc="15">
                <a:latin typeface="Times New Roman"/>
                <a:cs typeface="Times New Roman"/>
              </a:rPr>
              <a:t>print the </a:t>
            </a:r>
            <a:r>
              <a:rPr dirty="0" sz="1150" spc="20">
                <a:latin typeface="Times New Roman"/>
                <a:cs typeface="Times New Roman"/>
              </a:rPr>
              <a:t>following </a:t>
            </a:r>
            <a:r>
              <a:rPr dirty="0" sz="1150" spc="15">
                <a:latin typeface="Times New Roman"/>
                <a:cs typeface="Times New Roman"/>
              </a:rPr>
              <a:t>pattern  </a:t>
            </a:r>
            <a:r>
              <a:rPr dirty="0" sz="1150" spc="20">
                <a:latin typeface="Times New Roman"/>
                <a:cs typeface="Times New Roman"/>
              </a:rPr>
              <a:t>H</a:t>
            </a:r>
            <a:endParaRPr sz="1150">
              <a:latin typeface="Times New Roman"/>
              <a:cs typeface="Times New Roman"/>
            </a:endParaRPr>
          </a:p>
          <a:p>
            <a:pPr marL="12700" marR="2418715">
              <a:lnSpc>
                <a:spcPct val="107800"/>
              </a:lnSpc>
              <a:spcBef>
                <a:spcPts val="15"/>
              </a:spcBef>
            </a:pPr>
            <a:r>
              <a:rPr dirty="0" sz="1150" spc="20">
                <a:latin typeface="Times New Roman"/>
                <a:cs typeface="Times New Roman"/>
              </a:rPr>
              <a:t>H </a:t>
            </a:r>
            <a:r>
              <a:rPr dirty="0" sz="1150" spc="15">
                <a:latin typeface="Times New Roman"/>
                <a:cs typeface="Times New Roman"/>
              </a:rPr>
              <a:t>E  </a:t>
            </a:r>
            <a:r>
              <a:rPr dirty="0" sz="1150" spc="20">
                <a:latin typeface="Times New Roman"/>
                <a:cs typeface="Times New Roman"/>
              </a:rPr>
              <a:t>H </a:t>
            </a:r>
            <a:r>
              <a:rPr dirty="0" sz="1150" spc="15">
                <a:latin typeface="Times New Roman"/>
                <a:cs typeface="Times New Roman"/>
              </a:rPr>
              <a:t>E</a:t>
            </a:r>
            <a:r>
              <a:rPr dirty="0" sz="1150" spc="21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L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20">
                <a:latin typeface="Times New Roman"/>
                <a:cs typeface="Times New Roman"/>
              </a:rPr>
              <a:t>H </a:t>
            </a:r>
            <a:r>
              <a:rPr dirty="0" sz="1150" spc="15">
                <a:latin typeface="Times New Roman"/>
                <a:cs typeface="Times New Roman"/>
              </a:rPr>
              <a:t>E L</a:t>
            </a:r>
            <a:r>
              <a:rPr dirty="0" sz="1150" spc="29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L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20">
                <a:latin typeface="Times New Roman"/>
                <a:cs typeface="Times New Roman"/>
              </a:rPr>
              <a:t>H </a:t>
            </a:r>
            <a:r>
              <a:rPr dirty="0" sz="1150" spc="15">
                <a:latin typeface="Times New Roman"/>
                <a:cs typeface="Times New Roman"/>
              </a:rPr>
              <a:t>E L L</a:t>
            </a:r>
            <a:r>
              <a:rPr dirty="0" sz="1150" spc="31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O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6472" y="1324406"/>
            <a:ext cx="5812155" cy="7967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8105" marR="5033645">
              <a:lnSpc>
                <a:spcPct val="107000"/>
              </a:lnSpc>
              <a:spcBef>
                <a:spcPts val="100"/>
              </a:spcBef>
            </a:pPr>
            <a:r>
              <a:rPr dirty="0" sz="1150" spc="20">
                <a:latin typeface="Times New Roman"/>
                <a:cs typeface="Times New Roman"/>
              </a:rPr>
              <a:t>H </a:t>
            </a:r>
            <a:r>
              <a:rPr dirty="0" sz="1150" spc="15">
                <a:latin typeface="Times New Roman"/>
                <a:cs typeface="Times New Roman"/>
              </a:rPr>
              <a:t>E L L </a:t>
            </a:r>
            <a:r>
              <a:rPr dirty="0" sz="1150" spc="20">
                <a:latin typeface="Times New Roman"/>
                <a:cs typeface="Times New Roman"/>
              </a:rPr>
              <a:t>O  H </a:t>
            </a:r>
            <a:r>
              <a:rPr dirty="0" sz="1150" spc="15">
                <a:latin typeface="Times New Roman"/>
                <a:cs typeface="Times New Roman"/>
              </a:rPr>
              <a:t>E L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L</a:t>
            </a:r>
            <a:endParaRPr sz="1150">
              <a:latin typeface="Times New Roman"/>
              <a:cs typeface="Times New Roman"/>
            </a:endParaRPr>
          </a:p>
          <a:p>
            <a:pPr marL="78105" marR="5353685">
              <a:lnSpc>
                <a:spcPct val="107800"/>
              </a:lnSpc>
              <a:spcBef>
                <a:spcPts val="20"/>
              </a:spcBef>
            </a:pPr>
            <a:r>
              <a:rPr dirty="0" sz="1150" spc="20">
                <a:latin typeface="Times New Roman"/>
                <a:cs typeface="Times New Roman"/>
              </a:rPr>
              <a:t>H </a:t>
            </a:r>
            <a:r>
              <a:rPr dirty="0" sz="1150" spc="15">
                <a:latin typeface="Times New Roman"/>
                <a:cs typeface="Times New Roman"/>
              </a:rPr>
              <a:t>E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L  </a:t>
            </a:r>
            <a:r>
              <a:rPr dirty="0" sz="1150" spc="20">
                <a:latin typeface="Times New Roman"/>
                <a:cs typeface="Times New Roman"/>
              </a:rPr>
              <a:t>H </a:t>
            </a:r>
            <a:r>
              <a:rPr dirty="0" sz="1150" spc="15">
                <a:latin typeface="Times New Roman"/>
                <a:cs typeface="Times New Roman"/>
              </a:rPr>
              <a:t>E  </a:t>
            </a:r>
            <a:r>
              <a:rPr dirty="0" sz="1150" spc="20">
                <a:latin typeface="Times New Roman"/>
                <a:cs typeface="Times New Roman"/>
              </a:rPr>
              <a:t>H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Times New Roman"/>
              <a:cs typeface="Times New Roman"/>
            </a:endParaRPr>
          </a:p>
          <a:p>
            <a:pPr marL="78105" marR="4664075">
              <a:lnSpc>
                <a:spcPct val="108700"/>
              </a:lnSpc>
            </a:pPr>
            <a:r>
              <a:rPr dirty="0" sz="1150">
                <a:latin typeface="Times New Roman"/>
                <a:cs typeface="Times New Roman"/>
              </a:rPr>
              <a:t>#incl</a:t>
            </a:r>
            <a:r>
              <a:rPr dirty="0" sz="1150" spc="-15">
                <a:latin typeface="Times New Roman"/>
                <a:cs typeface="Times New Roman"/>
              </a:rPr>
              <a:t>u</a:t>
            </a:r>
            <a:r>
              <a:rPr dirty="0" sz="1150">
                <a:latin typeface="Times New Roman"/>
                <a:cs typeface="Times New Roman"/>
              </a:rPr>
              <a:t>de</a:t>
            </a:r>
            <a:r>
              <a:rPr dirty="0" sz="1150">
                <a:latin typeface="Times New Roman"/>
                <a:cs typeface="Times New Roman"/>
              </a:rPr>
              <a:t>&lt;</a:t>
            </a:r>
            <a:r>
              <a:rPr dirty="0" sz="1150" spc="-10">
                <a:latin typeface="Times New Roman"/>
                <a:cs typeface="Times New Roman"/>
              </a:rPr>
              <a:t>s</a:t>
            </a:r>
            <a:r>
              <a:rPr dirty="0" sz="1150">
                <a:latin typeface="Times New Roman"/>
                <a:cs typeface="Times New Roman"/>
              </a:rPr>
              <a:t>td</a:t>
            </a:r>
            <a:r>
              <a:rPr dirty="0" sz="1150" spc="-10">
                <a:latin typeface="Times New Roman"/>
                <a:cs typeface="Times New Roman"/>
              </a:rPr>
              <a:t>i</a:t>
            </a:r>
            <a:r>
              <a:rPr dirty="0" sz="1150">
                <a:latin typeface="Times New Roman"/>
                <a:cs typeface="Times New Roman"/>
              </a:rPr>
              <a:t>o.h&gt;  </a:t>
            </a:r>
            <a:r>
              <a:rPr dirty="0" sz="1150" spc="20">
                <a:latin typeface="Times New Roman"/>
                <a:cs typeface="Times New Roman"/>
              </a:rPr>
              <a:t>void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main()</a:t>
            </a:r>
            <a:endParaRPr sz="1150">
              <a:latin typeface="Times New Roman"/>
              <a:cs typeface="Times New Roman"/>
            </a:endParaRPr>
          </a:p>
          <a:p>
            <a:pPr marL="78105">
              <a:lnSpc>
                <a:spcPct val="100000"/>
              </a:lnSpc>
              <a:spcBef>
                <a:spcPts val="85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78105">
              <a:lnSpc>
                <a:spcPct val="100000"/>
              </a:lnSpc>
              <a:spcBef>
                <a:spcPts val="150"/>
              </a:spcBef>
            </a:pPr>
            <a:r>
              <a:rPr dirty="0" sz="1150" spc="10">
                <a:latin typeface="Times New Roman"/>
                <a:cs typeface="Times New Roman"/>
              </a:rPr>
              <a:t>int </a:t>
            </a:r>
            <a:r>
              <a:rPr dirty="0" sz="1150" spc="15">
                <a:latin typeface="Times New Roman"/>
                <a:cs typeface="Times New Roman"/>
              </a:rPr>
              <a:t>i,w,p;</a:t>
            </a:r>
            <a:endParaRPr sz="1150">
              <a:latin typeface="Times New Roman"/>
              <a:cs typeface="Times New Roman"/>
            </a:endParaRPr>
          </a:p>
          <a:p>
            <a:pPr marL="78105" marR="4404360">
              <a:lnSpc>
                <a:spcPct val="107800"/>
              </a:lnSpc>
            </a:pPr>
            <a:r>
              <a:rPr dirty="0" sz="1150" spc="15">
                <a:latin typeface="Times New Roman"/>
                <a:cs typeface="Times New Roman"/>
              </a:rPr>
              <a:t>char </a:t>
            </a:r>
            <a:r>
              <a:rPr dirty="0" sz="1150" spc="20">
                <a:latin typeface="Times New Roman"/>
                <a:cs typeface="Times New Roman"/>
              </a:rPr>
              <a:t>str[]=”HELLO”;  </a:t>
            </a:r>
            <a:r>
              <a:rPr dirty="0" sz="1150" spc="15">
                <a:latin typeface="Times New Roman"/>
                <a:cs typeface="Times New Roman"/>
              </a:rPr>
              <a:t>printf(“\n”);  for(i=0;i&lt;5;i++)</a:t>
            </a:r>
            <a:endParaRPr sz="1150">
              <a:latin typeface="Times New Roman"/>
              <a:cs typeface="Times New Roman"/>
            </a:endParaRPr>
          </a:p>
          <a:p>
            <a:pPr marL="78105">
              <a:lnSpc>
                <a:spcPct val="100000"/>
              </a:lnSpc>
              <a:spcBef>
                <a:spcPts val="145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78105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p=i+1;</a:t>
            </a:r>
            <a:endParaRPr sz="1150">
              <a:latin typeface="Times New Roman"/>
              <a:cs typeface="Times New Roman"/>
            </a:endParaRPr>
          </a:p>
          <a:p>
            <a:pPr marL="78105">
              <a:lnSpc>
                <a:spcPct val="100000"/>
              </a:lnSpc>
              <a:spcBef>
                <a:spcPts val="130"/>
              </a:spcBef>
            </a:pPr>
            <a:r>
              <a:rPr dirty="0" sz="1150" spc="15">
                <a:latin typeface="Times New Roman"/>
                <a:cs typeface="Times New Roman"/>
              </a:rPr>
              <a:t>printf(“\n </a:t>
            </a:r>
            <a:r>
              <a:rPr dirty="0" sz="1150" spc="25">
                <a:latin typeface="Times New Roman"/>
                <a:cs typeface="Times New Roman"/>
              </a:rPr>
              <a:t>%</a:t>
            </a:r>
            <a:r>
              <a:rPr dirty="0" sz="1150" spc="3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-5.*s”,p,str);</a:t>
            </a:r>
            <a:endParaRPr sz="1150">
              <a:latin typeface="Times New Roman"/>
              <a:cs typeface="Times New Roman"/>
            </a:endParaRPr>
          </a:p>
          <a:p>
            <a:pPr marL="78105">
              <a:lnSpc>
                <a:spcPct val="100000"/>
              </a:lnSpc>
              <a:spcBef>
                <a:spcPts val="85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78105">
              <a:lnSpc>
                <a:spcPct val="100000"/>
              </a:lnSpc>
              <a:spcBef>
                <a:spcPts val="130"/>
              </a:spcBef>
            </a:pPr>
            <a:r>
              <a:rPr dirty="0" sz="1150" spc="15">
                <a:latin typeface="Times New Roman"/>
                <a:cs typeface="Times New Roman"/>
              </a:rPr>
              <a:t>printf(“\n”);</a:t>
            </a:r>
            <a:endParaRPr sz="1150">
              <a:latin typeface="Times New Roman"/>
              <a:cs typeface="Times New Roman"/>
            </a:endParaRPr>
          </a:p>
          <a:p>
            <a:pPr marL="78105">
              <a:lnSpc>
                <a:spcPct val="100000"/>
              </a:lnSpc>
              <a:spcBef>
                <a:spcPts val="110"/>
              </a:spcBef>
            </a:pPr>
            <a:r>
              <a:rPr dirty="0" sz="1150" spc="15">
                <a:latin typeface="Times New Roman"/>
                <a:cs typeface="Times New Roman"/>
              </a:rPr>
              <a:t>for(i=4;i&gt;=0;i--)</a:t>
            </a:r>
            <a:endParaRPr sz="1150">
              <a:latin typeface="Times New Roman"/>
              <a:cs typeface="Times New Roman"/>
            </a:endParaRPr>
          </a:p>
          <a:p>
            <a:pPr marL="78105">
              <a:lnSpc>
                <a:spcPct val="100000"/>
              </a:lnSpc>
              <a:spcBef>
                <a:spcPts val="130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78105">
              <a:lnSpc>
                <a:spcPct val="100000"/>
              </a:lnSpc>
              <a:spcBef>
                <a:spcPts val="100"/>
              </a:spcBef>
            </a:pPr>
            <a:r>
              <a:rPr dirty="0" sz="1150" spc="15">
                <a:latin typeface="Times New Roman"/>
                <a:cs typeface="Times New Roman"/>
              </a:rPr>
              <a:t>p=i+1;</a:t>
            </a:r>
            <a:endParaRPr sz="1150">
              <a:latin typeface="Times New Roman"/>
              <a:cs typeface="Times New Roman"/>
            </a:endParaRPr>
          </a:p>
          <a:p>
            <a:pPr marL="78105">
              <a:lnSpc>
                <a:spcPct val="100000"/>
              </a:lnSpc>
              <a:spcBef>
                <a:spcPts val="130"/>
              </a:spcBef>
            </a:pPr>
            <a:r>
              <a:rPr dirty="0" sz="1150" spc="15">
                <a:latin typeface="Times New Roman"/>
                <a:cs typeface="Times New Roman"/>
              </a:rPr>
              <a:t>printf(“\n </a:t>
            </a:r>
            <a:r>
              <a:rPr dirty="0" sz="1150" spc="25">
                <a:latin typeface="Times New Roman"/>
                <a:cs typeface="Times New Roman"/>
              </a:rPr>
              <a:t>%</a:t>
            </a:r>
            <a:r>
              <a:rPr dirty="0" sz="1150" spc="3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-5.*s”,p,str);</a:t>
            </a:r>
            <a:endParaRPr sz="1150">
              <a:latin typeface="Times New Roman"/>
              <a:cs typeface="Times New Roman"/>
            </a:endParaRPr>
          </a:p>
          <a:p>
            <a:pPr marL="78105">
              <a:lnSpc>
                <a:spcPct val="100000"/>
              </a:lnSpc>
              <a:spcBef>
                <a:spcPts val="100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 marL="78105">
              <a:lnSpc>
                <a:spcPct val="100000"/>
              </a:lnSpc>
              <a:spcBef>
                <a:spcPts val="130"/>
              </a:spcBef>
            </a:pPr>
            <a:r>
              <a:rPr dirty="0" sz="1150" spc="15">
                <a:latin typeface="Times New Roman"/>
                <a:cs typeface="Times New Roman"/>
              </a:rPr>
              <a:t>getch();</a:t>
            </a:r>
            <a:endParaRPr sz="1150">
              <a:latin typeface="Times New Roman"/>
              <a:cs typeface="Times New Roman"/>
            </a:endParaRPr>
          </a:p>
          <a:p>
            <a:pPr marL="78105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Times New Roman"/>
              <a:cs typeface="Times New Roman"/>
            </a:endParaRPr>
          </a:p>
          <a:p>
            <a:pPr algn="just" marL="78105">
              <a:lnSpc>
                <a:spcPct val="100000"/>
              </a:lnSpc>
              <a:spcBef>
                <a:spcPts val="5"/>
              </a:spcBef>
            </a:pPr>
            <a:r>
              <a:rPr dirty="0" sz="1150" spc="20" b="1">
                <a:latin typeface="Times New Roman"/>
                <a:cs typeface="Times New Roman"/>
              </a:rPr>
              <a:t>sprintf()</a:t>
            </a:r>
            <a:r>
              <a:rPr dirty="0" sz="1150" spc="-5" b="1">
                <a:latin typeface="Times New Roman"/>
                <a:cs typeface="Times New Roman"/>
              </a:rPr>
              <a:t> </a:t>
            </a:r>
            <a:r>
              <a:rPr dirty="0" sz="1150" spc="25" b="1">
                <a:latin typeface="Times New Roman"/>
                <a:cs typeface="Times New Roman"/>
              </a:rPr>
              <a:t>Function</a:t>
            </a:r>
            <a:endParaRPr sz="1150">
              <a:latin typeface="Times New Roman"/>
              <a:cs typeface="Times New Roman"/>
            </a:endParaRPr>
          </a:p>
          <a:p>
            <a:pPr algn="just" marL="78105" indent="456565">
              <a:lnSpc>
                <a:spcPct val="100000"/>
              </a:lnSpc>
              <a:spcBef>
                <a:spcPts val="60"/>
              </a:spcBef>
            </a:pPr>
            <a:r>
              <a:rPr dirty="0" sz="1150" spc="5">
                <a:latin typeface="Times New Roman"/>
                <a:cs typeface="Times New Roman"/>
              </a:rPr>
              <a:t>It</a:t>
            </a:r>
            <a:r>
              <a:rPr dirty="0" sz="1150" spc="16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is</a:t>
            </a:r>
            <a:r>
              <a:rPr dirty="0" sz="1150" spc="18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similar</a:t>
            </a:r>
            <a:r>
              <a:rPr dirty="0" sz="1150" spc="1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to</a:t>
            </a:r>
            <a:r>
              <a:rPr dirty="0" sz="1150" spc="15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printf()</a:t>
            </a:r>
            <a:r>
              <a:rPr dirty="0" sz="1150" spc="15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function.</a:t>
            </a:r>
            <a:r>
              <a:rPr dirty="0" sz="1150" spc="190">
                <a:latin typeface="Times New Roman"/>
                <a:cs typeface="Times New Roman"/>
              </a:rPr>
              <a:t> </a:t>
            </a:r>
            <a:r>
              <a:rPr dirty="0" sz="1150" spc="30">
                <a:latin typeface="Times New Roman"/>
                <a:cs typeface="Times New Roman"/>
              </a:rPr>
              <a:t>The</a:t>
            </a:r>
            <a:r>
              <a:rPr dirty="0" sz="1150" spc="19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only</a:t>
            </a:r>
            <a:r>
              <a:rPr dirty="0" sz="1150" spc="17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difference</a:t>
            </a:r>
            <a:r>
              <a:rPr dirty="0" sz="1150" spc="17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is</a:t>
            </a:r>
            <a:r>
              <a:rPr dirty="0" sz="1150" spc="17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that</a:t>
            </a:r>
            <a:r>
              <a:rPr dirty="0" sz="1150" spc="17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the</a:t>
            </a:r>
            <a:r>
              <a:rPr dirty="0" sz="1150" spc="19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formatted</a:t>
            </a:r>
            <a:r>
              <a:rPr dirty="0" sz="1150" spc="15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output</a:t>
            </a:r>
            <a:r>
              <a:rPr dirty="0" sz="1150" spc="18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is</a:t>
            </a:r>
            <a:endParaRPr sz="1150">
              <a:latin typeface="Times New Roman"/>
              <a:cs typeface="Times New Roman"/>
            </a:endParaRPr>
          </a:p>
          <a:p>
            <a:pPr algn="just" marL="78105" marR="5080">
              <a:lnSpc>
                <a:spcPct val="107800"/>
              </a:lnSpc>
              <a:spcBef>
                <a:spcPts val="10"/>
              </a:spcBef>
            </a:pPr>
            <a:r>
              <a:rPr dirty="0" sz="1150" spc="15">
                <a:latin typeface="Times New Roman"/>
                <a:cs typeface="Times New Roman"/>
              </a:rPr>
              <a:t>written</a:t>
            </a:r>
            <a:r>
              <a:rPr dirty="0" sz="1150" spc="-75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to</a:t>
            </a:r>
            <a:r>
              <a:rPr dirty="0" sz="1150" spc="-8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a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memory</a:t>
            </a:r>
            <a:r>
              <a:rPr dirty="0" sz="1150" spc="-8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area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rather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than</a:t>
            </a:r>
            <a:r>
              <a:rPr dirty="0" sz="1150" spc="-5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directly</a:t>
            </a:r>
            <a:r>
              <a:rPr dirty="0" sz="1150" spc="-95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to</a:t>
            </a:r>
            <a:r>
              <a:rPr dirty="0" sz="1150" spc="-4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standard</a:t>
            </a:r>
            <a:r>
              <a:rPr dirty="0" sz="1150" spc="-4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output(screen). </a:t>
            </a:r>
            <a:r>
              <a:rPr dirty="0" sz="1150" spc="5">
                <a:latin typeface="Times New Roman"/>
                <a:cs typeface="Times New Roman"/>
              </a:rPr>
              <a:t>It</a:t>
            </a:r>
            <a:r>
              <a:rPr dirty="0" sz="1150" spc="-4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is</a:t>
            </a:r>
            <a:r>
              <a:rPr dirty="0" sz="1150" spc="-9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useful</a:t>
            </a:r>
            <a:r>
              <a:rPr dirty="0" sz="1150" spc="-8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in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situations  </a:t>
            </a:r>
            <a:r>
              <a:rPr dirty="0" sz="1150" spc="20">
                <a:latin typeface="Times New Roman"/>
                <a:cs typeface="Times New Roman"/>
              </a:rPr>
              <a:t>when formatted </a:t>
            </a:r>
            <a:r>
              <a:rPr dirty="0" sz="1150" spc="15">
                <a:latin typeface="Times New Roman"/>
                <a:cs typeface="Times New Roman"/>
              </a:rPr>
              <a:t>strings </a:t>
            </a:r>
            <a:r>
              <a:rPr dirty="0" sz="1150" spc="20">
                <a:latin typeface="Times New Roman"/>
                <a:cs typeface="Times New Roman"/>
              </a:rPr>
              <a:t>in </a:t>
            </a:r>
            <a:r>
              <a:rPr dirty="0" sz="1150" spc="25">
                <a:latin typeface="Times New Roman"/>
                <a:cs typeface="Times New Roman"/>
              </a:rPr>
              <a:t>memory </a:t>
            </a:r>
            <a:r>
              <a:rPr dirty="0" sz="1150" spc="20">
                <a:latin typeface="Times New Roman"/>
                <a:cs typeface="Times New Roman"/>
              </a:rPr>
              <a:t>have to </a:t>
            </a:r>
            <a:r>
              <a:rPr dirty="0" sz="1150" spc="15">
                <a:latin typeface="Times New Roman"/>
                <a:cs typeface="Times New Roman"/>
              </a:rPr>
              <a:t>be </a:t>
            </a:r>
            <a:r>
              <a:rPr dirty="0" sz="1150" spc="20">
                <a:latin typeface="Times New Roman"/>
                <a:cs typeface="Times New Roman"/>
              </a:rPr>
              <a:t>transmitted </a:t>
            </a:r>
            <a:r>
              <a:rPr dirty="0" sz="1150" spc="15">
                <a:latin typeface="Times New Roman"/>
                <a:cs typeface="Times New Roman"/>
              </a:rPr>
              <a:t>over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20">
                <a:latin typeface="Times New Roman"/>
                <a:cs typeface="Times New Roman"/>
              </a:rPr>
              <a:t>communication channel </a:t>
            </a:r>
            <a:r>
              <a:rPr dirty="0" sz="1150" spc="15">
                <a:latin typeface="Times New Roman"/>
                <a:cs typeface="Times New Roman"/>
              </a:rPr>
              <a:t>or</a:t>
            </a:r>
            <a:r>
              <a:rPr dirty="0" sz="1150" spc="-195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to 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15">
                <a:latin typeface="Times New Roman"/>
                <a:cs typeface="Times New Roman"/>
              </a:rPr>
              <a:t>special device. </a:t>
            </a:r>
            <a:r>
              <a:rPr dirty="0" sz="1150" spc="20">
                <a:latin typeface="Times New Roman"/>
                <a:cs typeface="Times New Roman"/>
              </a:rPr>
              <a:t>Syntax is </a:t>
            </a:r>
            <a:r>
              <a:rPr dirty="0" sz="1150" spc="30">
                <a:latin typeface="Times New Roman"/>
                <a:cs typeface="Times New Roman"/>
              </a:rPr>
              <a:t>as</a:t>
            </a:r>
            <a:r>
              <a:rPr dirty="0" sz="1150" spc="4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follows:</a:t>
            </a:r>
            <a:endParaRPr sz="1150">
              <a:latin typeface="Times New Roman"/>
              <a:cs typeface="Times New Roman"/>
            </a:endParaRPr>
          </a:p>
          <a:p>
            <a:pPr algn="just" marL="535305">
              <a:lnSpc>
                <a:spcPct val="100000"/>
              </a:lnSpc>
              <a:spcBef>
                <a:spcPts val="120"/>
              </a:spcBef>
            </a:pPr>
            <a:r>
              <a:rPr dirty="0" sz="1150" spc="10">
                <a:latin typeface="Times New Roman"/>
                <a:cs typeface="Times New Roman"/>
              </a:rPr>
              <a:t>int </a:t>
            </a:r>
            <a:r>
              <a:rPr dirty="0" sz="1150" spc="15">
                <a:latin typeface="Times New Roman"/>
                <a:cs typeface="Times New Roman"/>
              </a:rPr>
              <a:t>sprintf( </a:t>
            </a:r>
            <a:r>
              <a:rPr dirty="0" sz="1150" spc="20">
                <a:latin typeface="Times New Roman"/>
                <a:cs typeface="Times New Roman"/>
              </a:rPr>
              <a:t>char </a:t>
            </a:r>
            <a:r>
              <a:rPr dirty="0" sz="1150" spc="15">
                <a:latin typeface="Times New Roman"/>
                <a:cs typeface="Times New Roman"/>
              </a:rPr>
              <a:t>* buffer, const </a:t>
            </a:r>
            <a:r>
              <a:rPr dirty="0" sz="1150" spc="20">
                <a:latin typeface="Times New Roman"/>
                <a:cs typeface="Times New Roman"/>
              </a:rPr>
              <a:t>char </a:t>
            </a:r>
            <a:r>
              <a:rPr dirty="0" sz="1150" spc="15">
                <a:latin typeface="Times New Roman"/>
                <a:cs typeface="Times New Roman"/>
              </a:rPr>
              <a:t>* </a:t>
            </a:r>
            <a:r>
              <a:rPr dirty="0" sz="1150" spc="20">
                <a:latin typeface="Times New Roman"/>
                <a:cs typeface="Times New Roman"/>
              </a:rPr>
              <a:t>format </a:t>
            </a:r>
            <a:r>
              <a:rPr dirty="0" sz="1150" spc="10">
                <a:latin typeface="Times New Roman"/>
                <a:cs typeface="Times New Roman"/>
              </a:rPr>
              <a:t>[ </a:t>
            </a:r>
            <a:r>
              <a:rPr dirty="0" sz="1150" spc="5">
                <a:latin typeface="Times New Roman"/>
                <a:cs typeface="Times New Roman"/>
              </a:rPr>
              <a:t>, </a:t>
            </a:r>
            <a:r>
              <a:rPr dirty="0" sz="1150" spc="20">
                <a:latin typeface="Times New Roman"/>
                <a:cs typeface="Times New Roman"/>
              </a:rPr>
              <a:t>argument </a:t>
            </a:r>
            <a:r>
              <a:rPr dirty="0" sz="1150" spc="5">
                <a:latin typeface="Times New Roman"/>
                <a:cs typeface="Times New Roman"/>
              </a:rPr>
              <a:t>, . . .</a:t>
            </a:r>
            <a:r>
              <a:rPr dirty="0" sz="1150" spc="135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]);</a:t>
            </a:r>
            <a:endParaRPr sz="1150">
              <a:latin typeface="Times New Roman"/>
              <a:cs typeface="Times New Roman"/>
            </a:endParaRPr>
          </a:p>
          <a:p>
            <a:pPr marL="78105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Where</a:t>
            </a:r>
            <a:endParaRPr sz="1150">
              <a:latin typeface="Times New Roman"/>
              <a:cs typeface="Times New Roman"/>
            </a:endParaRPr>
          </a:p>
          <a:p>
            <a:pPr marL="78105">
              <a:lnSpc>
                <a:spcPct val="100000"/>
              </a:lnSpc>
              <a:spcBef>
                <a:spcPts val="95"/>
              </a:spcBef>
            </a:pPr>
            <a:r>
              <a:rPr dirty="0" sz="1150" spc="20">
                <a:latin typeface="Times New Roman"/>
                <a:cs typeface="Times New Roman"/>
              </a:rPr>
              <a:t>Buffer </a:t>
            </a:r>
            <a:r>
              <a:rPr dirty="0" sz="1150" spc="15">
                <a:latin typeface="Times New Roman"/>
                <a:cs typeface="Times New Roman"/>
              </a:rPr>
              <a:t>is the place </a:t>
            </a:r>
            <a:r>
              <a:rPr dirty="0" sz="1150" spc="20">
                <a:latin typeface="Times New Roman"/>
                <a:cs typeface="Times New Roman"/>
              </a:rPr>
              <a:t>where </a:t>
            </a:r>
            <a:r>
              <a:rPr dirty="0" sz="1150" spc="15">
                <a:latin typeface="Times New Roman"/>
                <a:cs typeface="Times New Roman"/>
              </a:rPr>
              <a:t>string needs </a:t>
            </a:r>
            <a:r>
              <a:rPr dirty="0" sz="1150" spc="20">
                <a:latin typeface="Times New Roman"/>
                <a:cs typeface="Times New Roman"/>
              </a:rPr>
              <a:t>to </a:t>
            </a:r>
            <a:r>
              <a:rPr dirty="0" sz="1150" spc="15">
                <a:latin typeface="Times New Roman"/>
                <a:cs typeface="Times New Roman"/>
              </a:rPr>
              <a:t>be</a:t>
            </a:r>
            <a:r>
              <a:rPr dirty="0" sz="1150" spc="4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stored.</a:t>
            </a:r>
            <a:endParaRPr sz="1150">
              <a:latin typeface="Times New Roman"/>
              <a:cs typeface="Times New Roman"/>
            </a:endParaRPr>
          </a:p>
          <a:p>
            <a:pPr marL="78105" marR="212090">
              <a:lnSpc>
                <a:spcPct val="107000"/>
              </a:lnSpc>
              <a:spcBef>
                <a:spcPts val="35"/>
              </a:spcBef>
            </a:pPr>
            <a:r>
              <a:rPr dirty="0" sz="1150" spc="20">
                <a:latin typeface="Times New Roman"/>
                <a:cs typeface="Times New Roman"/>
              </a:rPr>
              <a:t>arguments </a:t>
            </a:r>
            <a:r>
              <a:rPr dirty="0" sz="1150" spc="25">
                <a:latin typeface="Times New Roman"/>
                <a:cs typeface="Times New Roman"/>
              </a:rPr>
              <a:t>command </a:t>
            </a:r>
            <a:r>
              <a:rPr dirty="0" sz="1150" spc="15">
                <a:latin typeface="Times New Roman"/>
                <a:cs typeface="Times New Roman"/>
              </a:rPr>
              <a:t>is </a:t>
            </a:r>
            <a:r>
              <a:rPr dirty="0" sz="1150" spc="20">
                <a:latin typeface="Times New Roman"/>
                <a:cs typeface="Times New Roman"/>
              </a:rPr>
              <a:t>an </a:t>
            </a:r>
            <a:r>
              <a:rPr dirty="0" sz="1150" spc="15">
                <a:latin typeface="Times New Roman"/>
                <a:cs typeface="Times New Roman"/>
              </a:rPr>
              <a:t>ellipsis so you </a:t>
            </a:r>
            <a:r>
              <a:rPr dirty="0" sz="1150" spc="20">
                <a:latin typeface="Times New Roman"/>
                <a:cs typeface="Times New Roman"/>
              </a:rPr>
              <a:t>can </a:t>
            </a:r>
            <a:r>
              <a:rPr dirty="0" sz="1150" spc="15">
                <a:latin typeface="Times New Roman"/>
                <a:cs typeface="Times New Roman"/>
              </a:rPr>
              <a:t>put as </a:t>
            </a:r>
            <a:r>
              <a:rPr dirty="0" sz="1150" spc="25">
                <a:latin typeface="Times New Roman"/>
                <a:cs typeface="Times New Roman"/>
              </a:rPr>
              <a:t>many </a:t>
            </a:r>
            <a:r>
              <a:rPr dirty="0" sz="1150" spc="20">
                <a:latin typeface="Times New Roman"/>
                <a:cs typeface="Times New Roman"/>
              </a:rPr>
              <a:t>types </a:t>
            </a:r>
            <a:r>
              <a:rPr dirty="0" sz="1150" spc="15">
                <a:latin typeface="Times New Roman"/>
                <a:cs typeface="Times New Roman"/>
              </a:rPr>
              <a:t>of </a:t>
            </a:r>
            <a:r>
              <a:rPr dirty="0" sz="1150" spc="20">
                <a:latin typeface="Times New Roman"/>
                <a:cs typeface="Times New Roman"/>
              </a:rPr>
              <a:t>arguments </a:t>
            </a:r>
            <a:r>
              <a:rPr dirty="0" sz="1150" spc="15">
                <a:latin typeface="Times New Roman"/>
                <a:cs typeface="Times New Roman"/>
              </a:rPr>
              <a:t>as you want  format is the string that contains the text </a:t>
            </a:r>
            <a:r>
              <a:rPr dirty="0" sz="1150" spc="20">
                <a:latin typeface="Times New Roman"/>
                <a:cs typeface="Times New Roman"/>
              </a:rPr>
              <a:t>to </a:t>
            </a:r>
            <a:r>
              <a:rPr dirty="0" sz="1150" spc="15">
                <a:latin typeface="Times New Roman"/>
                <a:cs typeface="Times New Roman"/>
              </a:rPr>
              <a:t>be</a:t>
            </a:r>
            <a:r>
              <a:rPr dirty="0" sz="1150" spc="4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printed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Times New Roman"/>
              <a:cs typeface="Times New Roman"/>
            </a:endParaRPr>
          </a:p>
          <a:p>
            <a:pPr marL="78105" marR="4664075">
              <a:lnSpc>
                <a:spcPct val="108700"/>
              </a:lnSpc>
              <a:spcBef>
                <a:spcPts val="5"/>
              </a:spcBef>
            </a:pPr>
            <a:r>
              <a:rPr dirty="0" sz="1150">
                <a:latin typeface="Times New Roman"/>
                <a:cs typeface="Times New Roman"/>
              </a:rPr>
              <a:t>#incl</a:t>
            </a:r>
            <a:r>
              <a:rPr dirty="0" sz="1150" spc="-15">
                <a:latin typeface="Times New Roman"/>
                <a:cs typeface="Times New Roman"/>
              </a:rPr>
              <a:t>u</a:t>
            </a:r>
            <a:r>
              <a:rPr dirty="0" sz="1150">
                <a:latin typeface="Times New Roman"/>
                <a:cs typeface="Times New Roman"/>
              </a:rPr>
              <a:t>de</a:t>
            </a:r>
            <a:r>
              <a:rPr dirty="0" sz="1150">
                <a:latin typeface="Times New Roman"/>
                <a:cs typeface="Times New Roman"/>
              </a:rPr>
              <a:t>&lt;</a:t>
            </a:r>
            <a:r>
              <a:rPr dirty="0" sz="1150" spc="-10">
                <a:latin typeface="Times New Roman"/>
                <a:cs typeface="Times New Roman"/>
              </a:rPr>
              <a:t>s</a:t>
            </a:r>
            <a:r>
              <a:rPr dirty="0" sz="1150">
                <a:latin typeface="Times New Roman"/>
                <a:cs typeface="Times New Roman"/>
              </a:rPr>
              <a:t>td</a:t>
            </a:r>
            <a:r>
              <a:rPr dirty="0" sz="1150" spc="-10">
                <a:latin typeface="Times New Roman"/>
                <a:cs typeface="Times New Roman"/>
              </a:rPr>
              <a:t>i</a:t>
            </a:r>
            <a:r>
              <a:rPr dirty="0" sz="1150">
                <a:latin typeface="Times New Roman"/>
                <a:cs typeface="Times New Roman"/>
              </a:rPr>
              <a:t>o.h&gt;  </a:t>
            </a:r>
            <a:r>
              <a:rPr dirty="0" sz="1150" spc="20">
                <a:latin typeface="Times New Roman"/>
                <a:cs typeface="Times New Roman"/>
              </a:rPr>
              <a:t>void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main()</a:t>
            </a:r>
            <a:endParaRPr sz="1150">
              <a:latin typeface="Times New Roman"/>
              <a:cs typeface="Times New Roman"/>
            </a:endParaRPr>
          </a:p>
          <a:p>
            <a:pPr marL="78105">
              <a:lnSpc>
                <a:spcPts val="1355"/>
              </a:lnSpc>
              <a:spcBef>
                <a:spcPts val="80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55"/>
              </a:lnSpc>
            </a:pPr>
            <a:r>
              <a:rPr dirty="0" sz="1150" spc="15">
                <a:latin typeface="Times New Roman"/>
                <a:cs typeface="Times New Roman"/>
              </a:rPr>
              <a:t>char buf[100];</a:t>
            </a:r>
            <a:r>
              <a:rPr dirty="0" sz="1150" spc="2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int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20">
                <a:latin typeface="Times New Roman"/>
                <a:cs typeface="Times New Roman"/>
              </a:rPr>
              <a:t>num=10;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324406"/>
            <a:ext cx="5755005" cy="764222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1150" spc="15">
                <a:latin typeface="Times New Roman"/>
                <a:cs typeface="Times New Roman"/>
              </a:rPr>
              <a:t>sprint(buf, </a:t>
            </a:r>
            <a:r>
              <a:rPr dirty="0" sz="1150" spc="25">
                <a:latin typeface="Times New Roman"/>
                <a:cs typeface="Times New Roman"/>
              </a:rPr>
              <a:t>“num=%3d”,</a:t>
            </a:r>
            <a:r>
              <a:rPr dirty="0" sz="1150" spc="3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num);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Times New Roman"/>
                <a:cs typeface="Times New Roman"/>
              </a:rPr>
              <a:t>SUPPRESSING INPUT</a:t>
            </a:r>
            <a:endParaRPr sz="14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75"/>
              </a:spcBef>
            </a:pPr>
            <a:r>
              <a:rPr dirty="0" sz="1150" spc="20">
                <a:latin typeface="Times New Roman"/>
                <a:cs typeface="Times New Roman"/>
              </a:rPr>
              <a:t>The </a:t>
            </a:r>
            <a:r>
              <a:rPr dirty="0" sz="1150" spc="15">
                <a:latin typeface="Times New Roman"/>
                <a:cs typeface="Times New Roman"/>
              </a:rPr>
              <a:t>scanf() function </a:t>
            </a:r>
            <a:r>
              <a:rPr dirty="0" sz="1150" spc="20">
                <a:latin typeface="Times New Roman"/>
                <a:cs typeface="Times New Roman"/>
              </a:rPr>
              <a:t>can </a:t>
            </a:r>
            <a:r>
              <a:rPr dirty="0" sz="1150" spc="15">
                <a:latin typeface="Times New Roman"/>
                <a:cs typeface="Times New Roman"/>
              </a:rPr>
              <a:t>be used </a:t>
            </a:r>
            <a:r>
              <a:rPr dirty="0" sz="1150" spc="20">
                <a:latin typeface="Times New Roman"/>
                <a:cs typeface="Times New Roman"/>
              </a:rPr>
              <a:t>to read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15">
                <a:latin typeface="Times New Roman"/>
                <a:cs typeface="Times New Roman"/>
              </a:rPr>
              <a:t>field without assigning </a:t>
            </a:r>
            <a:r>
              <a:rPr dirty="0" sz="1150" spc="10">
                <a:latin typeface="Times New Roman"/>
                <a:cs typeface="Times New Roman"/>
              </a:rPr>
              <a:t>it </a:t>
            </a:r>
            <a:r>
              <a:rPr dirty="0" sz="1150" spc="20">
                <a:latin typeface="Times New Roman"/>
                <a:cs typeface="Times New Roman"/>
              </a:rPr>
              <a:t>to any</a:t>
            </a:r>
            <a:r>
              <a:rPr dirty="0" sz="1150" spc="15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variable.</a:t>
            </a:r>
            <a:endParaRPr sz="1150">
              <a:latin typeface="Times New Roman"/>
              <a:cs typeface="Times New Roman"/>
            </a:endParaRPr>
          </a:p>
          <a:p>
            <a:pPr marL="469265" marR="1202055" indent="-457200">
              <a:lnSpc>
                <a:spcPts val="1510"/>
              </a:lnSpc>
              <a:spcBef>
                <a:spcPts val="40"/>
              </a:spcBef>
            </a:pPr>
            <a:r>
              <a:rPr dirty="0" sz="1150" spc="20">
                <a:latin typeface="Times New Roman"/>
                <a:cs typeface="Times New Roman"/>
              </a:rPr>
              <a:t>This </a:t>
            </a:r>
            <a:r>
              <a:rPr dirty="0" sz="1150" spc="15">
                <a:latin typeface="Times New Roman"/>
                <a:cs typeface="Times New Roman"/>
              </a:rPr>
              <a:t>is done by </a:t>
            </a:r>
            <a:r>
              <a:rPr dirty="0" sz="1150" spc="20">
                <a:latin typeface="Times New Roman"/>
                <a:cs typeface="Times New Roman"/>
              </a:rPr>
              <a:t>preceeding </a:t>
            </a:r>
            <a:r>
              <a:rPr dirty="0" sz="1150" spc="15">
                <a:latin typeface="Times New Roman"/>
                <a:cs typeface="Times New Roman"/>
              </a:rPr>
              <a:t>that field’s </a:t>
            </a:r>
            <a:r>
              <a:rPr dirty="0" sz="1150" spc="20">
                <a:latin typeface="Times New Roman"/>
                <a:cs typeface="Times New Roman"/>
              </a:rPr>
              <a:t>format code </a:t>
            </a:r>
            <a:r>
              <a:rPr dirty="0" sz="1150" spc="15">
                <a:latin typeface="Times New Roman"/>
                <a:cs typeface="Times New Roman"/>
              </a:rPr>
              <a:t>with </a:t>
            </a:r>
            <a:r>
              <a:rPr dirty="0" sz="1150" spc="10">
                <a:latin typeface="Times New Roman"/>
                <a:cs typeface="Times New Roman"/>
              </a:rPr>
              <a:t>a *. </a:t>
            </a:r>
            <a:r>
              <a:rPr dirty="0" sz="1150" spc="20">
                <a:latin typeface="Times New Roman"/>
                <a:cs typeface="Times New Roman"/>
              </a:rPr>
              <a:t>For example,  scanf(“%d </a:t>
            </a:r>
            <a:r>
              <a:rPr dirty="0" sz="1150" spc="15">
                <a:latin typeface="Times New Roman"/>
                <a:cs typeface="Times New Roman"/>
              </a:rPr>
              <a:t>*c </a:t>
            </a:r>
            <a:r>
              <a:rPr dirty="0" sz="1150" spc="25">
                <a:latin typeface="Times New Roman"/>
                <a:cs typeface="Times New Roman"/>
              </a:rPr>
              <a:t>%d”, </a:t>
            </a:r>
            <a:r>
              <a:rPr dirty="0" sz="1150" spc="20">
                <a:latin typeface="Times New Roman"/>
                <a:cs typeface="Times New Roman"/>
              </a:rPr>
              <a:t>&amp;hr,</a:t>
            </a:r>
            <a:r>
              <a:rPr dirty="0" sz="1150" spc="4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&amp;min);</a:t>
            </a:r>
            <a:endParaRPr sz="1150">
              <a:latin typeface="Times New Roman"/>
              <a:cs typeface="Times New Roman"/>
            </a:endParaRPr>
          </a:p>
          <a:p>
            <a:pPr marL="12700" marR="812165">
              <a:lnSpc>
                <a:spcPts val="2990"/>
              </a:lnSpc>
              <a:spcBef>
                <a:spcPts val="295"/>
              </a:spcBef>
            </a:pPr>
            <a:r>
              <a:rPr dirty="0" sz="1150" spc="20">
                <a:latin typeface="Times New Roman"/>
                <a:cs typeface="Times New Roman"/>
              </a:rPr>
              <a:t>The </a:t>
            </a:r>
            <a:r>
              <a:rPr dirty="0" sz="1150" spc="15">
                <a:latin typeface="Times New Roman"/>
                <a:cs typeface="Times New Roman"/>
              </a:rPr>
              <a:t>time is </a:t>
            </a:r>
            <a:r>
              <a:rPr dirty="0" sz="1150" spc="20">
                <a:latin typeface="Times New Roman"/>
                <a:cs typeface="Times New Roman"/>
              </a:rPr>
              <a:t>read </a:t>
            </a:r>
            <a:r>
              <a:rPr dirty="0" sz="1150" spc="15">
                <a:latin typeface="Times New Roman"/>
                <a:cs typeface="Times New Roman"/>
              </a:rPr>
              <a:t>as 9:05. Here </a:t>
            </a:r>
            <a:r>
              <a:rPr dirty="0" sz="1150" spc="20">
                <a:latin typeface="Times New Roman"/>
                <a:cs typeface="Times New Roman"/>
              </a:rPr>
              <a:t>colon </a:t>
            </a:r>
            <a:r>
              <a:rPr dirty="0" sz="1150" spc="25">
                <a:latin typeface="Times New Roman"/>
                <a:cs typeface="Times New Roman"/>
              </a:rPr>
              <a:t>would </a:t>
            </a:r>
            <a:r>
              <a:rPr dirty="0" sz="1150" spc="15">
                <a:latin typeface="Times New Roman"/>
                <a:cs typeface="Times New Roman"/>
              </a:rPr>
              <a:t>be </a:t>
            </a:r>
            <a:r>
              <a:rPr dirty="0" sz="1150" spc="20">
                <a:latin typeface="Times New Roman"/>
                <a:cs typeface="Times New Roman"/>
              </a:rPr>
              <a:t>read </a:t>
            </a:r>
            <a:r>
              <a:rPr dirty="0" sz="1150" spc="15">
                <a:latin typeface="Times New Roman"/>
                <a:cs typeface="Times New Roman"/>
              </a:rPr>
              <a:t>but not assigned </a:t>
            </a:r>
            <a:r>
              <a:rPr dirty="0" sz="1150" spc="20">
                <a:latin typeface="Times New Roman"/>
                <a:cs typeface="Times New Roman"/>
              </a:rPr>
              <a:t>to </a:t>
            </a:r>
            <a:r>
              <a:rPr dirty="0" sz="1150" spc="15">
                <a:latin typeface="Times New Roman"/>
                <a:cs typeface="Times New Roman"/>
              </a:rPr>
              <a:t>anything.  </a:t>
            </a:r>
            <a:r>
              <a:rPr dirty="0" sz="1150" spc="20">
                <a:latin typeface="Times New Roman"/>
                <a:cs typeface="Times New Roman"/>
              </a:rPr>
              <a:t>Using </a:t>
            </a:r>
            <a:r>
              <a:rPr dirty="0" sz="1150" spc="10">
                <a:latin typeface="Times New Roman"/>
                <a:cs typeface="Times New Roman"/>
              </a:rPr>
              <a:t>a</a:t>
            </a:r>
            <a:r>
              <a:rPr dirty="0" sz="1150" spc="15">
                <a:latin typeface="Times New Roman"/>
                <a:cs typeface="Times New Roman"/>
              </a:rPr>
              <a:t> scanset</a:t>
            </a:r>
            <a:endParaRPr sz="1150">
              <a:latin typeface="Times New Roman"/>
              <a:cs typeface="Times New Roman"/>
            </a:endParaRPr>
          </a:p>
          <a:p>
            <a:pPr marL="469265">
              <a:lnSpc>
                <a:spcPts val="1170"/>
              </a:lnSpc>
            </a:pPr>
            <a:r>
              <a:rPr dirty="0" sz="1150" spc="15">
                <a:latin typeface="Times New Roman"/>
                <a:cs typeface="Times New Roman"/>
              </a:rPr>
              <a:t>Scanset is used </a:t>
            </a:r>
            <a:r>
              <a:rPr dirty="0" sz="1150" spc="20">
                <a:latin typeface="Times New Roman"/>
                <a:cs typeface="Times New Roman"/>
              </a:rPr>
              <a:t>to </a:t>
            </a:r>
            <a:r>
              <a:rPr dirty="0" sz="1150" spc="15">
                <a:latin typeface="Times New Roman"/>
                <a:cs typeface="Times New Roman"/>
              </a:rPr>
              <a:t>define </a:t>
            </a:r>
            <a:r>
              <a:rPr dirty="0" sz="1150" spc="10">
                <a:latin typeface="Times New Roman"/>
                <a:cs typeface="Times New Roman"/>
              </a:rPr>
              <a:t>a set </a:t>
            </a:r>
            <a:r>
              <a:rPr dirty="0" sz="1150" spc="15">
                <a:latin typeface="Times New Roman"/>
                <a:cs typeface="Times New Roman"/>
              </a:rPr>
              <a:t>of </a:t>
            </a:r>
            <a:r>
              <a:rPr dirty="0" sz="1150" spc="20">
                <a:latin typeface="Times New Roman"/>
                <a:cs typeface="Times New Roman"/>
              </a:rPr>
              <a:t>characters which </a:t>
            </a:r>
            <a:r>
              <a:rPr dirty="0" sz="1150" spc="25">
                <a:latin typeface="Times New Roman"/>
                <a:cs typeface="Times New Roman"/>
              </a:rPr>
              <a:t>may </a:t>
            </a:r>
            <a:r>
              <a:rPr dirty="0" sz="1150" spc="15">
                <a:latin typeface="Times New Roman"/>
                <a:cs typeface="Times New Roman"/>
              </a:rPr>
              <a:t>be </a:t>
            </a:r>
            <a:r>
              <a:rPr dirty="0" sz="1150" spc="20">
                <a:latin typeface="Times New Roman"/>
                <a:cs typeface="Times New Roman"/>
              </a:rPr>
              <a:t>read and </a:t>
            </a:r>
            <a:r>
              <a:rPr dirty="0" sz="1150" spc="15">
                <a:latin typeface="Times New Roman"/>
                <a:cs typeface="Times New Roman"/>
              </a:rPr>
              <a:t>assigned </a:t>
            </a:r>
            <a:r>
              <a:rPr dirty="0" sz="1150" spc="20">
                <a:latin typeface="Times New Roman"/>
                <a:cs typeface="Times New Roman"/>
              </a:rPr>
              <a:t>to</a:t>
            </a:r>
            <a:r>
              <a:rPr dirty="0" sz="1150" spc="13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the</a:t>
            </a:r>
            <a:endParaRPr sz="1150">
              <a:latin typeface="Times New Roman"/>
              <a:cs typeface="Times New Roman"/>
            </a:endParaRPr>
          </a:p>
          <a:p>
            <a:pPr marL="12700" marR="158115">
              <a:lnSpc>
                <a:spcPts val="1500"/>
              </a:lnSpc>
              <a:spcBef>
                <a:spcPts val="25"/>
              </a:spcBef>
            </a:pPr>
            <a:r>
              <a:rPr dirty="0" sz="1150" spc="20">
                <a:latin typeface="Times New Roman"/>
                <a:cs typeface="Times New Roman"/>
              </a:rPr>
              <a:t>corresponding </a:t>
            </a:r>
            <a:r>
              <a:rPr dirty="0" sz="1150" spc="15">
                <a:latin typeface="Times New Roman"/>
                <a:cs typeface="Times New Roman"/>
              </a:rPr>
              <a:t>string. </a:t>
            </a:r>
            <a:r>
              <a:rPr dirty="0" sz="1150" spc="5">
                <a:latin typeface="Times New Roman"/>
                <a:cs typeface="Times New Roman"/>
              </a:rPr>
              <a:t>It </a:t>
            </a:r>
            <a:r>
              <a:rPr dirty="0" sz="1150" spc="15">
                <a:latin typeface="Times New Roman"/>
                <a:cs typeface="Times New Roman"/>
              </a:rPr>
              <a:t>is </a:t>
            </a:r>
            <a:r>
              <a:rPr dirty="0" sz="1150" spc="20">
                <a:latin typeface="Times New Roman"/>
                <a:cs typeface="Times New Roman"/>
              </a:rPr>
              <a:t>defined </a:t>
            </a:r>
            <a:r>
              <a:rPr dirty="0" sz="1150" spc="15">
                <a:latin typeface="Times New Roman"/>
                <a:cs typeface="Times New Roman"/>
              </a:rPr>
              <a:t>by </a:t>
            </a:r>
            <a:r>
              <a:rPr dirty="0" sz="1150" spc="20">
                <a:latin typeface="Times New Roman"/>
                <a:cs typeface="Times New Roman"/>
              </a:rPr>
              <a:t>placing </a:t>
            </a:r>
            <a:r>
              <a:rPr dirty="0" sz="1150" spc="15">
                <a:latin typeface="Times New Roman"/>
                <a:cs typeface="Times New Roman"/>
              </a:rPr>
              <a:t>the </a:t>
            </a:r>
            <a:r>
              <a:rPr dirty="0" sz="1150" spc="25">
                <a:latin typeface="Times New Roman"/>
                <a:cs typeface="Times New Roman"/>
              </a:rPr>
              <a:t>characters </a:t>
            </a:r>
            <a:r>
              <a:rPr dirty="0" sz="1150" spc="15">
                <a:latin typeface="Times New Roman"/>
                <a:cs typeface="Times New Roman"/>
              </a:rPr>
              <a:t>inside square </a:t>
            </a:r>
            <a:r>
              <a:rPr dirty="0" sz="1150" spc="20">
                <a:latin typeface="Times New Roman"/>
                <a:cs typeface="Times New Roman"/>
              </a:rPr>
              <a:t>brackets </a:t>
            </a:r>
            <a:r>
              <a:rPr dirty="0" sz="1150" spc="15">
                <a:latin typeface="Times New Roman"/>
                <a:cs typeface="Times New Roman"/>
              </a:rPr>
              <a:t>prefixed  </a:t>
            </a:r>
            <a:r>
              <a:rPr dirty="0" sz="1150" spc="20">
                <a:latin typeface="Times New Roman"/>
                <a:cs typeface="Times New Roman"/>
              </a:rPr>
              <a:t>with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25">
                <a:latin typeface="Times New Roman"/>
                <a:cs typeface="Times New Roman"/>
              </a:rPr>
              <a:t>% </a:t>
            </a:r>
            <a:r>
              <a:rPr dirty="0" sz="1150" spc="15">
                <a:latin typeface="Times New Roman"/>
                <a:cs typeface="Times New Roman"/>
              </a:rPr>
              <a:t>as </a:t>
            </a:r>
            <a:r>
              <a:rPr dirty="0" sz="1150" spc="20">
                <a:latin typeface="Times New Roman"/>
                <a:cs typeface="Times New Roman"/>
              </a:rPr>
              <a:t>shown in </a:t>
            </a:r>
            <a:r>
              <a:rPr dirty="0" sz="1150" spc="15">
                <a:latin typeface="Times New Roman"/>
                <a:cs typeface="Times New Roman"/>
              </a:rPr>
              <a:t>the</a:t>
            </a:r>
            <a:r>
              <a:rPr dirty="0" sz="1150" spc="20">
                <a:latin typeface="Times New Roman"/>
                <a:cs typeface="Times New Roman"/>
              </a:rPr>
              <a:t> example.</a:t>
            </a:r>
            <a:endParaRPr sz="115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25"/>
              </a:spcBef>
            </a:pPr>
            <a:r>
              <a:rPr dirty="0" sz="1150" spc="20">
                <a:latin typeface="Times New Roman"/>
                <a:cs typeface="Times New Roman"/>
              </a:rPr>
              <a:t>%[“aeiou”]</a:t>
            </a:r>
            <a:endParaRPr sz="1150">
              <a:latin typeface="Times New Roman"/>
              <a:cs typeface="Times New Roman"/>
            </a:endParaRPr>
          </a:p>
          <a:p>
            <a:pPr marL="12700" marR="5080">
              <a:lnSpc>
                <a:spcPct val="107000"/>
              </a:lnSpc>
              <a:spcBef>
                <a:spcPts val="45"/>
              </a:spcBef>
            </a:pPr>
            <a:r>
              <a:rPr dirty="0" sz="1150" spc="25">
                <a:latin typeface="Times New Roman"/>
                <a:cs typeface="Times New Roman"/>
              </a:rPr>
              <a:t>When </a:t>
            </a:r>
            <a:r>
              <a:rPr dirty="0" sz="1150" spc="20">
                <a:latin typeface="Times New Roman"/>
                <a:cs typeface="Times New Roman"/>
              </a:rPr>
              <a:t>we </a:t>
            </a:r>
            <a:r>
              <a:rPr dirty="0" sz="1150" spc="15">
                <a:latin typeface="Times New Roman"/>
                <a:cs typeface="Times New Roman"/>
              </a:rPr>
              <a:t>use the </a:t>
            </a:r>
            <a:r>
              <a:rPr dirty="0" sz="1150" spc="20">
                <a:latin typeface="Times New Roman"/>
                <a:cs typeface="Times New Roman"/>
              </a:rPr>
              <a:t>above </a:t>
            </a:r>
            <a:r>
              <a:rPr dirty="0" sz="1150" spc="15">
                <a:latin typeface="Times New Roman"/>
                <a:cs typeface="Times New Roman"/>
              </a:rPr>
              <a:t>scanset, scanf() will </a:t>
            </a:r>
            <a:r>
              <a:rPr dirty="0" sz="1150" spc="20">
                <a:latin typeface="Times New Roman"/>
                <a:cs typeface="Times New Roman"/>
              </a:rPr>
              <a:t>continue to read </a:t>
            </a:r>
            <a:r>
              <a:rPr dirty="0" sz="1150" spc="15">
                <a:latin typeface="Times New Roman"/>
                <a:cs typeface="Times New Roman"/>
              </a:rPr>
              <a:t>characters </a:t>
            </a:r>
            <a:r>
              <a:rPr dirty="0" sz="1150" spc="20">
                <a:latin typeface="Times New Roman"/>
                <a:cs typeface="Times New Roman"/>
              </a:rPr>
              <a:t>and </a:t>
            </a:r>
            <a:r>
              <a:rPr dirty="0" sz="1150" spc="15">
                <a:latin typeface="Times New Roman"/>
                <a:cs typeface="Times New Roman"/>
              </a:rPr>
              <a:t>put </a:t>
            </a:r>
            <a:r>
              <a:rPr dirty="0" sz="1150" spc="20">
                <a:latin typeface="Times New Roman"/>
                <a:cs typeface="Times New Roman"/>
              </a:rPr>
              <a:t>them into </a:t>
            </a:r>
            <a:r>
              <a:rPr dirty="0" sz="1150" spc="15">
                <a:latin typeface="Times New Roman"/>
                <a:cs typeface="Times New Roman"/>
              </a:rPr>
              <a:t>the  string until </a:t>
            </a:r>
            <a:r>
              <a:rPr dirty="0" sz="1150" spc="10">
                <a:latin typeface="Times New Roman"/>
                <a:cs typeface="Times New Roman"/>
              </a:rPr>
              <a:t>it </a:t>
            </a:r>
            <a:r>
              <a:rPr dirty="0" sz="1150" spc="20">
                <a:latin typeface="Times New Roman"/>
                <a:cs typeface="Times New Roman"/>
              </a:rPr>
              <a:t>encounters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15">
                <a:latin typeface="Times New Roman"/>
                <a:cs typeface="Times New Roman"/>
              </a:rPr>
              <a:t>character that is not </a:t>
            </a:r>
            <a:r>
              <a:rPr dirty="0" sz="1150" spc="20">
                <a:latin typeface="Times New Roman"/>
                <a:cs typeface="Times New Roman"/>
              </a:rPr>
              <a:t>specie in </a:t>
            </a:r>
            <a:r>
              <a:rPr dirty="0" sz="1150" spc="15">
                <a:latin typeface="Times New Roman"/>
                <a:cs typeface="Times New Roman"/>
              </a:rPr>
              <a:t>the</a:t>
            </a:r>
            <a:r>
              <a:rPr dirty="0" sz="1150" spc="5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scanset.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4672330">
              <a:lnSpc>
                <a:spcPct val="108700"/>
              </a:lnSpc>
            </a:pPr>
            <a:r>
              <a:rPr dirty="0" sz="1150">
                <a:latin typeface="Times New Roman"/>
                <a:cs typeface="Times New Roman"/>
              </a:rPr>
              <a:t>#incl</a:t>
            </a:r>
            <a:r>
              <a:rPr dirty="0" sz="1150" spc="-15">
                <a:latin typeface="Times New Roman"/>
                <a:cs typeface="Times New Roman"/>
              </a:rPr>
              <a:t>u</a:t>
            </a:r>
            <a:r>
              <a:rPr dirty="0" sz="1150">
                <a:latin typeface="Times New Roman"/>
                <a:cs typeface="Times New Roman"/>
              </a:rPr>
              <a:t>de</a:t>
            </a:r>
            <a:r>
              <a:rPr dirty="0" sz="1150">
                <a:latin typeface="Times New Roman"/>
                <a:cs typeface="Times New Roman"/>
              </a:rPr>
              <a:t>&lt;</a:t>
            </a:r>
            <a:r>
              <a:rPr dirty="0" sz="1150" spc="-10">
                <a:latin typeface="Times New Roman"/>
                <a:cs typeface="Times New Roman"/>
              </a:rPr>
              <a:t>s</a:t>
            </a:r>
            <a:r>
              <a:rPr dirty="0" sz="1150">
                <a:latin typeface="Times New Roman"/>
                <a:cs typeface="Times New Roman"/>
              </a:rPr>
              <a:t>td</a:t>
            </a:r>
            <a:r>
              <a:rPr dirty="0" sz="1150" spc="-10">
                <a:latin typeface="Times New Roman"/>
                <a:cs typeface="Times New Roman"/>
              </a:rPr>
              <a:t>i</a:t>
            </a:r>
            <a:r>
              <a:rPr dirty="0" sz="1150">
                <a:latin typeface="Times New Roman"/>
                <a:cs typeface="Times New Roman"/>
              </a:rPr>
              <a:t>o.h&gt;  </a:t>
            </a:r>
            <a:r>
              <a:rPr dirty="0" sz="1150" spc="20">
                <a:latin typeface="Times New Roman"/>
                <a:cs typeface="Times New Roman"/>
              </a:rPr>
              <a:t>void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main()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{</a:t>
            </a:r>
            <a:endParaRPr sz="1150">
              <a:latin typeface="Times New Roman"/>
              <a:cs typeface="Times New Roman"/>
            </a:endParaRPr>
          </a:p>
          <a:p>
            <a:pPr marL="12700" marR="4052570">
              <a:lnSpc>
                <a:spcPct val="107800"/>
              </a:lnSpc>
              <a:spcBef>
                <a:spcPts val="40"/>
              </a:spcBef>
            </a:pPr>
            <a:r>
              <a:rPr dirty="0" sz="1150" spc="15">
                <a:latin typeface="Times New Roman"/>
                <a:cs typeface="Times New Roman"/>
              </a:rPr>
              <a:t>char str[10];  </a:t>
            </a:r>
            <a:r>
              <a:rPr dirty="0" sz="1150" spc="20">
                <a:latin typeface="Times New Roman"/>
                <a:cs typeface="Times New Roman"/>
              </a:rPr>
              <a:t>scanf(“%[aeiou]”, </a:t>
            </a:r>
            <a:r>
              <a:rPr dirty="0" sz="1150" spc="10">
                <a:latin typeface="Times New Roman"/>
                <a:cs typeface="Times New Roman"/>
              </a:rPr>
              <a:t>str);  </a:t>
            </a:r>
            <a:r>
              <a:rPr dirty="0" sz="1150" spc="15">
                <a:latin typeface="Times New Roman"/>
                <a:cs typeface="Times New Roman"/>
              </a:rPr>
              <a:t>printf(“ string is </a:t>
            </a:r>
            <a:r>
              <a:rPr dirty="0" sz="1150" spc="5">
                <a:latin typeface="Times New Roman"/>
                <a:cs typeface="Times New Roman"/>
              </a:rPr>
              <a:t>: </a:t>
            </a:r>
            <a:r>
              <a:rPr dirty="0" sz="1150" spc="15">
                <a:latin typeface="Times New Roman"/>
                <a:cs typeface="Times New Roman"/>
              </a:rPr>
              <a:t>%s”,</a:t>
            </a:r>
            <a:r>
              <a:rPr dirty="0" sz="1150" spc="5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str);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15">
                <a:latin typeface="Times New Roman"/>
                <a:cs typeface="Times New Roman"/>
              </a:rPr>
              <a:t>}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665480">
              <a:lnSpc>
                <a:spcPct val="109600"/>
              </a:lnSpc>
            </a:pPr>
            <a:r>
              <a:rPr dirty="0" sz="1150" spc="20">
                <a:latin typeface="Times New Roman"/>
                <a:cs typeface="Times New Roman"/>
              </a:rPr>
              <a:t>The following code </a:t>
            </a:r>
            <a:r>
              <a:rPr dirty="0" sz="1150" spc="15">
                <a:latin typeface="Times New Roman"/>
                <a:cs typeface="Times New Roman"/>
              </a:rPr>
              <a:t>will accept characters other </a:t>
            </a:r>
            <a:r>
              <a:rPr dirty="0" sz="1150" spc="20">
                <a:latin typeface="Times New Roman"/>
                <a:cs typeface="Times New Roman"/>
              </a:rPr>
              <a:t>than </a:t>
            </a:r>
            <a:r>
              <a:rPr dirty="0" sz="1150" spc="15">
                <a:latin typeface="Times New Roman"/>
                <a:cs typeface="Times New Roman"/>
              </a:rPr>
              <a:t>those specified </a:t>
            </a:r>
            <a:r>
              <a:rPr dirty="0" sz="1150" spc="20">
                <a:latin typeface="Times New Roman"/>
                <a:cs typeface="Times New Roman"/>
              </a:rPr>
              <a:t>in </a:t>
            </a:r>
            <a:r>
              <a:rPr dirty="0" sz="1150" spc="15">
                <a:latin typeface="Times New Roman"/>
                <a:cs typeface="Times New Roman"/>
              </a:rPr>
              <a:t>the scanset.  </a:t>
            </a:r>
            <a:r>
              <a:rPr dirty="0" sz="1150" spc="20">
                <a:latin typeface="Times New Roman"/>
                <a:cs typeface="Times New Roman"/>
              </a:rPr>
              <a:t>scanf(“%[^aeiou]”, </a:t>
            </a:r>
            <a:r>
              <a:rPr dirty="0" sz="1150" spc="10">
                <a:latin typeface="Times New Roman"/>
                <a:cs typeface="Times New Roman"/>
              </a:rPr>
              <a:t>str);</a:t>
            </a:r>
            <a:endParaRPr sz="1150">
              <a:latin typeface="Times New Roman"/>
              <a:cs typeface="Times New Roman"/>
            </a:endParaRPr>
          </a:p>
          <a:p>
            <a:pPr marL="12700" marR="49530">
              <a:lnSpc>
                <a:spcPct val="108700"/>
              </a:lnSpc>
            </a:pPr>
            <a:r>
              <a:rPr dirty="0" sz="1150" spc="20">
                <a:latin typeface="Times New Roman"/>
                <a:cs typeface="Times New Roman"/>
              </a:rPr>
              <a:t>The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following</a:t>
            </a:r>
            <a:r>
              <a:rPr dirty="0" sz="1150" spc="-3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code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will</a:t>
            </a:r>
            <a:r>
              <a:rPr dirty="0" sz="1150" spc="-6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accept</a:t>
            </a:r>
            <a:r>
              <a:rPr dirty="0" sz="1150" spc="-5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any</a:t>
            </a:r>
            <a:r>
              <a:rPr dirty="0" sz="1150" spc="-1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character</a:t>
            </a:r>
            <a:r>
              <a:rPr dirty="0" sz="1150" spc="-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enclosed</a:t>
            </a:r>
            <a:r>
              <a:rPr dirty="0" sz="1150" spc="-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in</a:t>
            </a:r>
            <a:r>
              <a:rPr dirty="0" sz="1150" spc="-3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opening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and</a:t>
            </a:r>
            <a:r>
              <a:rPr dirty="0" sz="1150" spc="-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closing</a:t>
            </a:r>
            <a:r>
              <a:rPr dirty="0" sz="1150" spc="-4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square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brackets.  </a:t>
            </a:r>
            <a:r>
              <a:rPr dirty="0" sz="1150" spc="20">
                <a:latin typeface="Times New Roman"/>
                <a:cs typeface="Times New Roman"/>
              </a:rPr>
              <a:t>scanf(“%[0123456789. </a:t>
            </a:r>
            <a:r>
              <a:rPr dirty="0" sz="1150" spc="15">
                <a:latin typeface="Times New Roman"/>
                <a:cs typeface="Times New Roman"/>
              </a:rPr>
              <a:t>^ </a:t>
            </a:r>
            <a:r>
              <a:rPr dirty="0" sz="1150" spc="10">
                <a:latin typeface="Times New Roman"/>
                <a:cs typeface="Times New Roman"/>
              </a:rPr>
              <a:t>[] () </a:t>
            </a:r>
            <a:r>
              <a:rPr dirty="0" sz="1150" spc="15">
                <a:latin typeface="Times New Roman"/>
                <a:cs typeface="Times New Roman"/>
              </a:rPr>
              <a:t>_ + </a:t>
            </a:r>
            <a:r>
              <a:rPr dirty="0" sz="1150" spc="25">
                <a:latin typeface="Times New Roman"/>
                <a:cs typeface="Times New Roman"/>
              </a:rPr>
              <a:t>-$%&amp;*]”,</a:t>
            </a:r>
            <a:r>
              <a:rPr dirty="0" sz="1150" spc="10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str);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226060">
              <a:lnSpc>
                <a:spcPct val="108900"/>
              </a:lnSpc>
            </a:pPr>
            <a:r>
              <a:rPr dirty="0" sz="1150" spc="20">
                <a:latin typeface="Times New Roman"/>
                <a:cs typeface="Times New Roman"/>
              </a:rPr>
              <a:t>The following code </a:t>
            </a:r>
            <a:r>
              <a:rPr dirty="0" sz="1150" spc="15">
                <a:latin typeface="Times New Roman"/>
                <a:cs typeface="Times New Roman"/>
              </a:rPr>
              <a:t>will accept </a:t>
            </a:r>
            <a:r>
              <a:rPr dirty="0" sz="1150" spc="20">
                <a:latin typeface="Times New Roman"/>
                <a:cs typeface="Times New Roman"/>
              </a:rPr>
              <a:t>any </a:t>
            </a:r>
            <a:r>
              <a:rPr dirty="0" sz="1150" spc="15">
                <a:latin typeface="Times New Roman"/>
                <a:cs typeface="Times New Roman"/>
              </a:rPr>
              <a:t>character </a:t>
            </a:r>
            <a:r>
              <a:rPr dirty="0" sz="1150" spc="20">
                <a:latin typeface="Times New Roman"/>
                <a:cs typeface="Times New Roman"/>
              </a:rPr>
              <a:t>from small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20">
                <a:latin typeface="Times New Roman"/>
                <a:cs typeface="Times New Roman"/>
              </a:rPr>
              <a:t>to </a:t>
            </a:r>
            <a:r>
              <a:rPr dirty="0" sz="1150" spc="10">
                <a:latin typeface="Times New Roman"/>
                <a:cs typeface="Times New Roman"/>
              </a:rPr>
              <a:t>z. </a:t>
            </a:r>
            <a:r>
              <a:rPr dirty="0" sz="1150" spc="20">
                <a:latin typeface="Times New Roman"/>
                <a:cs typeface="Times New Roman"/>
              </a:rPr>
              <a:t>Range </a:t>
            </a:r>
            <a:r>
              <a:rPr dirty="0" sz="1150" spc="15">
                <a:latin typeface="Times New Roman"/>
                <a:cs typeface="Times New Roman"/>
              </a:rPr>
              <a:t>is specified </a:t>
            </a:r>
            <a:r>
              <a:rPr dirty="0" sz="1150" spc="20">
                <a:latin typeface="Times New Roman"/>
                <a:cs typeface="Times New Roman"/>
              </a:rPr>
              <a:t>using </a:t>
            </a:r>
            <a:r>
              <a:rPr dirty="0" sz="1150" spc="10">
                <a:latin typeface="Times New Roman"/>
                <a:cs typeface="Times New Roman"/>
              </a:rPr>
              <a:t>a  </a:t>
            </a:r>
            <a:r>
              <a:rPr dirty="0" sz="1150" spc="15">
                <a:latin typeface="Times New Roman"/>
                <a:cs typeface="Times New Roman"/>
              </a:rPr>
              <a:t>hyphen.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1150" spc="15">
                <a:latin typeface="Times New Roman"/>
                <a:cs typeface="Times New Roman"/>
              </a:rPr>
              <a:t>scanf(“%[a-z]”,str);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50" spc="20" b="1">
                <a:latin typeface="Times New Roman"/>
                <a:cs typeface="Times New Roman"/>
              </a:rPr>
              <a:t>scanf()</a:t>
            </a:r>
            <a:r>
              <a:rPr dirty="0" sz="1150" spc="5" b="1">
                <a:latin typeface="Times New Roman"/>
                <a:cs typeface="Times New Roman"/>
              </a:rPr>
              <a:t> </a:t>
            </a:r>
            <a:r>
              <a:rPr dirty="0" sz="1150" spc="25" b="1">
                <a:latin typeface="Times New Roman"/>
                <a:cs typeface="Times New Roman"/>
              </a:rPr>
              <a:t>Function</a:t>
            </a:r>
            <a:endParaRPr sz="1150">
              <a:latin typeface="Times New Roman"/>
              <a:cs typeface="Times New Roman"/>
            </a:endParaRPr>
          </a:p>
          <a:p>
            <a:pPr marL="12700" indent="456565">
              <a:lnSpc>
                <a:spcPct val="100000"/>
              </a:lnSpc>
              <a:spcBef>
                <a:spcPts val="95"/>
              </a:spcBef>
            </a:pPr>
            <a:r>
              <a:rPr dirty="0" sz="1150" spc="5">
                <a:latin typeface="Times New Roman"/>
                <a:cs typeface="Times New Roman"/>
              </a:rPr>
              <a:t>It </a:t>
            </a:r>
            <a:r>
              <a:rPr dirty="0" sz="1150" spc="20">
                <a:latin typeface="Times New Roman"/>
                <a:cs typeface="Times New Roman"/>
              </a:rPr>
              <a:t>accepts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15">
                <a:latin typeface="Times New Roman"/>
                <a:cs typeface="Times New Roman"/>
              </a:rPr>
              <a:t>string </a:t>
            </a:r>
            <a:r>
              <a:rPr dirty="0" sz="1150" spc="20">
                <a:latin typeface="Times New Roman"/>
                <a:cs typeface="Times New Roman"/>
              </a:rPr>
              <a:t>from which to read </a:t>
            </a:r>
            <a:r>
              <a:rPr dirty="0" sz="1150" spc="15">
                <a:latin typeface="Times New Roman"/>
                <a:cs typeface="Times New Roman"/>
              </a:rPr>
              <a:t>input. </a:t>
            </a:r>
            <a:r>
              <a:rPr dirty="0" sz="1150" spc="5">
                <a:latin typeface="Times New Roman"/>
                <a:cs typeface="Times New Roman"/>
              </a:rPr>
              <a:t>It </a:t>
            </a:r>
            <a:r>
              <a:rPr dirty="0" sz="1150" spc="15">
                <a:latin typeface="Times New Roman"/>
                <a:cs typeface="Times New Roman"/>
              </a:rPr>
              <a:t>is similar </a:t>
            </a:r>
            <a:r>
              <a:rPr dirty="0" sz="1150" spc="20">
                <a:latin typeface="Times New Roman"/>
                <a:cs typeface="Times New Roman"/>
              </a:rPr>
              <a:t>to </a:t>
            </a:r>
            <a:r>
              <a:rPr dirty="0" sz="1150" spc="15">
                <a:latin typeface="Times New Roman"/>
                <a:cs typeface="Times New Roman"/>
              </a:rPr>
              <a:t>scanf() </a:t>
            </a:r>
            <a:r>
              <a:rPr dirty="0" sz="1150" spc="20">
                <a:latin typeface="Times New Roman"/>
                <a:cs typeface="Times New Roman"/>
              </a:rPr>
              <a:t>function </a:t>
            </a:r>
            <a:r>
              <a:rPr dirty="0" sz="1150" spc="15">
                <a:latin typeface="Times New Roman"/>
                <a:cs typeface="Times New Roman"/>
              </a:rPr>
              <a:t>except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that</a:t>
            </a:r>
            <a:endParaRPr sz="1150">
              <a:latin typeface="Times New Roman"/>
              <a:cs typeface="Times New Roman"/>
            </a:endParaRPr>
          </a:p>
          <a:p>
            <a:pPr marL="12700" marR="19050">
              <a:lnSpc>
                <a:spcPct val="107800"/>
              </a:lnSpc>
              <a:spcBef>
                <a:spcPts val="15"/>
              </a:spcBef>
            </a:pPr>
            <a:r>
              <a:rPr dirty="0" sz="1150" spc="15">
                <a:latin typeface="Times New Roman"/>
                <a:cs typeface="Times New Roman"/>
              </a:rPr>
              <a:t>the </a:t>
            </a:r>
            <a:r>
              <a:rPr dirty="0" sz="1150" spc="10">
                <a:latin typeface="Times New Roman"/>
                <a:cs typeface="Times New Roman"/>
              </a:rPr>
              <a:t>first </a:t>
            </a:r>
            <a:r>
              <a:rPr dirty="0" sz="1150" spc="20">
                <a:latin typeface="Times New Roman"/>
                <a:cs typeface="Times New Roman"/>
              </a:rPr>
              <a:t>argument </a:t>
            </a:r>
            <a:r>
              <a:rPr dirty="0" sz="1150" spc="15">
                <a:latin typeface="Times New Roman"/>
                <a:cs typeface="Times New Roman"/>
              </a:rPr>
              <a:t>of scanf specifies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15">
                <a:latin typeface="Times New Roman"/>
                <a:cs typeface="Times New Roman"/>
              </a:rPr>
              <a:t>string </a:t>
            </a:r>
            <a:r>
              <a:rPr dirty="0" sz="1150" spc="20">
                <a:latin typeface="Times New Roman"/>
                <a:cs typeface="Times New Roman"/>
              </a:rPr>
              <a:t>from which to </a:t>
            </a:r>
            <a:r>
              <a:rPr dirty="0" sz="1150" spc="15">
                <a:latin typeface="Times New Roman"/>
                <a:cs typeface="Times New Roman"/>
              </a:rPr>
              <a:t>read, </a:t>
            </a:r>
            <a:r>
              <a:rPr dirty="0" sz="1150" spc="20">
                <a:latin typeface="Times New Roman"/>
                <a:cs typeface="Times New Roman"/>
              </a:rPr>
              <a:t>whereas </a:t>
            </a:r>
            <a:r>
              <a:rPr dirty="0" sz="1150" spc="15">
                <a:latin typeface="Times New Roman"/>
                <a:cs typeface="Times New Roman"/>
              </a:rPr>
              <a:t>scanf can </a:t>
            </a:r>
            <a:r>
              <a:rPr dirty="0" sz="1150" spc="20">
                <a:latin typeface="Times New Roman"/>
                <a:cs typeface="Times New Roman"/>
              </a:rPr>
              <a:t>only read  from </a:t>
            </a:r>
            <a:r>
              <a:rPr dirty="0" sz="1150" spc="15">
                <a:latin typeface="Times New Roman"/>
                <a:cs typeface="Times New Roman"/>
              </a:rPr>
              <a:t>standard input. </a:t>
            </a:r>
            <a:r>
              <a:rPr dirty="0" sz="1150" spc="20">
                <a:latin typeface="Times New Roman"/>
                <a:cs typeface="Times New Roman"/>
              </a:rPr>
              <a:t>Syntax is </a:t>
            </a:r>
            <a:r>
              <a:rPr dirty="0" sz="1150" spc="30">
                <a:latin typeface="Times New Roman"/>
                <a:cs typeface="Times New Roman"/>
              </a:rPr>
              <a:t>as</a:t>
            </a:r>
            <a:r>
              <a:rPr dirty="0" sz="1150" spc="15">
                <a:latin typeface="Times New Roman"/>
                <a:cs typeface="Times New Roman"/>
              </a:rPr>
              <a:t> follows:</a:t>
            </a:r>
            <a:endParaRPr sz="115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80"/>
              </a:spcBef>
            </a:pPr>
            <a:r>
              <a:rPr dirty="0" sz="1150" spc="15">
                <a:latin typeface="Times New Roman"/>
                <a:cs typeface="Times New Roman"/>
              </a:rPr>
              <a:t>intscanf(const </a:t>
            </a:r>
            <a:r>
              <a:rPr dirty="0" sz="1150" spc="20">
                <a:latin typeface="Times New Roman"/>
                <a:cs typeface="Times New Roman"/>
              </a:rPr>
              <a:t>char </a:t>
            </a:r>
            <a:r>
              <a:rPr dirty="0" sz="1150" spc="15">
                <a:latin typeface="Times New Roman"/>
                <a:cs typeface="Times New Roman"/>
              </a:rPr>
              <a:t>* </a:t>
            </a:r>
            <a:r>
              <a:rPr dirty="0" sz="1150" spc="10">
                <a:latin typeface="Times New Roman"/>
                <a:cs typeface="Times New Roman"/>
              </a:rPr>
              <a:t>str, </a:t>
            </a:r>
            <a:r>
              <a:rPr dirty="0" sz="1150" spc="15">
                <a:latin typeface="Times New Roman"/>
                <a:cs typeface="Times New Roman"/>
              </a:rPr>
              <a:t>const </a:t>
            </a:r>
            <a:r>
              <a:rPr dirty="0" sz="1150" spc="20">
                <a:latin typeface="Times New Roman"/>
                <a:cs typeface="Times New Roman"/>
              </a:rPr>
              <a:t>char </a:t>
            </a:r>
            <a:r>
              <a:rPr dirty="0" sz="1150" spc="15">
                <a:latin typeface="Times New Roman"/>
                <a:cs typeface="Times New Roman"/>
              </a:rPr>
              <a:t>* format, </a:t>
            </a:r>
            <a:r>
              <a:rPr dirty="0" sz="1150" spc="20">
                <a:latin typeface="Times New Roman"/>
                <a:cs typeface="Times New Roman"/>
              </a:rPr>
              <a:t>[p1,p2 </a:t>
            </a:r>
            <a:r>
              <a:rPr dirty="0" sz="1150" spc="5">
                <a:latin typeface="Times New Roman"/>
                <a:cs typeface="Times New Roman"/>
              </a:rPr>
              <a:t>, . . .</a:t>
            </a:r>
            <a:r>
              <a:rPr dirty="0" sz="1150" spc="13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]);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219250"/>
            <a:ext cx="5741035" cy="135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19685">
              <a:lnSpc>
                <a:spcPct val="107800"/>
              </a:lnSpc>
              <a:spcBef>
                <a:spcPts val="100"/>
              </a:spcBef>
            </a:pPr>
            <a:r>
              <a:rPr dirty="0" sz="1150" spc="20">
                <a:latin typeface="Times New Roman"/>
                <a:cs typeface="Times New Roman"/>
              </a:rPr>
              <a:t>Here, </a:t>
            </a:r>
            <a:r>
              <a:rPr dirty="0" sz="1150" spc="15">
                <a:latin typeface="Times New Roman"/>
                <a:cs typeface="Times New Roman"/>
              </a:rPr>
              <a:t>scanf() </a:t>
            </a:r>
            <a:r>
              <a:rPr dirty="0" sz="1150" spc="20">
                <a:latin typeface="Times New Roman"/>
                <a:cs typeface="Times New Roman"/>
              </a:rPr>
              <a:t>reads </a:t>
            </a:r>
            <a:r>
              <a:rPr dirty="0" sz="1150" spc="15">
                <a:latin typeface="Times New Roman"/>
                <a:cs typeface="Times New Roman"/>
              </a:rPr>
              <a:t>data </a:t>
            </a:r>
            <a:r>
              <a:rPr dirty="0" sz="1150" spc="20">
                <a:latin typeface="Times New Roman"/>
                <a:cs typeface="Times New Roman"/>
              </a:rPr>
              <a:t>from </a:t>
            </a:r>
            <a:r>
              <a:rPr dirty="0" sz="1150" spc="10">
                <a:latin typeface="Times New Roman"/>
                <a:cs typeface="Times New Roman"/>
              </a:rPr>
              <a:t>str </a:t>
            </a:r>
            <a:r>
              <a:rPr dirty="0" sz="1150" spc="20">
                <a:latin typeface="Times New Roman"/>
                <a:cs typeface="Times New Roman"/>
              </a:rPr>
              <a:t>and </a:t>
            </a:r>
            <a:r>
              <a:rPr dirty="0" sz="1150" spc="15">
                <a:latin typeface="Times New Roman"/>
                <a:cs typeface="Times New Roman"/>
              </a:rPr>
              <a:t>stores </a:t>
            </a:r>
            <a:r>
              <a:rPr dirty="0" sz="1150" spc="20">
                <a:latin typeface="Times New Roman"/>
                <a:cs typeface="Times New Roman"/>
              </a:rPr>
              <a:t>then according to </a:t>
            </a:r>
            <a:r>
              <a:rPr dirty="0" sz="1150" spc="15">
                <a:latin typeface="Times New Roman"/>
                <a:cs typeface="Times New Roman"/>
              </a:rPr>
              <a:t>the </a:t>
            </a:r>
            <a:r>
              <a:rPr dirty="0" sz="1150" spc="20">
                <a:latin typeface="Times New Roman"/>
                <a:cs typeface="Times New Roman"/>
              </a:rPr>
              <a:t>parameters </a:t>
            </a:r>
            <a:r>
              <a:rPr dirty="0" sz="1150" spc="15">
                <a:latin typeface="Times New Roman"/>
                <a:cs typeface="Times New Roman"/>
              </a:rPr>
              <a:t>format </a:t>
            </a:r>
            <a:r>
              <a:rPr dirty="0" sz="1150" spc="20">
                <a:latin typeface="Times New Roman"/>
                <a:cs typeface="Times New Roman"/>
              </a:rPr>
              <a:t>into </a:t>
            </a:r>
            <a:r>
              <a:rPr dirty="0" sz="1150" spc="15">
                <a:latin typeface="Times New Roman"/>
                <a:cs typeface="Times New Roman"/>
              </a:rPr>
              <a:t>the  locations </a:t>
            </a:r>
            <a:r>
              <a:rPr dirty="0" sz="1150" spc="20">
                <a:latin typeface="Times New Roman"/>
                <a:cs typeface="Times New Roman"/>
              </a:rPr>
              <a:t>given </a:t>
            </a:r>
            <a:r>
              <a:rPr dirty="0" sz="1150" spc="15">
                <a:latin typeface="Times New Roman"/>
                <a:cs typeface="Times New Roman"/>
              </a:rPr>
              <a:t>by additional</a:t>
            </a:r>
            <a:r>
              <a:rPr dirty="0" sz="1150" spc="20">
                <a:latin typeface="Times New Roman"/>
                <a:cs typeface="Times New Roman"/>
              </a:rPr>
              <a:t> arguments.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15">
                <a:latin typeface="Times New Roman"/>
                <a:cs typeface="Times New Roman"/>
              </a:rPr>
              <a:t>scanf(str, </a:t>
            </a:r>
            <a:r>
              <a:rPr dirty="0" sz="1150" spc="20">
                <a:latin typeface="Times New Roman"/>
                <a:cs typeface="Times New Roman"/>
              </a:rPr>
              <a:t>“%d”,</a:t>
            </a:r>
            <a:r>
              <a:rPr dirty="0" sz="1150" spc="3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&amp;num);</a:t>
            </a:r>
            <a:endParaRPr sz="1150">
              <a:latin typeface="Times New Roman"/>
              <a:cs typeface="Times New Roman"/>
            </a:endParaRPr>
          </a:p>
          <a:p>
            <a:pPr algn="just" marL="12700" marR="5080">
              <a:lnSpc>
                <a:spcPct val="108300"/>
              </a:lnSpc>
              <a:spcBef>
                <a:spcPts val="15"/>
              </a:spcBef>
            </a:pPr>
            <a:r>
              <a:rPr dirty="0" sz="1150" spc="20">
                <a:latin typeface="Times New Roman"/>
                <a:cs typeface="Times New Roman"/>
              </a:rPr>
              <a:t>Here, </a:t>
            </a:r>
            <a:r>
              <a:rPr dirty="0" sz="1150" spc="15">
                <a:latin typeface="Times New Roman"/>
                <a:cs typeface="Times New Roman"/>
              </a:rPr>
              <a:t>scanf() </a:t>
            </a:r>
            <a:r>
              <a:rPr dirty="0" sz="1150" spc="20">
                <a:latin typeface="Times New Roman"/>
                <a:cs typeface="Times New Roman"/>
              </a:rPr>
              <a:t>takes </a:t>
            </a:r>
            <a:r>
              <a:rPr dirty="0" sz="1150" spc="15">
                <a:latin typeface="Times New Roman"/>
                <a:cs typeface="Times New Roman"/>
              </a:rPr>
              <a:t>3 </a:t>
            </a:r>
            <a:r>
              <a:rPr dirty="0" sz="1150" spc="20">
                <a:latin typeface="Times New Roman"/>
                <a:cs typeface="Times New Roman"/>
              </a:rPr>
              <a:t>arguments. </a:t>
            </a:r>
            <a:r>
              <a:rPr dirty="0" sz="1150" spc="25">
                <a:latin typeface="Times New Roman"/>
                <a:cs typeface="Times New Roman"/>
              </a:rPr>
              <a:t>The </a:t>
            </a:r>
            <a:r>
              <a:rPr dirty="0" sz="1150" spc="10">
                <a:latin typeface="Times New Roman"/>
                <a:cs typeface="Times New Roman"/>
              </a:rPr>
              <a:t>first </a:t>
            </a:r>
            <a:r>
              <a:rPr dirty="0" sz="1150" spc="25">
                <a:latin typeface="Times New Roman"/>
                <a:cs typeface="Times New Roman"/>
              </a:rPr>
              <a:t>is </a:t>
            </a:r>
            <a:r>
              <a:rPr dirty="0" sz="1150">
                <a:latin typeface="Times New Roman"/>
                <a:cs typeface="Times New Roman"/>
              </a:rPr>
              <a:t>str </a:t>
            </a:r>
            <a:r>
              <a:rPr dirty="0" sz="1150" spc="15">
                <a:latin typeface="Times New Roman"/>
                <a:cs typeface="Times New Roman"/>
              </a:rPr>
              <a:t>that </a:t>
            </a:r>
            <a:r>
              <a:rPr dirty="0" sz="1150" spc="20">
                <a:latin typeface="Times New Roman"/>
                <a:cs typeface="Times New Roman"/>
              </a:rPr>
              <a:t>contains </a:t>
            </a:r>
            <a:r>
              <a:rPr dirty="0" sz="1150" spc="15">
                <a:latin typeface="Times New Roman"/>
                <a:cs typeface="Times New Roman"/>
              </a:rPr>
              <a:t>data </a:t>
            </a:r>
            <a:r>
              <a:rPr dirty="0" sz="1150" spc="20">
                <a:latin typeface="Times New Roman"/>
                <a:cs typeface="Times New Roman"/>
              </a:rPr>
              <a:t>to </a:t>
            </a:r>
            <a:r>
              <a:rPr dirty="0" sz="1150" spc="15">
                <a:latin typeface="Times New Roman"/>
                <a:cs typeface="Times New Roman"/>
              </a:rPr>
              <a:t>be converted. </a:t>
            </a:r>
            <a:r>
              <a:rPr dirty="0" sz="1150" spc="30">
                <a:latin typeface="Times New Roman"/>
                <a:cs typeface="Times New Roman"/>
              </a:rPr>
              <a:t>The </a:t>
            </a:r>
            <a:r>
              <a:rPr dirty="0" sz="1150" spc="20">
                <a:latin typeface="Times New Roman"/>
                <a:cs typeface="Times New Roman"/>
              </a:rPr>
              <a:t>second  </a:t>
            </a:r>
            <a:r>
              <a:rPr dirty="0" sz="1150" spc="10">
                <a:latin typeface="Times New Roman"/>
                <a:cs typeface="Times New Roman"/>
              </a:rPr>
              <a:t>is </a:t>
            </a:r>
            <a:r>
              <a:rPr dirty="0" sz="1150" spc="15">
                <a:latin typeface="Times New Roman"/>
                <a:cs typeface="Times New Roman"/>
              </a:rPr>
              <a:t>string </a:t>
            </a:r>
            <a:r>
              <a:rPr dirty="0" sz="1150" spc="20">
                <a:latin typeface="Times New Roman"/>
                <a:cs typeface="Times New Roman"/>
              </a:rPr>
              <a:t>containing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20">
                <a:latin typeface="Times New Roman"/>
                <a:cs typeface="Times New Roman"/>
              </a:rPr>
              <a:t>format </a:t>
            </a:r>
            <a:r>
              <a:rPr dirty="0" sz="1150" spc="15">
                <a:latin typeface="Times New Roman"/>
                <a:cs typeface="Times New Roman"/>
              </a:rPr>
              <a:t>specifier that </a:t>
            </a:r>
            <a:r>
              <a:rPr dirty="0" sz="1150" spc="20">
                <a:latin typeface="Times New Roman"/>
                <a:cs typeface="Times New Roman"/>
              </a:rPr>
              <a:t>determines how </a:t>
            </a:r>
            <a:r>
              <a:rPr dirty="0" sz="1150" spc="15">
                <a:latin typeface="Times New Roman"/>
                <a:cs typeface="Times New Roman"/>
              </a:rPr>
              <a:t>the string </a:t>
            </a:r>
            <a:r>
              <a:rPr dirty="0" sz="1150" spc="25">
                <a:latin typeface="Times New Roman"/>
                <a:cs typeface="Times New Roman"/>
              </a:rPr>
              <a:t>is </a:t>
            </a:r>
            <a:r>
              <a:rPr dirty="0" sz="1150" spc="15">
                <a:latin typeface="Times New Roman"/>
                <a:cs typeface="Times New Roman"/>
              </a:rPr>
              <a:t>converted. </a:t>
            </a:r>
            <a:r>
              <a:rPr dirty="0" sz="1150" spc="30">
                <a:latin typeface="Times New Roman"/>
                <a:cs typeface="Times New Roman"/>
              </a:rPr>
              <a:t>The </a:t>
            </a:r>
            <a:r>
              <a:rPr dirty="0" sz="1150" spc="20">
                <a:latin typeface="Times New Roman"/>
                <a:cs typeface="Times New Roman"/>
              </a:rPr>
              <a:t>third</a:t>
            </a:r>
            <a:r>
              <a:rPr dirty="0" sz="1150" spc="-145">
                <a:latin typeface="Times New Roman"/>
                <a:cs typeface="Times New Roman"/>
              </a:rPr>
              <a:t> </a:t>
            </a:r>
            <a:r>
              <a:rPr dirty="0" sz="1150" spc="30">
                <a:latin typeface="Times New Roman"/>
                <a:cs typeface="Times New Roman"/>
              </a:rPr>
              <a:t>is  </a:t>
            </a:r>
            <a:r>
              <a:rPr dirty="0" sz="1150" spc="10">
                <a:latin typeface="Times New Roman"/>
                <a:cs typeface="Times New Roman"/>
              </a:rPr>
              <a:t>a </a:t>
            </a:r>
            <a:r>
              <a:rPr dirty="0" sz="1150" spc="25">
                <a:latin typeface="Times New Roman"/>
                <a:cs typeface="Times New Roman"/>
              </a:rPr>
              <a:t>memory </a:t>
            </a:r>
            <a:r>
              <a:rPr dirty="0" sz="1150" spc="15">
                <a:latin typeface="Times New Roman"/>
                <a:cs typeface="Times New Roman"/>
              </a:rPr>
              <a:t>location </a:t>
            </a:r>
            <a:r>
              <a:rPr dirty="0" sz="1150" spc="20">
                <a:latin typeface="Times New Roman"/>
                <a:cs typeface="Times New Roman"/>
              </a:rPr>
              <a:t>to </a:t>
            </a:r>
            <a:r>
              <a:rPr dirty="0" sz="1150" spc="15">
                <a:latin typeface="Times New Roman"/>
                <a:cs typeface="Times New Roman"/>
              </a:rPr>
              <a:t>place </a:t>
            </a:r>
            <a:r>
              <a:rPr dirty="0" sz="1150" spc="25">
                <a:latin typeface="Times New Roman"/>
                <a:cs typeface="Times New Roman"/>
              </a:rPr>
              <a:t>the </a:t>
            </a:r>
            <a:r>
              <a:rPr dirty="0" sz="1150" spc="15">
                <a:latin typeface="Times New Roman"/>
                <a:cs typeface="Times New Roman"/>
              </a:rPr>
              <a:t>result </a:t>
            </a:r>
            <a:r>
              <a:rPr dirty="0" sz="1150" spc="10">
                <a:latin typeface="Times New Roman"/>
                <a:cs typeface="Times New Roman"/>
              </a:rPr>
              <a:t>of</a:t>
            </a:r>
            <a:r>
              <a:rPr dirty="0" sz="1150" spc="105">
                <a:latin typeface="Times New Roman"/>
                <a:cs typeface="Times New Roman"/>
              </a:rPr>
              <a:t> </a:t>
            </a:r>
            <a:r>
              <a:rPr dirty="0" sz="1150" spc="30">
                <a:latin typeface="Times New Roman"/>
                <a:cs typeface="Times New Roman"/>
              </a:rPr>
              <a:t>theconversion.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2023-12-13T16:52:15Z</dcterms:created>
  <dcterms:modified xsi:type="dcterms:W3CDTF">2023-12-13T16:52:15Z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2023-12-13T00:00:00Z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2023-12-13T00:00:00Z</vt:filetime>
  </property>
</Properties>
</file>