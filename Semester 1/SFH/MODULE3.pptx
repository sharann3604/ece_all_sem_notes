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FDD-5C64-864D-45D8-7CE29DCF7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964A6-2886-83B9-7BD5-EF62CC991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B4DC5-0E9B-E75A-B272-87CD9CA5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BECD6-B730-53CC-71FF-59A3BBBF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D8A2D-2FF1-44C7-34E4-FA66C810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38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A24B-5E4D-81BC-4066-A7E31F57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7DB2-D185-434A-5266-C6CF4DD8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D4766-D01C-8FAE-8FB2-1DE9E79E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9EDFD-E067-F902-F189-730DB2F2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5B1AF-E8E8-3834-8068-4B13637A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46A3-CCE7-FD36-41C4-BA191845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DA76-A009-FA31-ED3E-B020CDE31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C4659-4923-C79F-AD93-AC805A96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7430D-FDDC-3423-705E-4102FF19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81F3B-F379-8C22-DC55-BEFE8B98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7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CA3D-8B64-4CDD-CCDB-8D6C3CAE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5A248-5CAE-C745-8292-40FC2B36B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E908F-C311-C0C1-8E80-0A3FC0181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E0474-FCC3-8C7E-6351-26359279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98CE9-8E54-FDBA-ACF2-207CC5A9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DAF12-3848-8560-C66F-8888B420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E4D1-F10A-B8EA-60F4-C0D76AD1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FA468-1C11-8880-6329-EF9A05AF4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DE834-BC7B-E6CF-7877-29F2BFF4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017E3-FCAD-3C2F-205B-D8BA8D6D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DB630-A8EF-4B28-F7B6-E403C48E8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601F7-3318-243D-DF6F-84792A4A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7D296-94D6-3F60-CEE4-41B14F11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7146D-1182-8F10-202F-BF2D89D7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2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6072-93C0-270B-2DFD-7F42F29D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0CE26-3D48-5CB4-7E44-7B1539AD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5A182-6F01-75EE-BAFC-33C9B40F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799A0-2B1D-0129-9AC0-3D82F9E4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3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71F7-D478-8006-902C-D36C82AD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5B321-3809-C7A8-40D6-FD0D1373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6C72F-7DFC-1960-EED6-B45E6B9E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0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26CE-4BFB-348F-8F1E-2368245B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D65ED-1C84-A713-C994-27040D0F5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90D73-CB6F-50CD-0EC8-2DA20F6C4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4EC2-1A6C-AABD-C591-443299E1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A3057-9B52-1D6F-BC7F-B8CEC37D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86CB1-A38E-FBFD-FA3E-B66A16E7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1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FE2E-48C2-EAB4-96D6-BC2CFF30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701D0-57FE-A33D-124B-400B65E5C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0FA50-56A1-57DC-5775-4C6E6FAE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FF2D-2B6C-CB5E-B4F1-2C552B6A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F083B-D76F-F34B-B75E-BB1D1CC1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BF532-8903-6368-9FA0-ADE90776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4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40BB-9AA0-F26B-FF4B-5B7D7AFB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0F82E-6158-5DE0-0809-16986A829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90103-CEE5-928D-928B-11806A30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1CD89-4FCF-C5C1-0E65-81CD375B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F778-4D16-57C5-1F81-548198E4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7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44599-EE4F-A310-E190-2F3B704F1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B694D-6E56-7404-6EC2-C8BC6FE33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4CD7B-BAC6-824C-3947-C20E3CF7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1EC07-42B3-CCAF-D70A-FC585769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3321-FFAE-329D-4F0E-5773B763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A775E-A752-5BC4-033F-4C8DE308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2B5D7-8D7E-4C7B-0F01-6ACEA3DFE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43C4A-0787-AE39-CB05-2CF86A53D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53D53-5E73-4E66-AF4C-B96050EE6D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FBAF2-07BC-42FD-EB9E-76D081A9B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ECA7E-B51D-4512-A248-4BEC538CE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832B-69F3-45A6-A795-BB361932C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A715-E65A-107D-4227-BEA2E1031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Creation of healthy and caring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559542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1BD0-8D09-0567-3FC5-F9C0F8E5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C2D6F-7105-C77C-CBFD-49EE6DDB5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Communication is the art of transmitting information, ideas and attitudes from one person to another.</a:t>
            </a:r>
          </a:p>
          <a:p>
            <a:r>
              <a:rPr lang="en-US" dirty="0"/>
              <a:t>Communication is the process of meaningful interaction among human beings.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Its essences: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• Personal process</a:t>
            </a:r>
          </a:p>
          <a:p>
            <a:pPr marL="0" indent="0">
              <a:buNone/>
            </a:pPr>
            <a:r>
              <a:rPr lang="en-US" dirty="0"/>
              <a:t>• Occurs between people</a:t>
            </a:r>
          </a:p>
          <a:p>
            <a:pPr marL="0" indent="0">
              <a:buNone/>
            </a:pPr>
            <a:r>
              <a:rPr lang="en-US" dirty="0"/>
              <a:t>• Involves change in behavior</a:t>
            </a:r>
          </a:p>
          <a:p>
            <a:pPr marL="0" indent="0">
              <a:buNone/>
            </a:pPr>
            <a:r>
              <a:rPr lang="en-US" dirty="0"/>
              <a:t>• Means to Influence others</a:t>
            </a:r>
          </a:p>
          <a:p>
            <a:pPr marL="0" indent="0">
              <a:buNone/>
            </a:pPr>
            <a:r>
              <a:rPr lang="en-US" dirty="0"/>
              <a:t>• Expression of thoughts and emotions through words and actions.</a:t>
            </a:r>
          </a:p>
          <a:p>
            <a:pPr marL="0" indent="0">
              <a:buNone/>
            </a:pPr>
            <a:r>
              <a:rPr lang="en-US" dirty="0"/>
              <a:t>• Tool for controlling and motivating people.</a:t>
            </a:r>
          </a:p>
          <a:p>
            <a:pPr marL="0" indent="0">
              <a:buNone/>
            </a:pPr>
            <a:r>
              <a:rPr lang="en-US" dirty="0"/>
              <a:t>• It is a social and emotional process.</a:t>
            </a:r>
          </a:p>
        </p:txBody>
      </p:sp>
    </p:spTree>
    <p:extLst>
      <p:ext uri="{BB962C8B-B14F-4D97-AF65-F5344CB8AC3E}">
        <p14:creationId xmlns:p14="http://schemas.microsoft.com/office/powerpoint/2010/main" val="49007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F020-D821-CF09-B0DC-51F77C85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F742-9F96-F06B-8A6F-28E6C45DD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Communication </a:t>
            </a:r>
            <a:r>
              <a:rPr lang="en-US" b="1" dirty="0" err="1"/>
              <a:t>skiils</a:t>
            </a:r>
            <a:r>
              <a:rPr lang="en-US" b="1" dirty="0"/>
              <a:t> overview</a:t>
            </a:r>
          </a:p>
          <a:p>
            <a:pPr marL="0" indent="0">
              <a:buNone/>
            </a:pPr>
            <a:r>
              <a:rPr lang="en-US" dirty="0"/>
              <a:t>Effective communication skills are a critical element in your career and personal lives. We all must use a variety of communication techniques to both understand and be understood.</a:t>
            </a:r>
          </a:p>
          <a:p>
            <a:pPr marL="0" indent="0">
              <a:buNone/>
            </a:pPr>
            <a:r>
              <a:rPr lang="en-US" b="1" dirty="0"/>
              <a:t>What is communication?</a:t>
            </a:r>
          </a:p>
          <a:p>
            <a:pPr marL="0" indent="0">
              <a:buNone/>
            </a:pPr>
            <a:r>
              <a:rPr lang="en-US" dirty="0"/>
              <a:t>It is a process of sending and receiving information among people.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0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0E6A-AB45-17F7-4DBA-D8933759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COMMUNICATION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98B4-FE45-C1F0-155F-CC094E67A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inform – you are providing information for use in decision making.</a:t>
            </a:r>
          </a:p>
          <a:p>
            <a:r>
              <a:rPr lang="en-US" dirty="0"/>
              <a:t>To persuade – to reinforce or change a belief about a topic.</a:t>
            </a:r>
          </a:p>
          <a:p>
            <a:r>
              <a:rPr lang="en-US" dirty="0"/>
              <a:t>To build relationships – some messages that you send may have the goal of building good will between you and the other person.</a:t>
            </a:r>
          </a:p>
          <a:p>
            <a:r>
              <a:rPr lang="en-US" dirty="0"/>
              <a:t>Perfect/Effective -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0578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CDAB-D41C-9AB9-4774-E74BF84E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8ED918-D383-5D77-FF84-4D108AB1C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029" y="1825624"/>
            <a:ext cx="9434285" cy="448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1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AF0D-37AE-1960-9893-77406956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Skills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58028-D02B-ECBF-ACB0-EDB8E49F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Sender: The person who conceptualized the idea and wants it delivered to the recipient.</a:t>
            </a:r>
          </a:p>
          <a:p>
            <a:pPr marL="0" indent="0">
              <a:buNone/>
            </a:pPr>
            <a:r>
              <a:rPr lang="en-US" dirty="0"/>
              <a:t>• Encoding: The way the information is described or translated into a message.</a:t>
            </a:r>
          </a:p>
          <a:p>
            <a:pPr marL="0" indent="0">
              <a:buNone/>
            </a:pPr>
            <a:r>
              <a:rPr lang="en-US" dirty="0"/>
              <a:t>• Message: The idea, fact or opinion that the sender wants to communicate.</a:t>
            </a:r>
          </a:p>
          <a:p>
            <a:pPr marL="0" indent="0">
              <a:buNone/>
            </a:pPr>
            <a:r>
              <a:rPr lang="en-US" dirty="0"/>
              <a:t>• Communication channel: The method of delivering the message.</a:t>
            </a:r>
          </a:p>
          <a:p>
            <a:pPr marL="0" indent="0">
              <a:buNone/>
            </a:pPr>
            <a:r>
              <a:rPr lang="en-US" dirty="0"/>
              <a:t>• Noise or Distraction: Hinders successful communication. Types : Psychological, Physical, Environmental and Semantic.</a:t>
            </a:r>
          </a:p>
          <a:p>
            <a:pPr marL="0" indent="0">
              <a:buNone/>
            </a:pPr>
            <a:r>
              <a:rPr lang="en-US" dirty="0"/>
              <a:t>• Receiver: The target audience of the message.</a:t>
            </a:r>
          </a:p>
          <a:p>
            <a:pPr marL="0" indent="0">
              <a:buNone/>
            </a:pPr>
            <a:r>
              <a:rPr lang="en-US" dirty="0"/>
              <a:t>• Decoding: The interpretation of the message.</a:t>
            </a:r>
          </a:p>
          <a:p>
            <a:pPr marL="0" indent="0">
              <a:buNone/>
            </a:pPr>
            <a:r>
              <a:rPr lang="en-US" dirty="0"/>
              <a:t>• Feedback: The response or action a receiver takes after decoding a message.</a:t>
            </a:r>
          </a:p>
        </p:txBody>
      </p:sp>
    </p:spTree>
    <p:extLst>
      <p:ext uri="{BB962C8B-B14F-4D97-AF65-F5344CB8AC3E}">
        <p14:creationId xmlns:p14="http://schemas.microsoft.com/office/powerpoint/2010/main" val="122467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29B2-C00E-1947-21DC-487A1FD8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0958-99EF-1B69-83B8-AEB0610DD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One person has no interest in the conversation.</a:t>
            </a:r>
          </a:p>
          <a:p>
            <a:r>
              <a:rPr lang="en-US" sz="2400" dirty="0"/>
              <a:t>You are not able to participate in the discussion due to lack of knowledge on the subject.</a:t>
            </a:r>
          </a:p>
          <a:p>
            <a:r>
              <a:rPr lang="en-US" sz="2400" dirty="0"/>
              <a:t>Jumping to conclusions without waiting for the whole message.</a:t>
            </a:r>
          </a:p>
          <a:p>
            <a:r>
              <a:rPr lang="en-US" sz="2400" dirty="0"/>
              <a:t>Fear of offending the other person by expressing your opinions.</a:t>
            </a:r>
          </a:p>
          <a:p>
            <a:r>
              <a:rPr lang="en-US" sz="2400" dirty="0"/>
              <a:t>You not feel comfortable sharing your feelings with the other person.</a:t>
            </a:r>
          </a:p>
          <a:p>
            <a:r>
              <a:rPr lang="en-US" sz="2400" dirty="0"/>
              <a:t>Cultural Differences &amp; Language.</a:t>
            </a:r>
          </a:p>
          <a:p>
            <a:r>
              <a:rPr lang="en-US" sz="2400" dirty="0"/>
              <a:t>One feels not comfortable sharing your feelings with the other person.</a:t>
            </a:r>
          </a:p>
        </p:txBody>
      </p:sp>
    </p:spTree>
    <p:extLst>
      <p:ext uri="{BB962C8B-B14F-4D97-AF65-F5344CB8AC3E}">
        <p14:creationId xmlns:p14="http://schemas.microsoft.com/office/powerpoint/2010/main" val="207809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9731-BFE2-874D-0D0F-4526024D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Barriers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E446-CC80-AEE6-863D-77D76D446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Psychological Barriers</a:t>
            </a:r>
          </a:p>
          <a:p>
            <a:pPr marL="0" indent="0">
              <a:buNone/>
            </a:pPr>
            <a:r>
              <a:rPr lang="en-US" dirty="0"/>
              <a:t>2. Physical Barriers</a:t>
            </a:r>
          </a:p>
          <a:p>
            <a:pPr marL="0" indent="0">
              <a:buNone/>
            </a:pPr>
            <a:r>
              <a:rPr lang="en-US" dirty="0"/>
              <a:t>3. Emotional Barriers</a:t>
            </a:r>
          </a:p>
          <a:p>
            <a:pPr marL="0" indent="0">
              <a:buNone/>
            </a:pPr>
            <a:r>
              <a:rPr lang="en-US" dirty="0"/>
              <a:t>4. Attitudinal Barriers</a:t>
            </a:r>
          </a:p>
          <a:p>
            <a:pPr marL="0" indent="0">
              <a:buNone/>
            </a:pPr>
            <a:r>
              <a:rPr lang="en-US" dirty="0"/>
              <a:t>5. Cultural Barriers</a:t>
            </a:r>
          </a:p>
          <a:p>
            <a:pPr marL="0" indent="0">
              <a:buNone/>
            </a:pPr>
            <a:r>
              <a:rPr lang="en-US" dirty="0"/>
              <a:t>6. Language Barriers</a:t>
            </a:r>
          </a:p>
          <a:p>
            <a:pPr marL="0" indent="0">
              <a:buNone/>
            </a:pPr>
            <a:r>
              <a:rPr lang="en-US" dirty="0"/>
              <a:t>7. Gender Barriers</a:t>
            </a:r>
          </a:p>
          <a:p>
            <a:pPr marL="0" indent="0">
              <a:buNone/>
            </a:pPr>
            <a:r>
              <a:rPr lang="en-US" dirty="0"/>
              <a:t>8. Interpersonal Barriers</a:t>
            </a:r>
          </a:p>
        </p:txBody>
      </p:sp>
    </p:spTree>
    <p:extLst>
      <p:ext uri="{BB962C8B-B14F-4D97-AF65-F5344CB8AC3E}">
        <p14:creationId xmlns:p14="http://schemas.microsoft.com/office/powerpoint/2010/main" val="228114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7702-43F9-39B2-5A0F-FFE625F8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WAYS TO IMPROVE COMMUNICATION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F65E-096E-A5FF-9C5B-89BBB0C8F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is the KEY to communication.</a:t>
            </a:r>
          </a:p>
          <a:p>
            <a:r>
              <a:rPr lang="en-US" dirty="0"/>
              <a:t>Understanding requires ACTIVE LISTENING.</a:t>
            </a:r>
          </a:p>
          <a:p>
            <a:r>
              <a:rPr lang="en-US" dirty="0"/>
              <a:t> Speak up about your thoughts and ideas</a:t>
            </a:r>
          </a:p>
          <a:p>
            <a:r>
              <a:rPr lang="en-US" dirty="0"/>
              <a:t> Try not to make assumptions</a:t>
            </a:r>
          </a:p>
          <a:p>
            <a:r>
              <a:rPr lang="en-US" dirty="0"/>
              <a:t> Practice self-awareness, especially during tough conversations</a:t>
            </a:r>
          </a:p>
          <a:p>
            <a:r>
              <a:rPr lang="en-US" dirty="0"/>
              <a:t> Don’t be accusatory when raising an issue</a:t>
            </a:r>
          </a:p>
          <a:p>
            <a:r>
              <a:rPr lang="en-US" dirty="0"/>
              <a:t> Be brief and clear</a:t>
            </a:r>
          </a:p>
          <a:p>
            <a:r>
              <a:rPr lang="en-US" dirty="0"/>
              <a:t> Eye Contact</a:t>
            </a:r>
          </a:p>
        </p:txBody>
      </p:sp>
    </p:spTree>
    <p:extLst>
      <p:ext uri="{BB962C8B-B14F-4D97-AF65-F5344CB8AC3E}">
        <p14:creationId xmlns:p14="http://schemas.microsoft.com/office/powerpoint/2010/main" val="419369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25EF-7AAD-C37A-CB7C-18F273F9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Friends and friendship -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9680F-0B33-A157-401C-558C850B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Friend</a:t>
            </a:r>
          </a:p>
          <a:p>
            <a:r>
              <a:rPr lang="en-US" dirty="0"/>
              <a:t>a person with whom one has a bond of mutual affection</a:t>
            </a:r>
          </a:p>
          <a:p>
            <a:r>
              <a:rPr lang="en-US" dirty="0"/>
              <a:t>a person who has a strong liking for and trust in another person.</a:t>
            </a:r>
          </a:p>
          <a:p>
            <a:r>
              <a:rPr lang="en-US" dirty="0"/>
              <a:t> a person who is not an enemy friend or foe.</a:t>
            </a:r>
          </a:p>
          <a:p>
            <a:r>
              <a:rPr lang="en-US" dirty="0"/>
              <a:t> a person who helps or supports something.</a:t>
            </a:r>
          </a:p>
          <a:p>
            <a:r>
              <a:rPr lang="en-US" dirty="0"/>
              <a:t> Unconditional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20617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063D-F807-4852-AC76-FCD4CA35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26F0-BAFB-DDF8-AA7B-218E43362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Friendship:</a:t>
            </a:r>
          </a:p>
          <a:p>
            <a:pPr marL="0" indent="0">
              <a:buNone/>
            </a:pPr>
            <a:r>
              <a:rPr lang="en-US" dirty="0"/>
              <a:t>"Friendship is a relationship of mutual affection between people. It is a stronger form of interpersonal bond than an acquaintance or an association, such as a classmate, </a:t>
            </a:r>
            <a:r>
              <a:rPr lang="en-US" dirty="0" err="1"/>
              <a:t>neighbour</a:t>
            </a:r>
            <a:r>
              <a:rPr lang="en-US" dirty="0"/>
              <a:t>, or colleague. “</a:t>
            </a:r>
          </a:p>
          <a:p>
            <a:pPr marL="0" indent="0">
              <a:buNone/>
            </a:pPr>
            <a:r>
              <a:rPr lang="en-US" dirty="0"/>
              <a:t>It is a dyadic relationship, meaning that it involves a series of interactions between two individuals known to each other.</a:t>
            </a:r>
          </a:p>
          <a:p>
            <a:pPr marL="0" indent="0">
              <a:buNone/>
            </a:pPr>
            <a:r>
              <a:rPr lang="en-US" dirty="0"/>
              <a:t>• It is recognized by both members of the relationship and is characterized by a bond or tie of reciprocated affection.</a:t>
            </a:r>
          </a:p>
          <a:p>
            <a:pPr marL="0" indent="0">
              <a:buNone/>
            </a:pPr>
            <a:r>
              <a:rPr lang="en-US" dirty="0"/>
              <a:t>• It is not obligatory; two individuals choose to form a friendship with each other.</a:t>
            </a:r>
          </a:p>
        </p:txBody>
      </p:sp>
    </p:spTree>
    <p:extLst>
      <p:ext uri="{BB962C8B-B14F-4D97-AF65-F5344CB8AC3E}">
        <p14:creationId xmlns:p14="http://schemas.microsoft.com/office/powerpoint/2010/main" val="3870395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8118-D770-7524-4007-CD4E95FA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Friendship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5EB46-C291-F3BF-1FD8-8BFD9B45D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It is typically egalitarian (all are equal) in nature. Each individual in a friendship has about the same amount of power or authority in the relationship.</a:t>
            </a:r>
          </a:p>
          <a:p>
            <a:r>
              <a:rPr lang="en-US" dirty="0"/>
              <a:t>It is almost always characterized by companionship and shared activities.</a:t>
            </a:r>
          </a:p>
          <a:p>
            <a:r>
              <a:rPr lang="en-US" dirty="0"/>
              <a:t> One of the primary goals and motivations of friendship is companionship.</a:t>
            </a:r>
          </a:p>
          <a:p>
            <a:r>
              <a:rPr lang="en-US" dirty="0"/>
              <a:t>In addition, adolescent and adult friendships often perform other functions, such as serving as sources of emotional support and providing opportunities for self-disclosure and intimacy.</a:t>
            </a:r>
          </a:p>
        </p:txBody>
      </p:sp>
    </p:spTree>
    <p:extLst>
      <p:ext uri="{BB962C8B-B14F-4D97-AF65-F5344CB8AC3E}">
        <p14:creationId xmlns:p14="http://schemas.microsoft.com/office/powerpoint/2010/main" val="2152940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B1B2-0AF0-DDCF-D333-5ED38FF6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Qualities Of A True Friend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F2FB-55B2-0EC0-ECDD-B9D365AF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A faithful friend is a sure anchor</a:t>
            </a:r>
          </a:p>
          <a:p>
            <a:pPr marL="0" indent="0">
              <a:buNone/>
            </a:pPr>
            <a:r>
              <a:rPr lang="en-US" dirty="0"/>
              <a:t>• Will always be honest with you.</a:t>
            </a:r>
          </a:p>
          <a:p>
            <a:pPr marL="0" indent="0">
              <a:buNone/>
            </a:pPr>
            <a:r>
              <a:rPr lang="en-US" dirty="0"/>
              <a:t>• Loves you for yourself and unconditional</a:t>
            </a:r>
          </a:p>
          <a:p>
            <a:pPr marL="0" indent="0">
              <a:buNone/>
            </a:pPr>
            <a:r>
              <a:rPr lang="en-US" dirty="0"/>
              <a:t>• Gives more than they take Compromises</a:t>
            </a:r>
          </a:p>
          <a:p>
            <a:pPr marL="0" indent="0">
              <a:buNone/>
            </a:pPr>
            <a:r>
              <a:rPr lang="en-US" dirty="0"/>
              <a:t>• forgives you even without an apology.</a:t>
            </a:r>
          </a:p>
          <a:p>
            <a:pPr marL="0" indent="0">
              <a:buNone/>
            </a:pPr>
            <a:r>
              <a:rPr lang="en-US" dirty="0"/>
              <a:t>• believe in you.</a:t>
            </a:r>
          </a:p>
          <a:p>
            <a:pPr marL="0" indent="0">
              <a:buNone/>
            </a:pPr>
            <a:r>
              <a:rPr lang="en-US" dirty="0"/>
              <a:t>• Make time for you.</a:t>
            </a:r>
          </a:p>
          <a:p>
            <a:pPr marL="0" indent="0">
              <a:buNone/>
            </a:pPr>
            <a:r>
              <a:rPr lang="en-US" dirty="0"/>
              <a:t>• Respectful to you.</a:t>
            </a:r>
          </a:p>
          <a:p>
            <a:pPr marL="0" indent="0">
              <a:buNone/>
            </a:pPr>
            <a:r>
              <a:rPr lang="en-US" dirty="0"/>
              <a:t>• Thoughtful.</a:t>
            </a:r>
          </a:p>
          <a:p>
            <a:pPr marL="0" indent="0">
              <a:buNone/>
            </a:pPr>
            <a:r>
              <a:rPr lang="en-US" dirty="0"/>
              <a:t>• Stick around you.</a:t>
            </a:r>
          </a:p>
        </p:txBody>
      </p:sp>
    </p:spTree>
    <p:extLst>
      <p:ext uri="{BB962C8B-B14F-4D97-AF65-F5344CB8AC3E}">
        <p14:creationId xmlns:p14="http://schemas.microsoft.com/office/powerpoint/2010/main" val="150952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CFC2-237E-EC53-1B5C-2CDEECAD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Friendship in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E7F3A-33D2-1954-5046-06DDE1B9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They provide support and resources and can both encourage and discourage academic achievement.</a:t>
            </a:r>
          </a:p>
          <a:p>
            <a:r>
              <a:rPr lang="en-US" dirty="0"/>
              <a:t>Contribute to a positive sense of mental well-being,</a:t>
            </a:r>
          </a:p>
          <a:p>
            <a:r>
              <a:rPr lang="en-US" dirty="0"/>
              <a:t> Encourage learning and develop interpersonal skills</a:t>
            </a:r>
          </a:p>
          <a:p>
            <a:r>
              <a:rPr lang="en-US" dirty="0"/>
              <a:t> play a significant role in promoting overall health.</a:t>
            </a:r>
          </a:p>
          <a:p>
            <a:r>
              <a:rPr lang="en-US" dirty="0"/>
              <a:t> Development of Social Skills</a:t>
            </a:r>
          </a:p>
          <a:p>
            <a:r>
              <a:rPr lang="en-US" dirty="0"/>
              <a:t> Better Cooperation</a:t>
            </a:r>
          </a:p>
          <a:p>
            <a:r>
              <a:rPr lang="en-US" dirty="0"/>
              <a:t> Better Problem solving abilities</a:t>
            </a:r>
          </a:p>
          <a:p>
            <a:r>
              <a:rPr lang="en-US" dirty="0"/>
              <a:t> Better Communication</a:t>
            </a:r>
          </a:p>
          <a:p>
            <a:r>
              <a:rPr lang="en-US" dirty="0"/>
              <a:t> Better Academic outcomes</a:t>
            </a:r>
          </a:p>
        </p:txBody>
      </p:sp>
    </p:spTree>
    <p:extLst>
      <p:ext uri="{BB962C8B-B14F-4D97-AF65-F5344CB8AC3E}">
        <p14:creationId xmlns:p14="http://schemas.microsoft.com/office/powerpoint/2010/main" val="195529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E7E2-393D-4807-9F39-4A845E2D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Why communication is key to healthy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26A56-DE3B-ADBE-481D-77F93EEF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Communication is important in any relationship, as it allows you to effectively share feel-</a:t>
            </a:r>
            <a:r>
              <a:rPr lang="en-US" dirty="0" err="1"/>
              <a:t>ings</a:t>
            </a:r>
            <a:r>
              <a:rPr lang="en-US" dirty="0"/>
              <a:t>, opinions and expectations.</a:t>
            </a:r>
          </a:p>
          <a:p>
            <a:r>
              <a:rPr lang="en-US" dirty="0"/>
              <a:t>GET TO KNOW EACH OTHER : The key to determining whether you’re compatible with another person is to communicate with them from the offset.</a:t>
            </a:r>
          </a:p>
          <a:p>
            <a:r>
              <a:rPr lang="en-US" dirty="0"/>
              <a:t>AVOID MISUNDERSTANDING : Another reason to communicate effectively is to avoid any misunderstandings, which can lead to a breakdown of communication or the relation- ship as a whole.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88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734D-333F-0B8D-D0E7-79B06ED2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765B-A50A-108E-2B54-0EC6DFA8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CLEAR EXPECTATIONS : In any relationship, it’s important that these expectations are made clear from the offset, to avoid one party upsetting the other without realizing.</a:t>
            </a:r>
          </a:p>
          <a:p>
            <a:r>
              <a:rPr lang="en-US" dirty="0"/>
              <a:t>Always be open and honest and never be afraid to stand by what you believe </a:t>
            </a:r>
            <a:r>
              <a:rPr lang="en-US" dirty="0" err="1"/>
              <a:t>in.Thus</a:t>
            </a:r>
            <a:r>
              <a:rPr lang="en-US" dirty="0"/>
              <a:t> healthy, positive and satisfying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2908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9D5C-437C-E99A-D24F-B0F0A5F5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to improve communication in a relationship?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89FD-7829-E8C4-8BF1-AC2A8548C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Always talk about important or sensitive issues face-to-face.</a:t>
            </a:r>
          </a:p>
          <a:p>
            <a:pPr marL="0" indent="0">
              <a:buNone/>
            </a:pPr>
            <a:r>
              <a:rPr lang="en-US" dirty="0"/>
              <a:t>• Be open and honest.</a:t>
            </a:r>
          </a:p>
          <a:p>
            <a:pPr marL="0" indent="0">
              <a:buNone/>
            </a:pPr>
            <a:r>
              <a:rPr lang="en-US" dirty="0"/>
              <a:t>• Find the right time for important conversations Don’t be abusive or verbally aggressive, even if it’s an emotive issue.</a:t>
            </a:r>
          </a:p>
          <a:p>
            <a:pPr marL="0" indent="0">
              <a:buNone/>
            </a:pPr>
            <a:r>
              <a:rPr lang="en-US" dirty="0"/>
              <a:t>• Approach conversations in a calm and relaxed way, in a quiet environment where both parties are comfort-able.</a:t>
            </a:r>
          </a:p>
          <a:p>
            <a:pPr marL="0" indent="0">
              <a:buNone/>
            </a:pPr>
            <a:r>
              <a:rPr lang="en-US" dirty="0"/>
              <a:t>• Use positive body language.</a:t>
            </a:r>
          </a:p>
          <a:p>
            <a:pPr marL="0" indent="0">
              <a:buNone/>
            </a:pPr>
            <a:r>
              <a:rPr lang="en-US" dirty="0"/>
              <a:t>• Do not communicate via text.</a:t>
            </a:r>
          </a:p>
          <a:p>
            <a:pPr marL="0" indent="0">
              <a:buNone/>
            </a:pPr>
            <a:r>
              <a:rPr lang="en-US" dirty="0"/>
              <a:t>• Choose your language carefully.</a:t>
            </a:r>
          </a:p>
        </p:txBody>
      </p:sp>
    </p:spTree>
    <p:extLst>
      <p:ext uri="{BB962C8B-B14F-4D97-AF65-F5344CB8AC3E}">
        <p14:creationId xmlns:p14="http://schemas.microsoft.com/office/powerpoint/2010/main" val="2859779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A6EE-776C-5270-6489-A17A35C2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value of relationships and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D67AA-B413-B2FC-484F-5D9262C4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of Bad communication in relationships</a:t>
            </a:r>
          </a:p>
          <a:p>
            <a:pPr marL="0" indent="0">
              <a:buNone/>
            </a:pPr>
            <a:r>
              <a:rPr lang="en-US" dirty="0"/>
              <a:t>• Belittling each other</a:t>
            </a:r>
          </a:p>
          <a:p>
            <a:pPr marL="0" indent="0">
              <a:buNone/>
            </a:pPr>
            <a:r>
              <a:rPr lang="en-US" dirty="0"/>
              <a:t>• Openly giving the cold shoulder</a:t>
            </a:r>
          </a:p>
          <a:p>
            <a:pPr marL="0" indent="0">
              <a:buNone/>
            </a:pPr>
            <a:r>
              <a:rPr lang="en-US" dirty="0"/>
              <a:t>• Becoming defensive in heated discussions</a:t>
            </a:r>
          </a:p>
          <a:p>
            <a:pPr marL="0" indent="0">
              <a:buNone/>
            </a:pPr>
            <a:r>
              <a:rPr lang="en-US" dirty="0"/>
              <a:t>• Assuming you know what the other person is thinking</a:t>
            </a:r>
          </a:p>
          <a:p>
            <a:pPr marL="0" indent="0">
              <a:buNone/>
            </a:pPr>
            <a:r>
              <a:rPr lang="en-US" dirty="0"/>
              <a:t>• Arguments that are never resolved and brushed under the carpet</a:t>
            </a:r>
          </a:p>
          <a:p>
            <a:pPr marL="0" indent="0">
              <a:buNone/>
            </a:pPr>
            <a:r>
              <a:rPr lang="en-US" dirty="0"/>
              <a:t>• Inability to compromise</a:t>
            </a:r>
          </a:p>
          <a:p>
            <a:pPr marL="0" indent="0">
              <a:buNone/>
            </a:pPr>
            <a:r>
              <a:rPr lang="en-US" dirty="0"/>
              <a:t>• Few attempts to connect</a:t>
            </a:r>
          </a:p>
        </p:txBody>
      </p:sp>
    </p:spTree>
    <p:extLst>
      <p:ext uri="{BB962C8B-B14F-4D97-AF65-F5344CB8AC3E}">
        <p14:creationId xmlns:p14="http://schemas.microsoft.com/office/powerpoint/2010/main" val="206455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D8B7-5225-A715-CDF9-C9024C28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EDC6-FBDE-92FB-6D79-996612FEA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of good communication in relationships</a:t>
            </a:r>
          </a:p>
          <a:p>
            <a:pPr marL="0" indent="0">
              <a:buNone/>
            </a:pPr>
            <a:r>
              <a:rPr lang="en-US" dirty="0"/>
              <a:t>• Giving your partner, friend or family member your full attention.</a:t>
            </a:r>
          </a:p>
          <a:p>
            <a:pPr marL="0" indent="0">
              <a:buNone/>
            </a:pPr>
            <a:r>
              <a:rPr lang="en-US" dirty="0"/>
              <a:t>• Giving each other space when needed.</a:t>
            </a:r>
          </a:p>
          <a:p>
            <a:pPr marL="0" indent="0">
              <a:buNone/>
            </a:pPr>
            <a:r>
              <a:rPr lang="en-US" dirty="0"/>
              <a:t>• Face-to-face communication.</a:t>
            </a:r>
          </a:p>
          <a:p>
            <a:pPr marL="0" indent="0">
              <a:buNone/>
            </a:pPr>
            <a:r>
              <a:rPr lang="en-US" dirty="0"/>
              <a:t>• Honesty and openness.</a:t>
            </a:r>
          </a:p>
          <a:p>
            <a:pPr marL="0" indent="0">
              <a:buNone/>
            </a:pPr>
            <a:r>
              <a:rPr lang="en-US" dirty="0"/>
              <a:t>• 24- hour rule – never sleep on an argument.</a:t>
            </a:r>
          </a:p>
          <a:p>
            <a:pPr marL="0" indent="0">
              <a:buNone/>
            </a:pPr>
            <a:r>
              <a:rPr lang="en-US" dirty="0"/>
              <a:t>• Talk about the little things in life</a:t>
            </a:r>
          </a:p>
        </p:txBody>
      </p:sp>
    </p:spTree>
    <p:extLst>
      <p:ext uri="{BB962C8B-B14F-4D97-AF65-F5344CB8AC3E}">
        <p14:creationId xmlns:p14="http://schemas.microsoft.com/office/powerpoint/2010/main" val="3091674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F2EA-2281-83F7-249D-0AA2D40D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for Better or worsening of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B5925-19A9-C8F1-FBFE-ED4DB3C57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Satisfying relationships not only make us happy, they also influence our long-term health as much as getting enough sleep, eating healthy, and not smoking.</a:t>
            </a:r>
          </a:p>
          <a:p>
            <a:r>
              <a:rPr lang="en-US" dirty="0"/>
              <a:t>Many research studies have shown that satisfying relationships are associated with better health, greater happiness, and even longer life.</a:t>
            </a:r>
          </a:p>
          <a:p>
            <a:r>
              <a:rPr lang="en-US" dirty="0"/>
              <a:t>Stronger Heart and Healthier Brain</a:t>
            </a:r>
          </a:p>
          <a:p>
            <a:r>
              <a:rPr lang="en-US" dirty="0"/>
              <a:t>An unhealthy relationship will cause lot of stress, loneliness and will make us an irritable person which will work as a retarding force in our way of achieving success.</a:t>
            </a:r>
          </a:p>
          <a:p>
            <a:r>
              <a:rPr lang="en-US" dirty="0"/>
              <a:t>While in an unhealthy relationship we lose trust on each other and respect for each other decreases.</a:t>
            </a:r>
          </a:p>
        </p:txBody>
      </p:sp>
    </p:spTree>
    <p:extLst>
      <p:ext uri="{BB962C8B-B14F-4D97-AF65-F5344CB8AC3E}">
        <p14:creationId xmlns:p14="http://schemas.microsoft.com/office/powerpoint/2010/main" val="578745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167B-E64B-8B3E-5210-D2C39EC9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of basic instincts of life (more than a biology)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E537A-9736-0333-7219-6D83AE241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Two Basis instincts of Human Life</a:t>
            </a:r>
          </a:p>
          <a:p>
            <a:r>
              <a:rPr lang="en-US" dirty="0"/>
              <a:t>Self-</a:t>
            </a:r>
            <a:r>
              <a:rPr lang="en-US" dirty="0" err="1"/>
              <a:t>Preservance</a:t>
            </a:r>
            <a:r>
              <a:rPr lang="en-US" dirty="0"/>
              <a:t>.</a:t>
            </a:r>
          </a:p>
          <a:p>
            <a:r>
              <a:rPr lang="en-US" dirty="0"/>
              <a:t>Social Instinct.</a:t>
            </a:r>
          </a:p>
          <a:p>
            <a:pPr marL="0" indent="0">
              <a:buNone/>
            </a:pPr>
            <a:r>
              <a:rPr lang="en-US" b="1" dirty="0"/>
              <a:t>Self-</a:t>
            </a:r>
            <a:r>
              <a:rPr lang="en-US" b="1" dirty="0" err="1"/>
              <a:t>Preservance</a:t>
            </a:r>
            <a:r>
              <a:rPr lang="en-US" b="1" dirty="0"/>
              <a:t>:</a:t>
            </a:r>
          </a:p>
          <a:p>
            <a:r>
              <a:rPr lang="en-US" dirty="0"/>
              <a:t>Focused on enhancing and protecting personal safety, security, and comfort. </a:t>
            </a:r>
          </a:p>
          <a:p>
            <a:r>
              <a:rPr lang="en-US" dirty="0"/>
              <a:t>Priorities: Physical well-being, financial security, mental health.</a:t>
            </a:r>
          </a:p>
          <a:p>
            <a:r>
              <a:rPr lang="en-US" dirty="0"/>
              <a:t>Characteristics: This type tends to be self-sufficient, disciplined, and devoted to self-improvement. </a:t>
            </a:r>
            <a:r>
              <a:rPr lang="en-US" dirty="0" err="1"/>
              <a:t>Exam-ple:Investing</a:t>
            </a:r>
            <a:r>
              <a:rPr lang="en-US" dirty="0"/>
              <a:t>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3339645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9A70-045A-6E60-6281-1200C982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45497-6D4C-D248-BD0C-00F2BC1BA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Social Instinct</a:t>
            </a:r>
          </a:p>
          <a:p>
            <a:pPr marL="0" indent="0">
              <a:buNone/>
            </a:pPr>
            <a:r>
              <a:rPr lang="en-US" dirty="0"/>
              <a:t>• Focused on creating and maintaining relationships to build a sense of personal value, ac-</a:t>
            </a:r>
            <a:r>
              <a:rPr lang="en-US" dirty="0" err="1"/>
              <a:t>complishment</a:t>
            </a:r>
            <a:r>
              <a:rPr lang="en-US" dirty="0"/>
              <a:t>, and community.</a:t>
            </a:r>
          </a:p>
          <a:p>
            <a:pPr marL="0" indent="0">
              <a:buNone/>
            </a:pPr>
            <a:r>
              <a:rPr lang="en-US" dirty="0"/>
              <a:t>• Priorities: Interpersonal relationships, group participation.</a:t>
            </a:r>
          </a:p>
          <a:p>
            <a:pPr marL="0" indent="0">
              <a:buNone/>
            </a:pPr>
            <a:r>
              <a:rPr lang="en-US" dirty="0"/>
              <a:t>• Characteristics: Healthy social types typically maintain many friendships, feel a strong sense of social re-</a:t>
            </a:r>
            <a:r>
              <a:rPr lang="en-US" dirty="0" err="1"/>
              <a:t>sponsibility</a:t>
            </a:r>
            <a:r>
              <a:rPr lang="en-US" dirty="0"/>
              <a:t>, and work to protect the group.</a:t>
            </a:r>
          </a:p>
          <a:p>
            <a:pPr marL="0" indent="0">
              <a:buNone/>
            </a:pPr>
            <a:r>
              <a:rPr lang="en-US" dirty="0"/>
              <a:t>• Weaknesses: Social types may develop an antisocial “us against them” attitude in an effort to determine who’s on their side.</a:t>
            </a:r>
          </a:p>
        </p:txBody>
      </p:sp>
    </p:spTree>
    <p:extLst>
      <p:ext uri="{BB962C8B-B14F-4D97-AF65-F5344CB8AC3E}">
        <p14:creationId xmlns:p14="http://schemas.microsoft.com/office/powerpoint/2010/main" val="3195178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3C3E-53FE-3555-3542-ECD0F112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health </a:t>
            </a:r>
            <a:r>
              <a:rPr lang="en-US" dirty="0" err="1"/>
              <a:t>behaviours</a:t>
            </a:r>
            <a:r>
              <a:rPr lang="en-US" dirty="0"/>
              <a:t> through 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FC275-FB91-8239-B74E-724A59E3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Social engineering involves modifying the environment in ways that effects people ability to practice a particular health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Examples of social engineering:</a:t>
            </a:r>
          </a:p>
          <a:p>
            <a:r>
              <a:rPr lang="en-US" dirty="0"/>
              <a:t>Wearing seat belt is an active measure of to control the possible injury from an automobile accident, where as airbags which inflate automatically on impact.</a:t>
            </a:r>
          </a:p>
          <a:p>
            <a:r>
              <a:rPr lang="en-US" dirty="0"/>
              <a:t>Both smoking and alcohol consumption are legally restricted.</a:t>
            </a:r>
          </a:p>
          <a:p>
            <a:r>
              <a:rPr lang="en-US" dirty="0"/>
              <a:t>Social engineering solutions include providing purified water to people.</a:t>
            </a:r>
          </a:p>
        </p:txBody>
      </p:sp>
    </p:spTree>
    <p:extLst>
      <p:ext uri="{BB962C8B-B14F-4D97-AF65-F5344CB8AC3E}">
        <p14:creationId xmlns:p14="http://schemas.microsoft.com/office/powerpoint/2010/main" val="1148959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EBB2-E30A-DDBB-DF83-DB4AA271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680F-BF60-B642-C8E1-F360631CD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Both smoking and alcohol consumption are legally restricted to  particular </a:t>
            </a:r>
            <a:r>
              <a:rPr lang="en-US" dirty="0" err="1"/>
              <a:t>circumtances</a:t>
            </a:r>
            <a:r>
              <a:rPr lang="en-US" dirty="0"/>
              <a:t> and age groups.</a:t>
            </a:r>
          </a:p>
          <a:p>
            <a:r>
              <a:rPr lang="en-US" dirty="0"/>
              <a:t>The media can be used to influence people towards making healthier choices especially children who are suggestible and vulnerable to advertising.</a:t>
            </a:r>
          </a:p>
          <a:p>
            <a:r>
              <a:rPr lang="en-US" dirty="0"/>
              <a:t>Facilitating development of health habits such as open spaces and parks that encourage people to exercise, relatively cheap organic fruits and </a:t>
            </a:r>
            <a:r>
              <a:rPr lang="en-US" dirty="0" err="1"/>
              <a:t>vegitables</a:t>
            </a:r>
            <a:r>
              <a:rPr lang="en-US" dirty="0"/>
              <a:t>, minimal marketing of tobacco and alcohol.</a:t>
            </a:r>
          </a:p>
          <a:p>
            <a:r>
              <a:rPr lang="en-US" dirty="0"/>
              <a:t>Banning the usage of certain drugs, such as heroin and cocaine and regulating the disposal of toxic wastes are example of health measures that have been mandated </a:t>
            </a:r>
            <a:r>
              <a:rPr lang="en-US"/>
              <a:t>by legislation.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86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1627</Words>
  <Application>Microsoft Office PowerPoint</Application>
  <PresentationFormat>Widescreen</PresentationFormat>
  <Paragraphs>152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Creation of healthy and caring relationships</vt:lpstr>
      <vt:lpstr>PowerPoint Presentation</vt:lpstr>
      <vt:lpstr>PowerPoint Presentation</vt:lpstr>
      <vt:lpstr>GOALS OF COMMUNICATION :</vt:lpstr>
      <vt:lpstr>PowerPoint Presentation</vt:lpstr>
      <vt:lpstr>Communication Skills </vt:lpstr>
      <vt:lpstr>BARRIERS TO COMMUNICATION</vt:lpstr>
      <vt:lpstr>Types of Barriers </vt:lpstr>
      <vt:lpstr>WAYS TO IMPROVE COMMUNICATION :</vt:lpstr>
      <vt:lpstr>Friends and friendship - education</vt:lpstr>
      <vt:lpstr>PowerPoint Presentation</vt:lpstr>
      <vt:lpstr>Characteristics of Friendship </vt:lpstr>
      <vt:lpstr>Qualities Of A True Friend </vt:lpstr>
      <vt:lpstr>Friendship in Education</vt:lpstr>
      <vt:lpstr>Why communication is key to healthy relationships</vt:lpstr>
      <vt:lpstr>PowerPoint Presentation</vt:lpstr>
      <vt:lpstr>How to improve communication in a relationship? </vt:lpstr>
      <vt:lpstr>The value of relationships and communication</vt:lpstr>
      <vt:lpstr>PowerPoint Presentation</vt:lpstr>
      <vt:lpstr>Relationships for Better or worsening of life</vt:lpstr>
      <vt:lpstr>Understanding of basic instincts of life (more than a biology)</vt:lpstr>
      <vt:lpstr>PowerPoint Presentation</vt:lpstr>
      <vt:lpstr>Change health behaviours through social engineering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Creation of healthy and caring relationships</dc:title>
  <dc:creator>Harshitha H</dc:creator>
  <cp:lastModifiedBy>Sharan N</cp:lastModifiedBy>
  <cp:revision>3</cp:revision>
  <dcterms:created xsi:type="dcterms:W3CDTF">2023-11-02T10:04:28Z</dcterms:created>
  <dcterms:modified xsi:type="dcterms:W3CDTF">2023-12-15T17:38:16Z</dcterms:modified>
</cp:coreProperties>
</file>