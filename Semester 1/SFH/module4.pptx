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071" y="179133"/>
            <a:ext cx="7963857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748" y="2419091"/>
            <a:ext cx="8305165" cy="3213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sam.org/quality-practice/definition-of-addiction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161" y="159670"/>
            <a:ext cx="6550659" cy="1671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953634"/>
                </a:solidFill>
              </a:rPr>
              <a:t>SCIENTIFIC FOUNDATIONS</a:t>
            </a:r>
            <a:r>
              <a:rPr dirty="0" sz="3600" spc="-95">
                <a:solidFill>
                  <a:srgbClr val="953634"/>
                </a:solidFill>
              </a:rPr>
              <a:t> </a:t>
            </a:r>
            <a:r>
              <a:rPr dirty="0" sz="3600" spc="-5">
                <a:solidFill>
                  <a:srgbClr val="953634"/>
                </a:solidFill>
              </a:rPr>
              <a:t>OF  HEALTH</a:t>
            </a:r>
            <a:endParaRPr sz="3600"/>
          </a:p>
          <a:p>
            <a:pPr algn="ctr" marL="2540">
              <a:lnSpc>
                <a:spcPct val="100000"/>
              </a:lnSpc>
            </a:pPr>
            <a:r>
              <a:rPr dirty="0" sz="3600">
                <a:solidFill>
                  <a:srgbClr val="953634"/>
                </a:solidFill>
              </a:rPr>
              <a:t>21SFH19-</a:t>
            </a:r>
            <a:r>
              <a:rPr dirty="0" sz="3600" spc="-10">
                <a:solidFill>
                  <a:srgbClr val="953634"/>
                </a:solidFill>
              </a:rPr>
              <a:t> </a:t>
            </a:r>
            <a:r>
              <a:rPr dirty="0" sz="3600" spc="-5">
                <a:solidFill>
                  <a:srgbClr val="953634"/>
                </a:solidFill>
              </a:rPr>
              <a:t>MODULE-4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0223" y="1921251"/>
            <a:ext cx="7421245" cy="393700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 b="1">
                <a:latin typeface="Times New Roman"/>
                <a:cs typeface="Times New Roman"/>
              </a:rPr>
              <a:t>Avoiding risks </a:t>
            </a:r>
            <a:r>
              <a:rPr dirty="0" sz="2800" b="1">
                <a:latin typeface="Times New Roman"/>
                <a:cs typeface="Times New Roman"/>
              </a:rPr>
              <a:t>and </a:t>
            </a:r>
            <a:r>
              <a:rPr dirty="0" sz="2800" spc="-5" b="1">
                <a:latin typeface="Times New Roman"/>
                <a:cs typeface="Times New Roman"/>
              </a:rPr>
              <a:t>harmful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habits:</a:t>
            </a:r>
            <a:endParaRPr sz="2800">
              <a:latin typeface="Times New Roman"/>
              <a:cs typeface="Times New Roman"/>
            </a:endParaRPr>
          </a:p>
          <a:p>
            <a:pPr marL="355600" indent="-29019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Times New Roman"/>
                <a:cs typeface="Times New Roman"/>
              </a:rPr>
              <a:t>Characteristics </a:t>
            </a:r>
            <a:r>
              <a:rPr dirty="0" sz="2800">
                <a:latin typeface="Times New Roman"/>
                <a:cs typeface="Times New Roman"/>
              </a:rPr>
              <a:t>of health </a:t>
            </a:r>
            <a:r>
              <a:rPr dirty="0" sz="2800" spc="-5">
                <a:latin typeface="Times New Roman"/>
                <a:cs typeface="Times New Roman"/>
              </a:rPr>
              <a:t>compromising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behaviors</a:t>
            </a:r>
            <a:endParaRPr sz="2800">
              <a:latin typeface="Times New Roman"/>
              <a:cs typeface="Times New Roman"/>
            </a:endParaRPr>
          </a:p>
          <a:p>
            <a:pPr marL="355600" indent="-29019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Times New Roman"/>
                <a:cs typeface="Times New Roman"/>
              </a:rPr>
              <a:t>Recognizing </a:t>
            </a:r>
            <a:r>
              <a:rPr dirty="0" sz="2800" spc="-5">
                <a:latin typeface="Times New Roman"/>
                <a:cs typeface="Times New Roman"/>
              </a:rPr>
              <a:t>and avoiding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addictions</a:t>
            </a:r>
            <a:endParaRPr sz="2800">
              <a:latin typeface="Times New Roman"/>
              <a:cs typeface="Times New Roman"/>
            </a:endParaRPr>
          </a:p>
          <a:p>
            <a:pPr marL="355600" indent="-29019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how </a:t>
            </a:r>
            <a:r>
              <a:rPr dirty="0" sz="2800" spc="-5">
                <a:latin typeface="Times New Roman"/>
                <a:cs typeface="Times New Roman"/>
              </a:rPr>
              <a:t>addiction </a:t>
            </a:r>
            <a:r>
              <a:rPr dirty="0" sz="2800">
                <a:latin typeface="Times New Roman"/>
                <a:cs typeface="Times New Roman"/>
              </a:rPr>
              <a:t>develops </a:t>
            </a:r>
            <a:r>
              <a:rPr dirty="0" sz="2800" spc="-5">
                <a:latin typeface="Times New Roman"/>
                <a:cs typeface="Times New Roman"/>
              </a:rPr>
              <a:t>and addictive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behaviors</a:t>
            </a:r>
            <a:endParaRPr sz="2800">
              <a:latin typeface="Times New Roman"/>
              <a:cs typeface="Times New Roman"/>
            </a:endParaRPr>
          </a:p>
          <a:p>
            <a:pPr marL="355600" indent="-29019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Types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5">
                <a:latin typeface="Times New Roman"/>
                <a:cs typeface="Times New Roman"/>
              </a:rPr>
              <a:t> addictions</a:t>
            </a:r>
            <a:endParaRPr sz="2800">
              <a:latin typeface="Times New Roman"/>
              <a:cs typeface="Times New Roman"/>
            </a:endParaRPr>
          </a:p>
          <a:p>
            <a:pPr marL="354965" marR="480695" indent="-29019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Differences </a:t>
            </a:r>
            <a:r>
              <a:rPr dirty="0" sz="2800">
                <a:latin typeface="Times New Roman"/>
                <a:cs typeface="Times New Roman"/>
              </a:rPr>
              <a:t>between </a:t>
            </a:r>
            <a:r>
              <a:rPr dirty="0" sz="2800" spc="-5">
                <a:latin typeface="Times New Roman"/>
                <a:cs typeface="Times New Roman"/>
              </a:rPr>
              <a:t>addictive </a:t>
            </a:r>
            <a:r>
              <a:rPr dirty="0" sz="2800">
                <a:latin typeface="Times New Roman"/>
                <a:cs typeface="Times New Roman"/>
              </a:rPr>
              <a:t>people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non  </a:t>
            </a:r>
            <a:r>
              <a:rPr dirty="0" sz="2800" spc="-5">
                <a:latin typeface="Times New Roman"/>
                <a:cs typeface="Times New Roman"/>
              </a:rPr>
              <a:t>addictive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people</a:t>
            </a:r>
            <a:endParaRPr sz="2800">
              <a:latin typeface="Times New Roman"/>
              <a:cs typeface="Times New Roman"/>
            </a:endParaRPr>
          </a:p>
          <a:p>
            <a:pPr marL="355600" indent="-29019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Effects and </a:t>
            </a:r>
            <a:r>
              <a:rPr dirty="0" sz="2800">
                <a:latin typeface="Times New Roman"/>
                <a:cs typeface="Times New Roman"/>
              </a:rPr>
              <a:t>health hazards from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addictions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6203" y="582877"/>
            <a:ext cx="5001895" cy="12325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48895">
              <a:lnSpc>
                <a:spcPct val="100299"/>
              </a:lnSpc>
              <a:spcBef>
                <a:spcPts val="95"/>
              </a:spcBef>
            </a:pPr>
            <a:r>
              <a:rPr dirty="0" sz="3950" spc="-10"/>
              <a:t>Characteristics </a:t>
            </a:r>
            <a:r>
              <a:rPr dirty="0" sz="3950"/>
              <a:t>of health  </a:t>
            </a:r>
            <a:r>
              <a:rPr dirty="0" sz="3950" spc="-5"/>
              <a:t>compromising</a:t>
            </a:r>
            <a:r>
              <a:rPr dirty="0" sz="3950" spc="-60"/>
              <a:t> </a:t>
            </a:r>
            <a:r>
              <a:rPr dirty="0" sz="3950"/>
              <a:t>behaviors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297748" y="1992372"/>
            <a:ext cx="65201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1945" indent="-309880">
              <a:lnSpc>
                <a:spcPct val="100000"/>
              </a:lnSpc>
              <a:spcBef>
                <a:spcPts val="100"/>
              </a:spcBef>
              <a:buSzPct val="96428"/>
              <a:buFont typeface="Noto Sans Symbols2"/>
              <a:buChar char="❖"/>
              <a:tabLst>
                <a:tab pos="322580" algn="l"/>
                <a:tab pos="1137285" algn="l"/>
                <a:tab pos="1817370" algn="l"/>
                <a:tab pos="5124450" algn="l"/>
              </a:tabLst>
            </a:pPr>
            <a:r>
              <a:rPr dirty="0" sz="2800" spc="-5">
                <a:latin typeface="Times New Roman"/>
                <a:cs typeface="Times New Roman"/>
              </a:rPr>
              <a:t>Th</a:t>
            </a:r>
            <a:r>
              <a:rPr dirty="0" sz="2800">
                <a:latin typeface="Times New Roman"/>
                <a:cs typeface="Times New Roman"/>
              </a:rPr>
              <a:t>e	</a:t>
            </a:r>
            <a:r>
              <a:rPr dirty="0" sz="2800" spc="-5">
                <a:latin typeface="Times New Roman"/>
                <a:cs typeface="Times New Roman"/>
              </a:rPr>
              <a:t>si</a:t>
            </a:r>
            <a:r>
              <a:rPr dirty="0" sz="2800">
                <a:latin typeface="Times New Roman"/>
                <a:cs typeface="Times New Roman"/>
              </a:rPr>
              <a:t>x	health-compromising	behaviors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7375" y="1992372"/>
            <a:ext cx="15551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9640" algn="l"/>
              </a:tabLst>
            </a:pPr>
            <a:r>
              <a:rPr dirty="0" sz="2800">
                <a:latin typeface="Times New Roman"/>
                <a:cs typeface="Times New Roman"/>
              </a:rPr>
              <a:t>(low	fruit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21310" marR="508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consumption, </a:t>
            </a:r>
            <a:r>
              <a:rPr dirty="0"/>
              <a:t>high </a:t>
            </a:r>
            <a:r>
              <a:rPr dirty="0" spc="-5"/>
              <a:t>sweet consumption, less </a:t>
            </a:r>
            <a:r>
              <a:rPr dirty="0"/>
              <a:t>frequent  </a:t>
            </a:r>
            <a:r>
              <a:rPr dirty="0" spc="-5"/>
              <a:t>tooth </a:t>
            </a:r>
            <a:r>
              <a:rPr dirty="0"/>
              <a:t>brushing, </a:t>
            </a:r>
            <a:r>
              <a:rPr dirty="0" spc="-5"/>
              <a:t>low </a:t>
            </a:r>
            <a:r>
              <a:rPr dirty="0"/>
              <a:t>physical </a:t>
            </a:r>
            <a:r>
              <a:rPr dirty="0" spc="-5"/>
              <a:t>activity, </a:t>
            </a:r>
            <a:r>
              <a:rPr dirty="0"/>
              <a:t>physical fighting  </a:t>
            </a:r>
            <a:r>
              <a:rPr dirty="0" spc="-5"/>
              <a:t>and smoking) clustered into two</a:t>
            </a:r>
            <a:r>
              <a:rPr dirty="0" spc="-20"/>
              <a:t> </a:t>
            </a:r>
            <a:r>
              <a:rPr dirty="0" spc="-5"/>
              <a:t>clusters.</a:t>
            </a:r>
          </a:p>
          <a:p>
            <a:pPr algn="just" marL="321310" marR="17145" indent="-309245">
              <a:lnSpc>
                <a:spcPct val="100000"/>
              </a:lnSpc>
              <a:spcBef>
                <a:spcPts val="560"/>
              </a:spcBef>
              <a:buSzPct val="96428"/>
              <a:buFont typeface="Noto Sans Symbols2"/>
              <a:buChar char="❖"/>
              <a:tabLst>
                <a:tab pos="322580" algn="l"/>
              </a:tabLst>
            </a:pPr>
            <a:r>
              <a:rPr dirty="0" spc="-5"/>
              <a:t>The </a:t>
            </a:r>
            <a:r>
              <a:rPr dirty="0"/>
              <a:t>first </a:t>
            </a:r>
            <a:r>
              <a:rPr dirty="0" spc="-5"/>
              <a:t>cluster included low </a:t>
            </a:r>
            <a:r>
              <a:rPr dirty="0"/>
              <a:t>fruit </a:t>
            </a:r>
            <a:r>
              <a:rPr dirty="0" spc="-5"/>
              <a:t>consumption, less  </a:t>
            </a:r>
            <a:r>
              <a:rPr dirty="0"/>
              <a:t>frequent </a:t>
            </a:r>
            <a:r>
              <a:rPr dirty="0" spc="-5"/>
              <a:t>tooth </a:t>
            </a:r>
            <a:r>
              <a:rPr dirty="0"/>
              <a:t>brushing </a:t>
            </a:r>
            <a:r>
              <a:rPr dirty="0" spc="-5"/>
              <a:t>and low </a:t>
            </a:r>
            <a:r>
              <a:rPr dirty="0"/>
              <a:t>physical</a:t>
            </a:r>
            <a:r>
              <a:rPr dirty="0" spc="-35"/>
              <a:t> </a:t>
            </a:r>
            <a:r>
              <a:rPr dirty="0" spc="-5"/>
              <a:t>activity.</a:t>
            </a:r>
          </a:p>
          <a:p>
            <a:pPr algn="just" marL="321310" marR="12700" indent="-309245">
              <a:lnSpc>
                <a:spcPct val="111400"/>
              </a:lnSpc>
              <a:spcBef>
                <a:spcPts val="254"/>
              </a:spcBef>
              <a:buSzPct val="96428"/>
              <a:buFont typeface="Noto Sans Symbols2"/>
              <a:buChar char="❖"/>
              <a:tabLst>
                <a:tab pos="421005" algn="l"/>
              </a:tabLst>
            </a:pPr>
            <a:r>
              <a:rPr dirty="0" spc="-5"/>
              <a:t>The second cluster included </a:t>
            </a:r>
            <a:r>
              <a:rPr dirty="0"/>
              <a:t>high </a:t>
            </a:r>
            <a:r>
              <a:rPr dirty="0" spc="-5"/>
              <a:t>sweets consumption,  smoking and </a:t>
            </a:r>
            <a:r>
              <a:rPr dirty="0"/>
              <a:t>physical</a:t>
            </a:r>
            <a:r>
              <a:rPr dirty="0" spc="-10"/>
              <a:t> </a:t>
            </a:r>
            <a:r>
              <a:rPr dirty="0"/>
              <a:t>fighting.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032" y="511568"/>
            <a:ext cx="8018145" cy="6292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spc="-5"/>
              <a:t>Recognizing and avoiding </a:t>
            </a:r>
            <a:r>
              <a:rPr dirty="0" sz="3950"/>
              <a:t>of</a:t>
            </a:r>
            <a:r>
              <a:rPr dirty="0" sz="3950" spc="-35"/>
              <a:t> </a:t>
            </a:r>
            <a:r>
              <a:rPr dirty="0" sz="3950" spc="-5"/>
              <a:t>addictions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91179" y="1609340"/>
            <a:ext cx="7945755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marR="88900" indent="-2819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Recognizing </a:t>
            </a:r>
            <a:r>
              <a:rPr dirty="0" sz="3200" spc="-5">
                <a:latin typeface="Times New Roman"/>
                <a:cs typeface="Times New Roman"/>
              </a:rPr>
              <a:t>an </a:t>
            </a:r>
            <a:r>
              <a:rPr dirty="0" sz="3200" spc="-10">
                <a:latin typeface="Times New Roman"/>
                <a:cs typeface="Times New Roman"/>
              </a:rPr>
              <a:t>addiction </a:t>
            </a:r>
            <a:r>
              <a:rPr dirty="0" sz="3200">
                <a:latin typeface="Times New Roman"/>
                <a:cs typeface="Times New Roman"/>
              </a:rPr>
              <a:t>problem </a:t>
            </a:r>
            <a:r>
              <a:rPr dirty="0" sz="3200" spc="-5">
                <a:latin typeface="Times New Roman"/>
                <a:cs typeface="Times New Roman"/>
              </a:rPr>
              <a:t>in someone  </a:t>
            </a:r>
            <a:r>
              <a:rPr dirty="0" sz="3200">
                <a:latin typeface="Times New Roman"/>
                <a:cs typeface="Times New Roman"/>
              </a:rPr>
              <a:t>you know </a:t>
            </a:r>
            <a:r>
              <a:rPr dirty="0" sz="3200" spc="-10">
                <a:latin typeface="Times New Roman"/>
                <a:cs typeface="Times New Roman"/>
              </a:rPr>
              <a:t>can </a:t>
            </a:r>
            <a:r>
              <a:rPr dirty="0" sz="3200">
                <a:latin typeface="Times New Roman"/>
                <a:cs typeface="Times New Roman"/>
              </a:rPr>
              <a:t>be harder </a:t>
            </a:r>
            <a:r>
              <a:rPr dirty="0" sz="3200" spc="-10">
                <a:latin typeface="Times New Roman"/>
                <a:cs typeface="Times New Roman"/>
              </a:rPr>
              <a:t>than </a:t>
            </a:r>
            <a:r>
              <a:rPr dirty="0" sz="3200" spc="-5">
                <a:latin typeface="Times New Roman"/>
                <a:cs typeface="Times New Roman"/>
              </a:rPr>
              <a:t>it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seems.</a:t>
            </a:r>
            <a:endParaRPr sz="3200">
              <a:latin typeface="Times New Roman"/>
              <a:cs typeface="Times New Roman"/>
            </a:endParaRPr>
          </a:p>
          <a:p>
            <a:pPr marL="294640" marR="5080">
              <a:lnSpc>
                <a:spcPct val="100000"/>
              </a:lnSpc>
            </a:pPr>
            <a:r>
              <a:rPr dirty="0" sz="3200" spc="-10">
                <a:latin typeface="Times New Roman"/>
                <a:cs typeface="Times New Roman"/>
              </a:rPr>
              <a:t>The </a:t>
            </a:r>
            <a:r>
              <a:rPr dirty="0" u="heavy" sz="32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American Society </a:t>
            </a:r>
            <a:r>
              <a:rPr dirty="0" u="heavy" sz="32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of </a:t>
            </a:r>
            <a:r>
              <a:rPr dirty="0" u="heavy" sz="32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Addiction Medicine </a:t>
            </a:r>
            <a:r>
              <a:rPr dirty="0" sz="32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u="heavy" sz="32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(ASAM)</a:t>
            </a:r>
            <a:r>
              <a:rPr dirty="0" sz="3200">
                <a:solidFill>
                  <a:srgbClr val="0000FF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defines </a:t>
            </a:r>
            <a:r>
              <a:rPr dirty="0" sz="3200" spc="-10">
                <a:latin typeface="Times New Roman"/>
                <a:cs typeface="Times New Roman"/>
              </a:rPr>
              <a:t>addiction </a:t>
            </a:r>
            <a:r>
              <a:rPr dirty="0" sz="3200" spc="-5">
                <a:latin typeface="Times New Roman"/>
                <a:cs typeface="Times New Roman"/>
              </a:rPr>
              <a:t>as </a:t>
            </a:r>
            <a:r>
              <a:rPr dirty="0" sz="3200">
                <a:latin typeface="Times New Roman"/>
                <a:cs typeface="Times New Roman"/>
              </a:rPr>
              <a:t>a </a:t>
            </a:r>
            <a:r>
              <a:rPr dirty="0" sz="3200" spc="-10">
                <a:latin typeface="Times New Roman"/>
                <a:cs typeface="Times New Roman"/>
              </a:rPr>
              <a:t>chronic</a:t>
            </a:r>
            <a:r>
              <a:rPr dirty="0" sz="3200" spc="-1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disease  </a:t>
            </a:r>
            <a:r>
              <a:rPr dirty="0" sz="3200" spc="-10">
                <a:latin typeface="Times New Roman"/>
                <a:cs typeface="Times New Roman"/>
              </a:rPr>
              <a:t>that affects the </a:t>
            </a:r>
            <a:r>
              <a:rPr dirty="0" sz="3200">
                <a:latin typeface="Times New Roman"/>
                <a:cs typeface="Times New Roman"/>
              </a:rPr>
              <a:t>brain’s reward, </a:t>
            </a:r>
            <a:r>
              <a:rPr dirty="0" sz="3200" spc="-10">
                <a:latin typeface="Times New Roman"/>
                <a:cs typeface="Times New Roman"/>
              </a:rPr>
              <a:t>motivation, and  memory </a:t>
            </a:r>
            <a:r>
              <a:rPr dirty="0" sz="3200">
                <a:latin typeface="Times New Roman"/>
                <a:cs typeface="Times New Roman"/>
              </a:rPr>
              <a:t>functions. </a:t>
            </a:r>
            <a:r>
              <a:rPr dirty="0" sz="3200" spc="-5">
                <a:latin typeface="Times New Roman"/>
                <a:cs typeface="Times New Roman"/>
              </a:rPr>
              <a:t>Someone with an </a:t>
            </a:r>
            <a:r>
              <a:rPr dirty="0" sz="3200" spc="-10">
                <a:latin typeface="Times New Roman"/>
                <a:cs typeface="Times New Roman"/>
              </a:rPr>
              <a:t>addiction  </a:t>
            </a:r>
            <a:r>
              <a:rPr dirty="0" sz="3200" spc="-5">
                <a:latin typeface="Times New Roman"/>
                <a:cs typeface="Times New Roman"/>
              </a:rPr>
              <a:t>will </a:t>
            </a:r>
            <a:r>
              <a:rPr dirty="0" sz="3200" spc="-10">
                <a:latin typeface="Times New Roman"/>
                <a:cs typeface="Times New Roman"/>
              </a:rPr>
              <a:t>crave </a:t>
            </a:r>
            <a:r>
              <a:rPr dirty="0" sz="3200">
                <a:latin typeface="Times New Roman"/>
                <a:cs typeface="Times New Roman"/>
              </a:rPr>
              <a:t>a </a:t>
            </a:r>
            <a:r>
              <a:rPr dirty="0" sz="3200" spc="-5">
                <a:latin typeface="Times New Roman"/>
                <a:cs typeface="Times New Roman"/>
              </a:rPr>
              <a:t>substance </a:t>
            </a:r>
            <a:r>
              <a:rPr dirty="0" sz="3200">
                <a:latin typeface="Times New Roman"/>
                <a:cs typeface="Times New Roman"/>
              </a:rPr>
              <a:t>or other behavioral  habits. </a:t>
            </a:r>
            <a:r>
              <a:rPr dirty="0" sz="3200" spc="-10">
                <a:latin typeface="Times New Roman"/>
                <a:cs typeface="Times New Roman"/>
              </a:rPr>
              <a:t>They’ll </a:t>
            </a:r>
            <a:r>
              <a:rPr dirty="0" sz="3200">
                <a:latin typeface="Times New Roman"/>
                <a:cs typeface="Times New Roman"/>
              </a:rPr>
              <a:t>often </a:t>
            </a:r>
            <a:r>
              <a:rPr dirty="0" sz="3200" spc="-10">
                <a:latin typeface="Times New Roman"/>
                <a:cs typeface="Times New Roman"/>
              </a:rPr>
              <a:t>ignore </a:t>
            </a:r>
            <a:r>
              <a:rPr dirty="0" sz="3200">
                <a:latin typeface="Times New Roman"/>
                <a:cs typeface="Times New Roman"/>
              </a:rPr>
              <a:t>other </a:t>
            </a:r>
            <a:r>
              <a:rPr dirty="0" sz="3200" spc="-10">
                <a:latin typeface="Times New Roman"/>
                <a:cs typeface="Times New Roman"/>
              </a:rPr>
              <a:t>areas </a:t>
            </a:r>
            <a:r>
              <a:rPr dirty="0" sz="3200">
                <a:latin typeface="Times New Roman"/>
                <a:cs typeface="Times New Roman"/>
              </a:rPr>
              <a:t>of </a:t>
            </a:r>
            <a:r>
              <a:rPr dirty="0" sz="3200" spc="-10">
                <a:latin typeface="Times New Roman"/>
                <a:cs typeface="Times New Roman"/>
              </a:rPr>
              <a:t>life  </a:t>
            </a:r>
            <a:r>
              <a:rPr dirty="0" sz="3200" spc="-5">
                <a:latin typeface="Times New Roman"/>
                <a:cs typeface="Times New Roman"/>
              </a:rPr>
              <a:t>to </a:t>
            </a:r>
            <a:r>
              <a:rPr dirty="0" sz="3200">
                <a:latin typeface="Times New Roman"/>
                <a:cs typeface="Times New Roman"/>
              </a:rPr>
              <a:t>fulfill or </a:t>
            </a:r>
            <a:r>
              <a:rPr dirty="0" sz="3200" spc="-5">
                <a:latin typeface="Times New Roman"/>
                <a:cs typeface="Times New Roman"/>
              </a:rPr>
              <a:t>support </a:t>
            </a:r>
            <a:r>
              <a:rPr dirty="0" sz="3200" spc="-10">
                <a:latin typeface="Times New Roman"/>
                <a:cs typeface="Times New Roman"/>
              </a:rPr>
              <a:t>their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desires.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8320" y="475804"/>
            <a:ext cx="67163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11904" algn="l"/>
              </a:tabLst>
            </a:pPr>
            <a:r>
              <a:rPr dirty="0" sz="4400" spc="-5"/>
              <a:t>General signs</a:t>
            </a:r>
            <a:r>
              <a:rPr dirty="0" sz="4400"/>
              <a:t> of	</a:t>
            </a:r>
            <a:r>
              <a:rPr dirty="0" sz="4400" spc="-10"/>
              <a:t>addiction</a:t>
            </a:r>
            <a:r>
              <a:rPr dirty="0" sz="4400" spc="-90"/>
              <a:t> </a:t>
            </a:r>
            <a:r>
              <a:rPr dirty="0" sz="4400" spc="-5"/>
              <a:t>are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91179" y="1609340"/>
            <a:ext cx="7816215" cy="4170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marR="5080" indent="-2819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Lack </a:t>
            </a:r>
            <a:r>
              <a:rPr dirty="0" sz="3200">
                <a:latin typeface="Times New Roman"/>
                <a:cs typeface="Times New Roman"/>
              </a:rPr>
              <a:t>of </a:t>
            </a:r>
            <a:r>
              <a:rPr dirty="0" sz="3200" spc="-10">
                <a:latin typeface="Times New Roman"/>
                <a:cs typeface="Times New Roman"/>
              </a:rPr>
              <a:t>control, </a:t>
            </a:r>
            <a:r>
              <a:rPr dirty="0" sz="3200">
                <a:latin typeface="Times New Roman"/>
                <a:cs typeface="Times New Roman"/>
              </a:rPr>
              <a:t>or </a:t>
            </a:r>
            <a:r>
              <a:rPr dirty="0" sz="3200" spc="-10">
                <a:latin typeface="Times New Roman"/>
                <a:cs typeface="Times New Roman"/>
              </a:rPr>
              <a:t>inability </a:t>
            </a:r>
            <a:r>
              <a:rPr dirty="0" sz="3200" spc="-5">
                <a:latin typeface="Times New Roman"/>
                <a:cs typeface="Times New Roman"/>
              </a:rPr>
              <a:t>to stay </a:t>
            </a:r>
            <a:r>
              <a:rPr dirty="0" sz="3200" spc="-10">
                <a:latin typeface="Times New Roman"/>
                <a:cs typeface="Times New Roman"/>
              </a:rPr>
              <a:t>away </a:t>
            </a:r>
            <a:r>
              <a:rPr dirty="0" sz="3200">
                <a:latin typeface="Times New Roman"/>
                <a:cs typeface="Times New Roman"/>
              </a:rPr>
              <a:t>from  a </a:t>
            </a:r>
            <a:r>
              <a:rPr dirty="0" sz="3200" spc="-5">
                <a:latin typeface="Times New Roman"/>
                <a:cs typeface="Times New Roman"/>
              </a:rPr>
              <a:t>substance </a:t>
            </a:r>
            <a:r>
              <a:rPr dirty="0" sz="3200">
                <a:latin typeface="Times New Roman"/>
                <a:cs typeface="Times New Roman"/>
              </a:rPr>
              <a:t>or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behavior</a:t>
            </a:r>
            <a:endParaRPr sz="3200">
              <a:latin typeface="Times New Roman"/>
              <a:cs typeface="Times New Roman"/>
            </a:endParaRPr>
          </a:p>
          <a:p>
            <a:pPr marL="294640" marR="868044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Decreased socialization, </a:t>
            </a:r>
            <a:r>
              <a:rPr dirty="0" sz="3200" spc="-10">
                <a:latin typeface="Times New Roman"/>
                <a:cs typeface="Times New Roman"/>
              </a:rPr>
              <a:t>like abandoning  commitments </a:t>
            </a:r>
            <a:r>
              <a:rPr dirty="0" sz="3200">
                <a:latin typeface="Times New Roman"/>
                <a:cs typeface="Times New Roman"/>
              </a:rPr>
              <a:t>or </a:t>
            </a:r>
            <a:r>
              <a:rPr dirty="0" sz="3200" spc="-10">
                <a:latin typeface="Times New Roman"/>
                <a:cs typeface="Times New Roman"/>
              </a:rPr>
              <a:t>ignoring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relationships</a:t>
            </a:r>
            <a:endParaRPr sz="3200">
              <a:latin typeface="Times New Roman"/>
              <a:cs typeface="Times New Roman"/>
            </a:endParaRPr>
          </a:p>
          <a:p>
            <a:pPr marL="294640" marR="76835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Ignoring risk factors, </a:t>
            </a:r>
            <a:r>
              <a:rPr dirty="0" sz="3200" spc="-10">
                <a:latin typeface="Times New Roman"/>
                <a:cs typeface="Times New Roman"/>
              </a:rPr>
              <a:t>like </a:t>
            </a:r>
            <a:r>
              <a:rPr dirty="0" sz="3200" spc="-5">
                <a:latin typeface="Times New Roman"/>
                <a:cs typeface="Times New Roman"/>
              </a:rPr>
              <a:t>sharing</a:t>
            </a:r>
            <a:r>
              <a:rPr dirty="0" sz="3200" spc="-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needles  despite potential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consequences</a:t>
            </a:r>
            <a:endParaRPr sz="3200">
              <a:latin typeface="Times New Roman"/>
              <a:cs typeface="Times New Roman"/>
            </a:endParaRPr>
          </a:p>
          <a:p>
            <a:pPr marL="294640" marR="8255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Physical </a:t>
            </a:r>
            <a:r>
              <a:rPr dirty="0" sz="3200" spc="-10">
                <a:latin typeface="Times New Roman"/>
                <a:cs typeface="Times New Roman"/>
              </a:rPr>
              <a:t>effects, like </a:t>
            </a:r>
            <a:r>
              <a:rPr dirty="0" sz="3200" spc="-5">
                <a:latin typeface="Times New Roman"/>
                <a:cs typeface="Times New Roman"/>
              </a:rPr>
              <a:t>withdrawal symptoms </a:t>
            </a:r>
            <a:r>
              <a:rPr dirty="0" sz="3200">
                <a:latin typeface="Times New Roman"/>
                <a:cs typeface="Times New Roman"/>
              </a:rPr>
              <a:t>or  needing higher dosage for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effect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2786380" marR="5080" indent="-27051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Substance addiction is </a:t>
            </a:r>
            <a:r>
              <a:rPr dirty="0"/>
              <a:t>dependence on </a:t>
            </a:r>
            <a:r>
              <a:rPr dirty="0" spc="-5"/>
              <a:t>any </a:t>
            </a:r>
            <a:r>
              <a:rPr dirty="0"/>
              <a:t>one or</a:t>
            </a:r>
            <a:r>
              <a:rPr dirty="0" spc="-80"/>
              <a:t> </a:t>
            </a:r>
            <a:r>
              <a:rPr dirty="0" spc="-5"/>
              <a:t>more  </a:t>
            </a:r>
            <a:r>
              <a:rPr dirty="0"/>
              <a:t>of </a:t>
            </a:r>
            <a:r>
              <a:rPr dirty="0" spc="-5"/>
              <a:t>the</a:t>
            </a:r>
            <a:r>
              <a:rPr dirty="0" spc="-15"/>
              <a:t> </a:t>
            </a:r>
            <a:r>
              <a:rPr dirty="0"/>
              <a:t>following: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179" y="1528063"/>
            <a:ext cx="7157084" cy="384556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nicotine, or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tobacco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alcohol</a:t>
            </a:r>
            <a:endParaRPr sz="3200">
              <a:latin typeface="Times New Roman"/>
              <a:cs typeface="Times New Roman"/>
            </a:endParaRPr>
          </a:p>
          <a:p>
            <a:pPr marL="294640" marR="508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inhalants, </a:t>
            </a:r>
            <a:r>
              <a:rPr dirty="0" sz="3200">
                <a:latin typeface="Times New Roman"/>
                <a:cs typeface="Times New Roman"/>
              </a:rPr>
              <a:t>often household </a:t>
            </a:r>
            <a:r>
              <a:rPr dirty="0" sz="3200" spc="-10">
                <a:latin typeface="Times New Roman"/>
                <a:cs typeface="Times New Roman"/>
              </a:rPr>
              <a:t>items like </a:t>
            </a:r>
            <a:r>
              <a:rPr dirty="0" sz="3200">
                <a:latin typeface="Times New Roman"/>
                <a:cs typeface="Times New Roman"/>
              </a:rPr>
              <a:t>oven  </a:t>
            </a:r>
            <a:r>
              <a:rPr dirty="0" sz="3200" spc="-10">
                <a:latin typeface="Times New Roman"/>
                <a:cs typeface="Times New Roman"/>
              </a:rPr>
              <a:t>cleaners, </a:t>
            </a:r>
            <a:r>
              <a:rPr dirty="0" sz="3200" spc="-5">
                <a:latin typeface="Times New Roman"/>
                <a:cs typeface="Times New Roman"/>
              </a:rPr>
              <a:t>spray </a:t>
            </a:r>
            <a:r>
              <a:rPr dirty="0" sz="3200">
                <a:latin typeface="Times New Roman"/>
                <a:cs typeface="Times New Roman"/>
              </a:rPr>
              <a:t>paints, or other </a:t>
            </a:r>
            <a:r>
              <a:rPr dirty="0" sz="3200" spc="-10">
                <a:latin typeface="Times New Roman"/>
                <a:cs typeface="Times New Roman"/>
              </a:rPr>
              <a:t>aerosol  </a:t>
            </a:r>
            <a:r>
              <a:rPr dirty="0" sz="3200">
                <a:latin typeface="Times New Roman"/>
                <a:cs typeface="Times New Roman"/>
              </a:rPr>
              <a:t>products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drugs, </a:t>
            </a:r>
            <a:r>
              <a:rPr dirty="0" sz="3200" spc="-10">
                <a:latin typeface="Times New Roman"/>
                <a:cs typeface="Times New Roman"/>
              </a:rPr>
              <a:t>illicit </a:t>
            </a:r>
            <a:r>
              <a:rPr dirty="0" sz="3200">
                <a:latin typeface="Times New Roman"/>
                <a:cs typeface="Times New Roman"/>
              </a:rPr>
              <a:t>or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non-illicit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medication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179" y="573340"/>
            <a:ext cx="6711950" cy="3825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446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Times New Roman"/>
                <a:cs typeface="Times New Roman"/>
              </a:rPr>
              <a:t>Behavioral addiction can</a:t>
            </a:r>
            <a:r>
              <a:rPr dirty="0" sz="3200" spc="-7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include: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gambling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working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shopping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video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games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using </a:t>
            </a:r>
            <a:r>
              <a:rPr dirty="0" sz="3200" spc="-10">
                <a:latin typeface="Times New Roman"/>
                <a:cs typeface="Times New Roman"/>
              </a:rPr>
              <a:t>the </a:t>
            </a:r>
            <a:r>
              <a:rPr dirty="0" sz="3200">
                <a:latin typeface="Times New Roman"/>
                <a:cs typeface="Times New Roman"/>
              </a:rPr>
              <a:t>Internet or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58290" marR="5080" indent="-1146175">
              <a:lnSpc>
                <a:spcPct val="100299"/>
              </a:lnSpc>
              <a:spcBef>
                <a:spcPts val="95"/>
              </a:spcBef>
            </a:pPr>
            <a:r>
              <a:rPr dirty="0" sz="3950"/>
              <a:t>Signs </a:t>
            </a:r>
            <a:r>
              <a:rPr dirty="0" sz="3950" spc="-5"/>
              <a:t>that </a:t>
            </a:r>
            <a:r>
              <a:rPr dirty="0" sz="3950"/>
              <a:t>point </a:t>
            </a:r>
            <a:r>
              <a:rPr dirty="0" sz="3950" spc="-5"/>
              <a:t>towards changes </a:t>
            </a:r>
            <a:r>
              <a:rPr dirty="0" sz="3950" spc="-10"/>
              <a:t>in  </a:t>
            </a:r>
            <a:r>
              <a:rPr dirty="0" sz="3950" spc="-5"/>
              <a:t>their </a:t>
            </a:r>
            <a:r>
              <a:rPr dirty="0" sz="3950"/>
              <a:t>health </a:t>
            </a:r>
            <a:r>
              <a:rPr dirty="0" sz="3950" spc="-5"/>
              <a:t>can</a:t>
            </a:r>
            <a:r>
              <a:rPr dirty="0" sz="3950" spc="-15"/>
              <a:t> </a:t>
            </a:r>
            <a:r>
              <a:rPr dirty="0" sz="3950" spc="-5"/>
              <a:t>include: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77450" y="1552525"/>
            <a:ext cx="7781290" cy="42335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07975" indent="-295910">
              <a:lnSpc>
                <a:spcPts val="2910"/>
              </a:lnSpc>
              <a:spcBef>
                <a:spcPts val="130"/>
              </a:spcBef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10">
                <a:latin typeface="Times New Roman"/>
                <a:cs typeface="Times New Roman"/>
              </a:rPr>
              <a:t>bloodshot or glazed</a:t>
            </a:r>
            <a:r>
              <a:rPr dirty="0" sz="2450" spc="-10">
                <a:latin typeface="Times New Roman"/>
                <a:cs typeface="Times New Roman"/>
              </a:rPr>
              <a:t> </a:t>
            </a:r>
            <a:r>
              <a:rPr dirty="0" sz="2450" spc="5">
                <a:latin typeface="Times New Roman"/>
                <a:cs typeface="Times New Roman"/>
              </a:rPr>
              <a:t>eyes</a:t>
            </a:r>
            <a:endParaRPr sz="2450">
              <a:latin typeface="Times New Roman"/>
              <a:cs typeface="Times New Roman"/>
            </a:endParaRPr>
          </a:p>
          <a:p>
            <a:pPr marL="307975" indent="-295910">
              <a:lnSpc>
                <a:spcPts val="2875"/>
              </a:lnSpc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5">
                <a:latin typeface="Times New Roman"/>
                <a:cs typeface="Times New Roman"/>
              </a:rPr>
              <a:t>constant</a:t>
            </a:r>
            <a:r>
              <a:rPr dirty="0" sz="2450" spc="-5">
                <a:latin typeface="Times New Roman"/>
                <a:cs typeface="Times New Roman"/>
              </a:rPr>
              <a:t> </a:t>
            </a:r>
            <a:r>
              <a:rPr dirty="0" sz="2450" spc="5">
                <a:latin typeface="Times New Roman"/>
                <a:cs typeface="Times New Roman"/>
              </a:rPr>
              <a:t>illness</a:t>
            </a:r>
            <a:endParaRPr sz="2450">
              <a:latin typeface="Times New Roman"/>
              <a:cs typeface="Times New Roman"/>
            </a:endParaRPr>
          </a:p>
          <a:p>
            <a:pPr marL="307975" indent="-295910">
              <a:lnSpc>
                <a:spcPts val="2875"/>
              </a:lnSpc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10">
                <a:latin typeface="Times New Roman"/>
                <a:cs typeface="Times New Roman"/>
              </a:rPr>
              <a:t>unexplained</a:t>
            </a:r>
            <a:r>
              <a:rPr dirty="0" sz="2450">
                <a:latin typeface="Times New Roman"/>
                <a:cs typeface="Times New Roman"/>
              </a:rPr>
              <a:t> </a:t>
            </a:r>
            <a:r>
              <a:rPr dirty="0" sz="2450" spc="5">
                <a:latin typeface="Times New Roman"/>
                <a:cs typeface="Times New Roman"/>
              </a:rPr>
              <a:t>injuries</a:t>
            </a:r>
            <a:endParaRPr sz="2450">
              <a:latin typeface="Times New Roman"/>
              <a:cs typeface="Times New Roman"/>
            </a:endParaRPr>
          </a:p>
          <a:p>
            <a:pPr marL="307975" indent="-295910">
              <a:lnSpc>
                <a:spcPts val="2875"/>
              </a:lnSpc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5">
                <a:latin typeface="Times New Roman"/>
                <a:cs typeface="Times New Roman"/>
              </a:rPr>
              <a:t>abrupt </a:t>
            </a:r>
            <a:r>
              <a:rPr dirty="0" sz="2450" spc="10">
                <a:latin typeface="Times New Roman"/>
                <a:cs typeface="Times New Roman"/>
              </a:rPr>
              <a:t>change </a:t>
            </a:r>
            <a:r>
              <a:rPr dirty="0" sz="2450" spc="5">
                <a:latin typeface="Times New Roman"/>
                <a:cs typeface="Times New Roman"/>
              </a:rPr>
              <a:t>in</a:t>
            </a:r>
            <a:r>
              <a:rPr dirty="0" sz="2450" spc="-20">
                <a:latin typeface="Times New Roman"/>
                <a:cs typeface="Times New Roman"/>
              </a:rPr>
              <a:t> </a:t>
            </a:r>
            <a:r>
              <a:rPr dirty="0" sz="2450" spc="5">
                <a:latin typeface="Times New Roman"/>
                <a:cs typeface="Times New Roman"/>
              </a:rPr>
              <a:t>weight</a:t>
            </a:r>
            <a:endParaRPr sz="2450">
              <a:latin typeface="Times New Roman"/>
              <a:cs typeface="Times New Roman"/>
            </a:endParaRPr>
          </a:p>
          <a:p>
            <a:pPr marL="307975" marR="203835" indent="-295910">
              <a:lnSpc>
                <a:spcPts val="2380"/>
              </a:lnSpc>
              <a:spcBef>
                <a:spcPts val="515"/>
              </a:spcBef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10">
                <a:latin typeface="Times New Roman"/>
                <a:cs typeface="Times New Roman"/>
              </a:rPr>
              <a:t>bad </a:t>
            </a:r>
            <a:r>
              <a:rPr dirty="0" sz="2450" spc="5">
                <a:latin typeface="Times New Roman"/>
                <a:cs typeface="Times New Roman"/>
              </a:rPr>
              <a:t>skin, </a:t>
            </a:r>
            <a:r>
              <a:rPr dirty="0" sz="2450" spc="10">
                <a:latin typeface="Times New Roman"/>
                <a:cs typeface="Times New Roman"/>
              </a:rPr>
              <a:t>hair, </a:t>
            </a:r>
            <a:r>
              <a:rPr dirty="0" sz="2450" spc="5">
                <a:latin typeface="Times New Roman"/>
                <a:cs typeface="Times New Roman"/>
              </a:rPr>
              <a:t>teeth, </a:t>
            </a:r>
            <a:r>
              <a:rPr dirty="0" sz="2450" spc="10">
                <a:latin typeface="Times New Roman"/>
                <a:cs typeface="Times New Roman"/>
              </a:rPr>
              <a:t>and nails (especially when </a:t>
            </a:r>
            <a:r>
              <a:rPr dirty="0" sz="2450" spc="5">
                <a:latin typeface="Times New Roman"/>
                <a:cs typeface="Times New Roman"/>
              </a:rPr>
              <a:t>substance  abuse involves </a:t>
            </a:r>
            <a:r>
              <a:rPr dirty="0" sz="2450">
                <a:latin typeface="Times New Roman"/>
                <a:cs typeface="Times New Roman"/>
              </a:rPr>
              <a:t>illicit </a:t>
            </a:r>
            <a:r>
              <a:rPr dirty="0" sz="2450" spc="10">
                <a:latin typeface="Times New Roman"/>
                <a:cs typeface="Times New Roman"/>
              </a:rPr>
              <a:t>drugs </a:t>
            </a:r>
            <a:r>
              <a:rPr dirty="0" sz="2450" spc="5">
                <a:latin typeface="Times New Roman"/>
                <a:cs typeface="Times New Roman"/>
              </a:rPr>
              <a:t>like methamphetamines </a:t>
            </a:r>
            <a:r>
              <a:rPr dirty="0" sz="2450" spc="10">
                <a:latin typeface="Times New Roman"/>
                <a:cs typeface="Times New Roman"/>
              </a:rPr>
              <a:t>or  </a:t>
            </a:r>
            <a:r>
              <a:rPr dirty="0" sz="2450" spc="5">
                <a:latin typeface="Times New Roman"/>
                <a:cs typeface="Times New Roman"/>
              </a:rPr>
              <a:t>cocaine)</a:t>
            </a:r>
            <a:endParaRPr sz="2450">
              <a:latin typeface="Times New Roman"/>
              <a:cs typeface="Times New Roman"/>
            </a:endParaRPr>
          </a:p>
          <a:p>
            <a:pPr marL="307975" indent="-295910">
              <a:lnSpc>
                <a:spcPts val="2860"/>
              </a:lnSpc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5">
                <a:latin typeface="Times New Roman"/>
                <a:cs typeface="Times New Roman"/>
              </a:rPr>
              <a:t>increased tolerance to</a:t>
            </a:r>
            <a:r>
              <a:rPr dirty="0" sz="2450" spc="-15">
                <a:latin typeface="Times New Roman"/>
                <a:cs typeface="Times New Roman"/>
              </a:rPr>
              <a:t> </a:t>
            </a:r>
            <a:r>
              <a:rPr dirty="0" sz="2450" spc="10">
                <a:latin typeface="Times New Roman"/>
                <a:cs typeface="Times New Roman"/>
              </a:rPr>
              <a:t>drugs</a:t>
            </a:r>
            <a:endParaRPr sz="2450">
              <a:latin typeface="Times New Roman"/>
              <a:cs typeface="Times New Roman"/>
            </a:endParaRPr>
          </a:p>
          <a:p>
            <a:pPr marL="307975" marR="5080" indent="-295910">
              <a:lnSpc>
                <a:spcPts val="2380"/>
              </a:lnSpc>
              <a:spcBef>
                <a:spcPts val="509"/>
              </a:spcBef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10">
                <a:latin typeface="Times New Roman"/>
                <a:cs typeface="Times New Roman"/>
              </a:rPr>
              <a:t>physical </a:t>
            </a:r>
            <a:r>
              <a:rPr dirty="0" sz="2450" spc="5">
                <a:latin typeface="Times New Roman"/>
                <a:cs typeface="Times New Roman"/>
              </a:rPr>
              <a:t>withdrawal </a:t>
            </a:r>
            <a:r>
              <a:rPr dirty="0" sz="2450" spc="10">
                <a:latin typeface="Times New Roman"/>
                <a:cs typeface="Times New Roman"/>
              </a:rPr>
              <a:t>symptoms </a:t>
            </a:r>
            <a:r>
              <a:rPr dirty="0" sz="2450" spc="5">
                <a:latin typeface="Times New Roman"/>
                <a:cs typeface="Times New Roman"/>
              </a:rPr>
              <a:t>like sweating, trembling, </a:t>
            </a:r>
            <a:r>
              <a:rPr dirty="0" sz="2450" spc="10">
                <a:latin typeface="Times New Roman"/>
                <a:cs typeface="Times New Roman"/>
              </a:rPr>
              <a:t>or  vomiting</a:t>
            </a:r>
            <a:endParaRPr sz="2450">
              <a:latin typeface="Times New Roman"/>
              <a:cs typeface="Times New Roman"/>
            </a:endParaRPr>
          </a:p>
          <a:p>
            <a:pPr marL="307975" indent="-295910">
              <a:lnSpc>
                <a:spcPts val="2860"/>
              </a:lnSpc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10">
                <a:latin typeface="Times New Roman"/>
                <a:cs typeface="Times New Roman"/>
              </a:rPr>
              <a:t>memory </a:t>
            </a:r>
            <a:r>
              <a:rPr dirty="0" sz="2450" spc="5">
                <a:latin typeface="Times New Roman"/>
                <a:cs typeface="Times New Roman"/>
              </a:rPr>
              <a:t>loss </a:t>
            </a:r>
            <a:r>
              <a:rPr dirty="0" sz="2450" spc="10">
                <a:latin typeface="Times New Roman"/>
                <a:cs typeface="Times New Roman"/>
              </a:rPr>
              <a:t>or problems </a:t>
            </a:r>
            <a:r>
              <a:rPr dirty="0" sz="2450" spc="5">
                <a:latin typeface="Times New Roman"/>
                <a:cs typeface="Times New Roman"/>
              </a:rPr>
              <a:t>with</a:t>
            </a:r>
            <a:r>
              <a:rPr dirty="0" sz="2450" spc="-25">
                <a:latin typeface="Times New Roman"/>
                <a:cs typeface="Times New Roman"/>
              </a:rPr>
              <a:t> </a:t>
            </a:r>
            <a:r>
              <a:rPr dirty="0" sz="2450" spc="10">
                <a:latin typeface="Times New Roman"/>
                <a:cs typeface="Times New Roman"/>
              </a:rPr>
              <a:t>recall</a:t>
            </a:r>
            <a:endParaRPr sz="2450">
              <a:latin typeface="Times New Roman"/>
              <a:cs typeface="Times New Roman"/>
            </a:endParaRPr>
          </a:p>
          <a:p>
            <a:pPr marL="307975" indent="-295910">
              <a:lnSpc>
                <a:spcPts val="2910"/>
              </a:lnSpc>
              <a:buFont typeface="Arial"/>
              <a:buChar char="•"/>
              <a:tabLst>
                <a:tab pos="307975" algn="l"/>
                <a:tab pos="308610" algn="l"/>
              </a:tabLst>
            </a:pPr>
            <a:r>
              <a:rPr dirty="0" sz="2450" spc="10">
                <a:latin typeface="Times New Roman"/>
                <a:cs typeface="Times New Roman"/>
              </a:rPr>
              <a:t>change </a:t>
            </a:r>
            <a:r>
              <a:rPr dirty="0" sz="2450" spc="5">
                <a:latin typeface="Times New Roman"/>
                <a:cs typeface="Times New Roman"/>
              </a:rPr>
              <a:t>in speech like slurred </a:t>
            </a:r>
            <a:r>
              <a:rPr dirty="0" sz="2450" spc="10">
                <a:latin typeface="Times New Roman"/>
                <a:cs typeface="Times New Roman"/>
              </a:rPr>
              <a:t>words or rapid</a:t>
            </a:r>
            <a:r>
              <a:rPr dirty="0" sz="2450" spc="-20">
                <a:latin typeface="Times New Roman"/>
                <a:cs typeface="Times New Roman"/>
              </a:rPr>
              <a:t> </a:t>
            </a:r>
            <a:r>
              <a:rPr dirty="0" sz="2450" spc="10">
                <a:latin typeface="Times New Roman"/>
                <a:cs typeface="Times New Roman"/>
              </a:rPr>
              <a:t>rambling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6059" rIns="0" bIns="0" rtlCol="0" vert="horz">
            <a:spAutoFit/>
          </a:bodyPr>
          <a:lstStyle/>
          <a:p>
            <a:pPr marL="1606550" marR="5080" indent="-1609725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The </a:t>
            </a:r>
            <a:r>
              <a:rPr dirty="0"/>
              <a:t>following </a:t>
            </a:r>
            <a:r>
              <a:rPr dirty="0" spc="-5"/>
              <a:t>mental and emotional changes could</a:t>
            </a:r>
            <a:r>
              <a:rPr dirty="0" spc="-75"/>
              <a:t> </a:t>
            </a:r>
            <a:r>
              <a:rPr dirty="0" spc="-5"/>
              <a:t>also  </a:t>
            </a:r>
            <a:r>
              <a:rPr dirty="0"/>
              <a:t>be </a:t>
            </a:r>
            <a:r>
              <a:rPr dirty="0" spc="-5"/>
              <a:t>signs </a:t>
            </a:r>
            <a:r>
              <a:rPr dirty="0"/>
              <a:t>of </a:t>
            </a:r>
            <a:r>
              <a:rPr dirty="0" spc="-5"/>
              <a:t>an addiction</a:t>
            </a:r>
            <a:r>
              <a:rPr dirty="0" spc="-25"/>
              <a:t> </a:t>
            </a:r>
            <a:r>
              <a:rPr dirty="0"/>
              <a:t>problem: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179" y="1528063"/>
            <a:ext cx="4305935" cy="343916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sudden </a:t>
            </a:r>
            <a:r>
              <a:rPr dirty="0" sz="3200" spc="-10">
                <a:latin typeface="Times New Roman"/>
                <a:cs typeface="Times New Roman"/>
              </a:rPr>
              <a:t>changes </a:t>
            </a:r>
            <a:r>
              <a:rPr dirty="0" sz="3200" spc="-5">
                <a:latin typeface="Times New Roman"/>
                <a:cs typeface="Times New Roman"/>
              </a:rPr>
              <a:t>in</a:t>
            </a:r>
            <a:r>
              <a:rPr dirty="0" sz="3200" spc="-9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mood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aggressive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behavior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irritability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>
                <a:latin typeface="Times New Roman"/>
                <a:cs typeface="Times New Roman"/>
              </a:rPr>
              <a:t>depression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apathy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suicidal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thoughts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598" y="304799"/>
            <a:ext cx="7619984" cy="6172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6000" y="475804"/>
            <a:ext cx="442341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8360" algn="l"/>
              </a:tabLst>
            </a:pPr>
            <a:r>
              <a:rPr dirty="0" sz="4400" spc="-10"/>
              <a:t>Type</a:t>
            </a:r>
            <a:r>
              <a:rPr dirty="0" sz="4400"/>
              <a:t>s</a:t>
            </a:r>
            <a:r>
              <a:rPr dirty="0" sz="4400" spc="-10"/>
              <a:t> </a:t>
            </a:r>
            <a:r>
              <a:rPr dirty="0" sz="4400"/>
              <a:t>of	</a:t>
            </a:r>
            <a:r>
              <a:rPr dirty="0" sz="4400" spc="-5"/>
              <a:t>addictions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0223" y="1609340"/>
            <a:ext cx="7934325" cy="408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745490" indent="-3429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rlito"/>
                <a:cs typeface="Carlito"/>
              </a:rPr>
              <a:t>Today, </a:t>
            </a:r>
            <a:r>
              <a:rPr dirty="0" sz="3200" spc="-10">
                <a:latin typeface="Carlito"/>
                <a:cs typeface="Carlito"/>
              </a:rPr>
              <a:t>most </a:t>
            </a:r>
            <a:r>
              <a:rPr dirty="0" sz="3200" spc="-5">
                <a:latin typeface="Carlito"/>
                <a:cs typeface="Carlito"/>
              </a:rPr>
              <a:t>experts recognize </a:t>
            </a:r>
            <a:r>
              <a:rPr dirty="0" sz="3200" spc="-10">
                <a:latin typeface="Carlito"/>
                <a:cs typeface="Carlito"/>
              </a:rPr>
              <a:t>two types </a:t>
            </a:r>
            <a:r>
              <a:rPr dirty="0" sz="3200" spc="-5">
                <a:latin typeface="Carlito"/>
                <a:cs typeface="Carlito"/>
              </a:rPr>
              <a:t>of  </a:t>
            </a:r>
            <a:r>
              <a:rPr dirty="0" sz="3200">
                <a:latin typeface="Carlito"/>
                <a:cs typeface="Carlito"/>
              </a:rPr>
              <a:t>addiction:</a:t>
            </a:r>
            <a:endParaRPr sz="3200">
              <a:latin typeface="Carlito"/>
              <a:cs typeface="Carlito"/>
            </a:endParaRPr>
          </a:p>
          <a:p>
            <a:pPr marL="354965" marR="357505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5" b="1">
                <a:latin typeface="Carlito"/>
                <a:cs typeface="Carlito"/>
              </a:rPr>
              <a:t>Chemical addiction. </a:t>
            </a:r>
            <a:r>
              <a:rPr dirty="0" sz="3200" spc="-5">
                <a:latin typeface="Carlito"/>
                <a:cs typeface="Carlito"/>
              </a:rPr>
              <a:t>This refers to </a:t>
            </a:r>
            <a:r>
              <a:rPr dirty="0" sz="3200">
                <a:latin typeface="Carlito"/>
                <a:cs typeface="Carlito"/>
              </a:rPr>
              <a:t>addiction  </a:t>
            </a:r>
            <a:r>
              <a:rPr dirty="0" sz="3200" spc="-10">
                <a:latin typeface="Carlito"/>
                <a:cs typeface="Carlito"/>
              </a:rPr>
              <a:t>that </a:t>
            </a:r>
            <a:r>
              <a:rPr dirty="0" sz="3200" spc="-5">
                <a:latin typeface="Carlito"/>
                <a:cs typeface="Carlito"/>
              </a:rPr>
              <a:t>involves </a:t>
            </a:r>
            <a:r>
              <a:rPr dirty="0" sz="3200" spc="-10">
                <a:latin typeface="Carlito"/>
                <a:cs typeface="Carlito"/>
              </a:rPr>
              <a:t>the </a:t>
            </a:r>
            <a:r>
              <a:rPr dirty="0" sz="3200" spc="-5">
                <a:latin typeface="Carlito"/>
                <a:cs typeface="Carlito"/>
              </a:rPr>
              <a:t>use of</a:t>
            </a:r>
            <a:r>
              <a:rPr dirty="0" sz="3200" spc="-25">
                <a:latin typeface="Carlito"/>
                <a:cs typeface="Carlito"/>
              </a:rPr>
              <a:t> </a:t>
            </a:r>
            <a:r>
              <a:rPr dirty="0" sz="3200" spc="-5">
                <a:latin typeface="Carlito"/>
                <a:cs typeface="Carlito"/>
              </a:rPr>
              <a:t>substances.</a:t>
            </a:r>
            <a:endParaRPr sz="3200">
              <a:latin typeface="Carlito"/>
              <a:cs typeface="Carlito"/>
            </a:endParaRPr>
          </a:p>
          <a:p>
            <a:pPr algn="just" marL="354965" marR="5080" indent="-28194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5" b="1">
                <a:latin typeface="Carlito"/>
                <a:cs typeface="Carlito"/>
              </a:rPr>
              <a:t>Behavioral addiction. </a:t>
            </a:r>
            <a:r>
              <a:rPr dirty="0" sz="3200" spc="-5">
                <a:latin typeface="Carlito"/>
                <a:cs typeface="Carlito"/>
              </a:rPr>
              <a:t>This refers to </a:t>
            </a:r>
            <a:r>
              <a:rPr dirty="0" sz="3200">
                <a:latin typeface="Carlito"/>
                <a:cs typeface="Carlito"/>
              </a:rPr>
              <a:t>addiction  </a:t>
            </a:r>
            <a:r>
              <a:rPr dirty="0" sz="3200" spc="-10">
                <a:latin typeface="Carlito"/>
                <a:cs typeface="Carlito"/>
              </a:rPr>
              <a:t>that </a:t>
            </a:r>
            <a:r>
              <a:rPr dirty="0" sz="3200" spc="-5">
                <a:latin typeface="Carlito"/>
                <a:cs typeface="Carlito"/>
              </a:rPr>
              <a:t>involves </a:t>
            </a:r>
            <a:r>
              <a:rPr dirty="0" sz="3200" spc="-10">
                <a:latin typeface="Carlito"/>
                <a:cs typeface="Carlito"/>
              </a:rPr>
              <a:t>compulsive </a:t>
            </a:r>
            <a:r>
              <a:rPr dirty="0" sz="3200" spc="-5">
                <a:latin typeface="Carlito"/>
                <a:cs typeface="Carlito"/>
              </a:rPr>
              <a:t>behaviors. These </a:t>
            </a:r>
            <a:r>
              <a:rPr dirty="0" sz="3200">
                <a:latin typeface="Carlito"/>
                <a:cs typeface="Carlito"/>
              </a:rPr>
              <a:t>are  </a:t>
            </a:r>
            <a:r>
              <a:rPr dirty="0" sz="3200" spc="-5">
                <a:latin typeface="Carlito"/>
                <a:cs typeface="Carlito"/>
              </a:rPr>
              <a:t>persistent, repeated behaviors </a:t>
            </a:r>
            <a:r>
              <a:rPr dirty="0" sz="3200" spc="-10">
                <a:latin typeface="Carlito"/>
                <a:cs typeface="Carlito"/>
              </a:rPr>
              <a:t>that </a:t>
            </a:r>
            <a:r>
              <a:rPr dirty="0" sz="3200" spc="-5">
                <a:latin typeface="Carlito"/>
                <a:cs typeface="Carlito"/>
              </a:rPr>
              <a:t>you </a:t>
            </a:r>
            <a:r>
              <a:rPr dirty="0" sz="3200" spc="-10">
                <a:latin typeface="Carlito"/>
                <a:cs typeface="Carlito"/>
              </a:rPr>
              <a:t>carry  </a:t>
            </a:r>
            <a:r>
              <a:rPr dirty="0" sz="3200" spc="-5">
                <a:latin typeface="Carlito"/>
                <a:cs typeface="Carlito"/>
              </a:rPr>
              <a:t>out even if </a:t>
            </a:r>
            <a:r>
              <a:rPr dirty="0" sz="3200" spc="-10">
                <a:latin typeface="Carlito"/>
                <a:cs typeface="Carlito"/>
              </a:rPr>
              <a:t>they </a:t>
            </a:r>
            <a:r>
              <a:rPr dirty="0" sz="3200" spc="-5">
                <a:latin typeface="Carlito"/>
                <a:cs typeface="Carlito"/>
              </a:rPr>
              <a:t>don’t offer </a:t>
            </a:r>
            <a:r>
              <a:rPr dirty="0" sz="3200">
                <a:latin typeface="Carlito"/>
                <a:cs typeface="Carlito"/>
              </a:rPr>
              <a:t>any </a:t>
            </a:r>
            <a:r>
              <a:rPr dirty="0" sz="3200" spc="-5">
                <a:latin typeface="Carlito"/>
                <a:cs typeface="Carlito"/>
              </a:rPr>
              <a:t>real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5">
                <a:latin typeface="Carlito"/>
                <a:cs typeface="Carlito"/>
              </a:rPr>
              <a:t>benefit.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8" y="457199"/>
            <a:ext cx="8153383" cy="6400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86360" marR="508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we’ll explore some </a:t>
            </a:r>
            <a:r>
              <a:rPr dirty="0"/>
              <a:t>of </a:t>
            </a:r>
            <a:r>
              <a:rPr dirty="0" spc="-5"/>
              <a:t>the serious </a:t>
            </a:r>
            <a:r>
              <a:rPr dirty="0"/>
              <a:t>health </a:t>
            </a:r>
            <a:r>
              <a:rPr dirty="0" spc="-5"/>
              <a:t>conditions</a:t>
            </a:r>
            <a:r>
              <a:rPr dirty="0" spc="-75"/>
              <a:t> </a:t>
            </a:r>
            <a:r>
              <a:rPr dirty="0" spc="-5"/>
              <a:t>that  may </a:t>
            </a:r>
            <a:r>
              <a:rPr dirty="0"/>
              <a:t>be </a:t>
            </a:r>
            <a:r>
              <a:rPr dirty="0" spc="-5"/>
              <a:t>caused </a:t>
            </a:r>
            <a:r>
              <a:rPr dirty="0"/>
              <a:t>or </a:t>
            </a:r>
            <a:r>
              <a:rPr dirty="0" spc="-5"/>
              <a:t>worsened </a:t>
            </a:r>
            <a:r>
              <a:rPr dirty="0"/>
              <a:t>by </a:t>
            </a:r>
            <a:r>
              <a:rPr dirty="0" spc="-5"/>
              <a:t>substance abuse,  including: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179" y="1570325"/>
            <a:ext cx="7004050" cy="407352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94640" marR="5080" indent="-281940">
              <a:lnSpc>
                <a:spcPts val="3460"/>
              </a:lnSpc>
              <a:spcBef>
                <a:spcPts val="53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Diminished </a:t>
            </a:r>
            <a:r>
              <a:rPr dirty="0" sz="3200" spc="-10">
                <a:latin typeface="Times New Roman"/>
                <a:cs typeface="Times New Roman"/>
              </a:rPr>
              <a:t>immune </a:t>
            </a:r>
            <a:r>
              <a:rPr dirty="0" sz="3200" spc="-5">
                <a:latin typeface="Times New Roman"/>
                <a:cs typeface="Times New Roman"/>
              </a:rPr>
              <a:t>system </a:t>
            </a:r>
            <a:r>
              <a:rPr dirty="0" sz="3200">
                <a:latin typeface="Times New Roman"/>
                <a:cs typeface="Times New Roman"/>
              </a:rPr>
              <a:t>function </a:t>
            </a:r>
            <a:r>
              <a:rPr dirty="0" sz="3200" spc="-10">
                <a:latin typeface="Times New Roman"/>
                <a:cs typeface="Times New Roman"/>
              </a:rPr>
              <a:t>and  </a:t>
            </a:r>
            <a:r>
              <a:rPr dirty="0" sz="3200" spc="-5">
                <a:latin typeface="Times New Roman"/>
                <a:cs typeface="Times New Roman"/>
              </a:rPr>
              <a:t>infection.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Cardiovascular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problems.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Gastrointestinal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issues.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Respiratory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problems.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259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10">
                <a:latin typeface="Times New Roman"/>
                <a:cs typeface="Times New Roman"/>
              </a:rPr>
              <a:t>Liver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damage.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Kidney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damage.</a:t>
            </a:r>
            <a:endParaRPr sz="3200">
              <a:latin typeface="Times New Roman"/>
              <a:cs typeface="Times New Roman"/>
            </a:endParaRPr>
          </a:p>
          <a:p>
            <a:pPr marL="294640" indent="-28194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294640" algn="l"/>
              </a:tabLst>
            </a:pPr>
            <a:r>
              <a:rPr dirty="0" sz="3200" spc="-5">
                <a:latin typeface="Times New Roman"/>
                <a:cs typeface="Times New Roman"/>
              </a:rPr>
              <a:t>Neurological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issues.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2023-12-15T17:25:11Z</dcterms:created>
  <dcterms:modified xsi:type="dcterms:W3CDTF">2023-12-15T17:25:11Z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2023-12-15T00:00:00Z</vt:filetime>
  </property>
</Properties>
</file>