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9" r:id="rId4"/>
    <p:sldId id="262" r:id="rId5"/>
    <p:sldId id="277" r:id="rId6"/>
    <p:sldId id="278" r:id="rId7"/>
    <p:sldId id="264" r:id="rId8"/>
    <p:sldId id="267" r:id="rId9"/>
    <p:sldId id="283" r:id="rId10"/>
    <p:sldId id="284" r:id="rId11"/>
    <p:sldId id="286" r:id="rId12"/>
    <p:sldId id="288" r:id="rId13"/>
    <p:sldId id="275" r:id="rId14"/>
    <p:sldId id="293" r:id="rId15"/>
    <p:sldId id="291" r:id="rId16"/>
    <p:sldId id="290" r:id="rId17"/>
    <p:sldId id="296" r:id="rId18"/>
    <p:sldId id="273" r:id="rId19"/>
    <p:sldId id="271" r:id="rId20"/>
    <p:sldId id="272" r:id="rId21"/>
    <p:sldId id="292" r:id="rId22"/>
    <p:sldId id="297" r:id="rId23"/>
    <p:sldId id="298" r:id="rId24"/>
    <p:sldId id="266" r:id="rId25"/>
    <p:sldId id="289" r:id="rId26"/>
    <p:sldId id="28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6600"/>
    <a:srgbClr val="FFFF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788" autoAdjust="0"/>
  </p:normalViewPr>
  <p:slideViewPr>
    <p:cSldViewPr>
      <p:cViewPr varScale="1">
        <p:scale>
          <a:sx n="74" d="100"/>
          <a:sy n="74" d="100"/>
        </p:scale>
        <p:origin x="171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C0E5A3-34DA-4413-9CD5-D22BB8A3A17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73078A59-3FDA-4024-9CE3-0B838E29C1F5}">
      <dgm:prSet phldrT="[Text]" custT="1"/>
      <dgm:spPr>
        <a:solidFill>
          <a:srgbClr val="FFFF00"/>
        </a:solidFill>
      </dgm:spPr>
      <dgm:t>
        <a:bodyPr/>
        <a:lstStyle/>
        <a:p>
          <a:r>
            <a:rPr lang="en-GB" sz="3000" b="1" dirty="0">
              <a:solidFill>
                <a:schemeClr val="tx1"/>
              </a:solidFill>
            </a:rPr>
            <a:t>33% Starchy carbohydrates</a:t>
          </a:r>
        </a:p>
        <a:p>
          <a:r>
            <a:rPr lang="en-GB" sz="2400" b="1" dirty="0">
              <a:solidFill>
                <a:schemeClr val="tx1"/>
              </a:solidFill>
            </a:rPr>
            <a:t>Bulk of meals</a:t>
          </a:r>
        </a:p>
      </dgm:t>
    </dgm:pt>
    <dgm:pt modelId="{B23C9D5F-0CEE-4655-A53B-1484412F6D5D}" type="parTrans" cxnId="{89839826-1623-4825-9F70-0BE01E57BBE3}">
      <dgm:prSet/>
      <dgm:spPr/>
      <dgm:t>
        <a:bodyPr/>
        <a:lstStyle/>
        <a:p>
          <a:endParaRPr lang="en-GB"/>
        </a:p>
      </dgm:t>
    </dgm:pt>
    <dgm:pt modelId="{C75B55FB-318E-4F3F-8C8B-459D3FDD27A3}" type="sibTrans" cxnId="{89839826-1623-4825-9F70-0BE01E57BBE3}">
      <dgm:prSet/>
      <dgm:spPr/>
      <dgm:t>
        <a:bodyPr/>
        <a:lstStyle/>
        <a:p>
          <a:endParaRPr lang="en-GB"/>
        </a:p>
      </dgm:t>
    </dgm:pt>
    <dgm:pt modelId="{968DF6B0-4431-4DEA-975D-8742DF1B1FB1}">
      <dgm:prSet phldrT="[Text]" custT="1"/>
      <dgm:spPr>
        <a:solidFill>
          <a:srgbClr val="008000"/>
        </a:solidFill>
      </dgm:spPr>
      <dgm:t>
        <a:bodyPr/>
        <a:lstStyle/>
        <a:p>
          <a:r>
            <a:rPr lang="en-GB" sz="3000" b="1" dirty="0"/>
            <a:t>33% Fruit &amp; Vegetables</a:t>
          </a:r>
        </a:p>
        <a:p>
          <a:r>
            <a:rPr lang="en-GB" sz="2800" b="1" dirty="0"/>
            <a:t>5+ a Day</a:t>
          </a:r>
        </a:p>
      </dgm:t>
    </dgm:pt>
    <dgm:pt modelId="{42821901-833A-4867-BF2F-91629FCC3BA7}" type="parTrans" cxnId="{A5DD0728-3402-4877-8766-10F46E101216}">
      <dgm:prSet/>
      <dgm:spPr/>
      <dgm:t>
        <a:bodyPr/>
        <a:lstStyle/>
        <a:p>
          <a:endParaRPr lang="en-GB"/>
        </a:p>
      </dgm:t>
    </dgm:pt>
    <dgm:pt modelId="{0B7E8938-3918-42CC-933C-A3B41F4466FC}" type="sibTrans" cxnId="{A5DD0728-3402-4877-8766-10F46E101216}">
      <dgm:prSet/>
      <dgm:spPr/>
      <dgm:t>
        <a:bodyPr/>
        <a:lstStyle/>
        <a:p>
          <a:endParaRPr lang="en-GB"/>
        </a:p>
      </dgm:t>
    </dgm:pt>
    <dgm:pt modelId="{A1C0FF38-2147-4FA3-90C9-876D2469F993}">
      <dgm:prSet phldrT="[Text]" custT="1"/>
      <dgm:spPr>
        <a:solidFill>
          <a:schemeClr val="accent5">
            <a:lumMod val="60000"/>
            <a:lumOff val="40000"/>
          </a:schemeClr>
        </a:solidFill>
      </dgm:spPr>
      <dgm:t>
        <a:bodyPr/>
        <a:lstStyle/>
        <a:p>
          <a:r>
            <a:rPr lang="en-GB" sz="3000" b="1" dirty="0">
              <a:solidFill>
                <a:schemeClr val="tx1"/>
              </a:solidFill>
            </a:rPr>
            <a:t>15% Milk &amp; Dairy</a:t>
          </a:r>
        </a:p>
        <a:p>
          <a:r>
            <a:rPr lang="en-GB" sz="2400" b="1" dirty="0">
              <a:solidFill>
                <a:schemeClr val="tx1"/>
              </a:solidFill>
            </a:rPr>
            <a:t>3 portions daily</a:t>
          </a:r>
        </a:p>
      </dgm:t>
    </dgm:pt>
    <dgm:pt modelId="{B8C1A9CD-C695-4106-9E02-D28DBEA6F769}" type="parTrans" cxnId="{F17BF61C-B2B9-4FF0-BDBE-6812A6140489}">
      <dgm:prSet/>
      <dgm:spPr/>
      <dgm:t>
        <a:bodyPr/>
        <a:lstStyle/>
        <a:p>
          <a:endParaRPr lang="en-GB"/>
        </a:p>
      </dgm:t>
    </dgm:pt>
    <dgm:pt modelId="{F3A7F1F1-3867-401B-AC9D-A8F5D4383DD2}" type="sibTrans" cxnId="{F17BF61C-B2B9-4FF0-BDBE-6812A6140489}">
      <dgm:prSet/>
      <dgm:spPr/>
      <dgm:t>
        <a:bodyPr/>
        <a:lstStyle/>
        <a:p>
          <a:endParaRPr lang="en-GB"/>
        </a:p>
      </dgm:t>
    </dgm:pt>
    <dgm:pt modelId="{C57039CE-D967-4E60-AF09-E8738DB845A9}">
      <dgm:prSet phldrT="[Text]" custT="1"/>
      <dgm:spPr>
        <a:solidFill>
          <a:schemeClr val="accent2">
            <a:lumMod val="60000"/>
            <a:lumOff val="40000"/>
          </a:schemeClr>
        </a:solidFill>
      </dgm:spPr>
      <dgm:t>
        <a:bodyPr/>
        <a:lstStyle/>
        <a:p>
          <a:r>
            <a:rPr lang="en-GB" sz="3000" b="1" dirty="0">
              <a:solidFill>
                <a:schemeClr val="tx1"/>
              </a:solidFill>
            </a:rPr>
            <a:t>12% Meat, Fish, Eggs, Beans</a:t>
          </a:r>
        </a:p>
        <a:p>
          <a:r>
            <a:rPr lang="en-GB" sz="2200" b="1" dirty="0">
              <a:solidFill>
                <a:schemeClr val="tx1"/>
              </a:solidFill>
            </a:rPr>
            <a:t>Oily fish once a week</a:t>
          </a:r>
        </a:p>
      </dgm:t>
    </dgm:pt>
    <dgm:pt modelId="{B51A52E0-5FBC-4A68-8F72-C45F0B94A842}" type="parTrans" cxnId="{4A1ADCDA-B58C-49A8-97C1-4DD631994406}">
      <dgm:prSet/>
      <dgm:spPr/>
      <dgm:t>
        <a:bodyPr/>
        <a:lstStyle/>
        <a:p>
          <a:endParaRPr lang="en-GB"/>
        </a:p>
      </dgm:t>
    </dgm:pt>
    <dgm:pt modelId="{028CDFC4-47B6-4D80-BD6F-458C5466D16C}" type="sibTrans" cxnId="{4A1ADCDA-B58C-49A8-97C1-4DD631994406}">
      <dgm:prSet/>
      <dgm:spPr/>
      <dgm:t>
        <a:bodyPr/>
        <a:lstStyle/>
        <a:p>
          <a:endParaRPr lang="en-GB"/>
        </a:p>
      </dgm:t>
    </dgm:pt>
    <dgm:pt modelId="{6AFDDEAE-F1E9-4331-A57F-78D539850BE0}">
      <dgm:prSet phldrT="[Text]" custT="1"/>
      <dgm:spPr>
        <a:solidFill>
          <a:srgbClr val="7030A0"/>
        </a:solidFill>
      </dgm:spPr>
      <dgm:t>
        <a:bodyPr/>
        <a:lstStyle/>
        <a:p>
          <a:r>
            <a:rPr lang="en-GB" sz="3000" b="1" dirty="0"/>
            <a:t>&lt;8% High fat/sugary foods</a:t>
          </a:r>
        </a:p>
        <a:p>
          <a:r>
            <a:rPr lang="en-GB" sz="2400" b="1" dirty="0"/>
            <a:t>Avoid saturated fats </a:t>
          </a:r>
        </a:p>
      </dgm:t>
    </dgm:pt>
    <dgm:pt modelId="{EF866D26-0A6D-4D05-B2DA-5CC57EB4AF84}" type="parTrans" cxnId="{7F1E8DAB-F604-478C-B9DB-DA0B7D0B8C23}">
      <dgm:prSet/>
      <dgm:spPr/>
      <dgm:t>
        <a:bodyPr/>
        <a:lstStyle/>
        <a:p>
          <a:endParaRPr lang="en-GB"/>
        </a:p>
      </dgm:t>
    </dgm:pt>
    <dgm:pt modelId="{D1B058B2-0323-41AD-B97E-F32A09912482}" type="sibTrans" cxnId="{7F1E8DAB-F604-478C-B9DB-DA0B7D0B8C23}">
      <dgm:prSet/>
      <dgm:spPr/>
      <dgm:t>
        <a:bodyPr/>
        <a:lstStyle/>
        <a:p>
          <a:endParaRPr lang="en-GB"/>
        </a:p>
      </dgm:t>
    </dgm:pt>
    <dgm:pt modelId="{4448FE4A-0CAE-43ED-8D8A-7668EC455F45}" type="pres">
      <dgm:prSet presAssocID="{BEC0E5A3-34DA-4413-9CD5-D22BB8A3A173}" presName="diagram" presStyleCnt="0">
        <dgm:presLayoutVars>
          <dgm:dir/>
          <dgm:resizeHandles val="exact"/>
        </dgm:presLayoutVars>
      </dgm:prSet>
      <dgm:spPr/>
    </dgm:pt>
    <dgm:pt modelId="{4EA05862-73CF-420A-B943-1E3931D6C632}" type="pres">
      <dgm:prSet presAssocID="{73078A59-3FDA-4024-9CE3-0B838E29C1F5}" presName="node" presStyleLbl="node1" presStyleIdx="0" presStyleCnt="5" custLinFactX="10041" custLinFactNeighborX="100000" custLinFactNeighborY="-216">
        <dgm:presLayoutVars>
          <dgm:bulletEnabled val="1"/>
        </dgm:presLayoutVars>
      </dgm:prSet>
      <dgm:spPr/>
    </dgm:pt>
    <dgm:pt modelId="{64100F21-13E5-4347-B73E-7CB5D9ADC0AC}" type="pres">
      <dgm:prSet presAssocID="{C75B55FB-318E-4F3F-8C8B-459D3FDD27A3}" presName="sibTrans" presStyleCnt="0"/>
      <dgm:spPr/>
    </dgm:pt>
    <dgm:pt modelId="{3E8A5491-26D0-4A4F-AE06-CFBCBE97C04A}" type="pres">
      <dgm:prSet presAssocID="{968DF6B0-4431-4DEA-975D-8742DF1B1FB1}" presName="node" presStyleLbl="node1" presStyleIdx="1" presStyleCnt="5" custLinFactX="-10855" custLinFactNeighborX="-100000" custLinFactNeighborY="-216">
        <dgm:presLayoutVars>
          <dgm:bulletEnabled val="1"/>
        </dgm:presLayoutVars>
      </dgm:prSet>
      <dgm:spPr/>
    </dgm:pt>
    <dgm:pt modelId="{E2E1D95E-C07A-41F6-AC7B-AEDED17E089A}" type="pres">
      <dgm:prSet presAssocID="{0B7E8938-3918-42CC-933C-A3B41F4466FC}" presName="sibTrans" presStyleCnt="0"/>
      <dgm:spPr/>
    </dgm:pt>
    <dgm:pt modelId="{C2C1812D-ED69-437D-8856-7344D851EF6C}" type="pres">
      <dgm:prSet presAssocID="{A1C0FF38-2147-4FA3-90C9-876D2469F993}" presName="node" presStyleLbl="node1" presStyleIdx="2" presStyleCnt="5" custLinFactX="10041" custLinFactNeighborX="100000" custLinFactNeighborY="734">
        <dgm:presLayoutVars>
          <dgm:bulletEnabled val="1"/>
        </dgm:presLayoutVars>
      </dgm:prSet>
      <dgm:spPr/>
    </dgm:pt>
    <dgm:pt modelId="{B9C47FBD-0301-4817-8FBA-BBC1558A44EA}" type="pres">
      <dgm:prSet presAssocID="{F3A7F1F1-3867-401B-AC9D-A8F5D4383DD2}" presName="sibTrans" presStyleCnt="0"/>
      <dgm:spPr/>
    </dgm:pt>
    <dgm:pt modelId="{7922149E-DEE1-4B7A-B289-BBCC77FDE6F4}" type="pres">
      <dgm:prSet presAssocID="{C57039CE-D967-4E60-AF09-E8738DB845A9}" presName="node" presStyleLbl="node1" presStyleIdx="3" presStyleCnt="5" custLinFactX="-10855" custLinFactNeighborX="-100000" custLinFactNeighborY="735">
        <dgm:presLayoutVars>
          <dgm:bulletEnabled val="1"/>
        </dgm:presLayoutVars>
      </dgm:prSet>
      <dgm:spPr/>
    </dgm:pt>
    <dgm:pt modelId="{DE53AC2C-B55A-4066-A747-CAA656326329}" type="pres">
      <dgm:prSet presAssocID="{028CDFC4-47B6-4D80-BD6F-458C5466D16C}" presName="sibTrans" presStyleCnt="0"/>
      <dgm:spPr/>
    </dgm:pt>
    <dgm:pt modelId="{614795C3-DD9E-4676-9F03-EAFD0466A9CE}" type="pres">
      <dgm:prSet presAssocID="{6AFDDEAE-F1E9-4331-A57F-78D539850BE0}" presName="node" presStyleLbl="node1" presStyleIdx="4" presStyleCnt="5">
        <dgm:presLayoutVars>
          <dgm:bulletEnabled val="1"/>
        </dgm:presLayoutVars>
      </dgm:prSet>
      <dgm:spPr/>
    </dgm:pt>
  </dgm:ptLst>
  <dgm:cxnLst>
    <dgm:cxn modelId="{AF837F17-43A1-422B-ABBA-1E1DF78DD088}" type="presOf" srcId="{A1C0FF38-2147-4FA3-90C9-876D2469F993}" destId="{C2C1812D-ED69-437D-8856-7344D851EF6C}" srcOrd="0" destOrd="0" presId="urn:microsoft.com/office/officeart/2005/8/layout/default"/>
    <dgm:cxn modelId="{F17BF61C-B2B9-4FF0-BDBE-6812A6140489}" srcId="{BEC0E5A3-34DA-4413-9CD5-D22BB8A3A173}" destId="{A1C0FF38-2147-4FA3-90C9-876D2469F993}" srcOrd="2" destOrd="0" parTransId="{B8C1A9CD-C695-4106-9E02-D28DBEA6F769}" sibTransId="{F3A7F1F1-3867-401B-AC9D-A8F5D4383DD2}"/>
    <dgm:cxn modelId="{89839826-1623-4825-9F70-0BE01E57BBE3}" srcId="{BEC0E5A3-34DA-4413-9CD5-D22BB8A3A173}" destId="{73078A59-3FDA-4024-9CE3-0B838E29C1F5}" srcOrd="0" destOrd="0" parTransId="{B23C9D5F-0CEE-4655-A53B-1484412F6D5D}" sibTransId="{C75B55FB-318E-4F3F-8C8B-459D3FDD27A3}"/>
    <dgm:cxn modelId="{A5DD0728-3402-4877-8766-10F46E101216}" srcId="{BEC0E5A3-34DA-4413-9CD5-D22BB8A3A173}" destId="{968DF6B0-4431-4DEA-975D-8742DF1B1FB1}" srcOrd="1" destOrd="0" parTransId="{42821901-833A-4867-BF2F-91629FCC3BA7}" sibTransId="{0B7E8938-3918-42CC-933C-A3B41F4466FC}"/>
    <dgm:cxn modelId="{838B378C-FF11-4A7D-8613-58BEA66E8EC5}" type="presOf" srcId="{6AFDDEAE-F1E9-4331-A57F-78D539850BE0}" destId="{614795C3-DD9E-4676-9F03-EAFD0466A9CE}" srcOrd="0" destOrd="0" presId="urn:microsoft.com/office/officeart/2005/8/layout/default"/>
    <dgm:cxn modelId="{7F1E8DAB-F604-478C-B9DB-DA0B7D0B8C23}" srcId="{BEC0E5A3-34DA-4413-9CD5-D22BB8A3A173}" destId="{6AFDDEAE-F1E9-4331-A57F-78D539850BE0}" srcOrd="4" destOrd="0" parTransId="{EF866D26-0A6D-4D05-B2DA-5CC57EB4AF84}" sibTransId="{D1B058B2-0323-41AD-B97E-F32A09912482}"/>
    <dgm:cxn modelId="{602264D6-3068-4500-B681-9EA91DFBEA4E}" type="presOf" srcId="{968DF6B0-4431-4DEA-975D-8742DF1B1FB1}" destId="{3E8A5491-26D0-4A4F-AE06-CFBCBE97C04A}" srcOrd="0" destOrd="0" presId="urn:microsoft.com/office/officeart/2005/8/layout/default"/>
    <dgm:cxn modelId="{4A1ADCDA-B58C-49A8-97C1-4DD631994406}" srcId="{BEC0E5A3-34DA-4413-9CD5-D22BB8A3A173}" destId="{C57039CE-D967-4E60-AF09-E8738DB845A9}" srcOrd="3" destOrd="0" parTransId="{B51A52E0-5FBC-4A68-8F72-C45F0B94A842}" sibTransId="{028CDFC4-47B6-4D80-BD6F-458C5466D16C}"/>
    <dgm:cxn modelId="{987A65F4-31A0-44D3-B44A-E74E969B4535}" type="presOf" srcId="{73078A59-3FDA-4024-9CE3-0B838E29C1F5}" destId="{4EA05862-73CF-420A-B943-1E3931D6C632}" srcOrd="0" destOrd="0" presId="urn:microsoft.com/office/officeart/2005/8/layout/default"/>
    <dgm:cxn modelId="{F81B84F7-3531-4EA9-9F11-D7031A5EC9D7}" type="presOf" srcId="{C57039CE-D967-4E60-AF09-E8738DB845A9}" destId="{7922149E-DEE1-4B7A-B289-BBCC77FDE6F4}" srcOrd="0" destOrd="0" presId="urn:microsoft.com/office/officeart/2005/8/layout/default"/>
    <dgm:cxn modelId="{E810ECFF-C515-49C7-8428-52ACC4826C7D}" type="presOf" srcId="{BEC0E5A3-34DA-4413-9CD5-D22BB8A3A173}" destId="{4448FE4A-0CAE-43ED-8D8A-7668EC455F45}" srcOrd="0" destOrd="0" presId="urn:microsoft.com/office/officeart/2005/8/layout/default"/>
    <dgm:cxn modelId="{6C64349D-1857-4C0D-AAF9-76A08C5E5F95}" type="presParOf" srcId="{4448FE4A-0CAE-43ED-8D8A-7668EC455F45}" destId="{4EA05862-73CF-420A-B943-1E3931D6C632}" srcOrd="0" destOrd="0" presId="urn:microsoft.com/office/officeart/2005/8/layout/default"/>
    <dgm:cxn modelId="{5FCCA842-5AFC-4A5B-9C7F-D3E821470149}" type="presParOf" srcId="{4448FE4A-0CAE-43ED-8D8A-7668EC455F45}" destId="{64100F21-13E5-4347-B73E-7CB5D9ADC0AC}" srcOrd="1" destOrd="0" presId="urn:microsoft.com/office/officeart/2005/8/layout/default"/>
    <dgm:cxn modelId="{4C1DAEF8-2F0C-4BF8-A983-116B3C0B090A}" type="presParOf" srcId="{4448FE4A-0CAE-43ED-8D8A-7668EC455F45}" destId="{3E8A5491-26D0-4A4F-AE06-CFBCBE97C04A}" srcOrd="2" destOrd="0" presId="urn:microsoft.com/office/officeart/2005/8/layout/default"/>
    <dgm:cxn modelId="{4395D7AF-45C5-4D8A-A8E4-6F0B154F353D}" type="presParOf" srcId="{4448FE4A-0CAE-43ED-8D8A-7668EC455F45}" destId="{E2E1D95E-C07A-41F6-AC7B-AEDED17E089A}" srcOrd="3" destOrd="0" presId="urn:microsoft.com/office/officeart/2005/8/layout/default"/>
    <dgm:cxn modelId="{8241FF02-DE1F-4150-A804-26F65624CE95}" type="presParOf" srcId="{4448FE4A-0CAE-43ED-8D8A-7668EC455F45}" destId="{C2C1812D-ED69-437D-8856-7344D851EF6C}" srcOrd="4" destOrd="0" presId="urn:microsoft.com/office/officeart/2005/8/layout/default"/>
    <dgm:cxn modelId="{72CB050E-E31B-4E5C-BF29-438D1929FE27}" type="presParOf" srcId="{4448FE4A-0CAE-43ED-8D8A-7668EC455F45}" destId="{B9C47FBD-0301-4817-8FBA-BBC1558A44EA}" srcOrd="5" destOrd="0" presId="urn:microsoft.com/office/officeart/2005/8/layout/default"/>
    <dgm:cxn modelId="{4BC68289-2C07-41B3-960B-2930992D5E0B}" type="presParOf" srcId="{4448FE4A-0CAE-43ED-8D8A-7668EC455F45}" destId="{7922149E-DEE1-4B7A-B289-BBCC77FDE6F4}" srcOrd="6" destOrd="0" presId="urn:microsoft.com/office/officeart/2005/8/layout/default"/>
    <dgm:cxn modelId="{FB435310-A5E9-4A32-B4A0-07A13B9B0177}" type="presParOf" srcId="{4448FE4A-0CAE-43ED-8D8A-7668EC455F45}" destId="{DE53AC2C-B55A-4066-A747-CAA656326329}" srcOrd="7" destOrd="0" presId="urn:microsoft.com/office/officeart/2005/8/layout/default"/>
    <dgm:cxn modelId="{A6164B37-C682-42A0-BA3A-1013DF6E5AAA}" type="presParOf" srcId="{4448FE4A-0CAE-43ED-8D8A-7668EC455F45}" destId="{614795C3-DD9E-4676-9F03-EAFD0466A9CE}"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A05862-73CF-420A-B943-1E3931D6C632}">
      <dsp:nvSpPr>
        <dsp:cNvPr id="0" name=""/>
        <dsp:cNvSpPr/>
      </dsp:nvSpPr>
      <dsp:spPr>
        <a:xfrm>
          <a:off x="4258824" y="0"/>
          <a:ext cx="2857053" cy="1714232"/>
        </a:xfrm>
        <a:prstGeom prst="rect">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b="1" kern="1200" dirty="0">
              <a:solidFill>
                <a:schemeClr val="tx1"/>
              </a:solidFill>
            </a:rPr>
            <a:t>33% Starchy carbohydrates</a:t>
          </a:r>
        </a:p>
        <a:p>
          <a:pPr marL="0" lvl="0" indent="0" algn="ctr" defTabSz="1333500">
            <a:lnSpc>
              <a:spcPct val="90000"/>
            </a:lnSpc>
            <a:spcBef>
              <a:spcPct val="0"/>
            </a:spcBef>
            <a:spcAft>
              <a:spcPct val="35000"/>
            </a:spcAft>
            <a:buNone/>
          </a:pPr>
          <a:r>
            <a:rPr lang="en-GB" sz="2400" b="1" kern="1200" dirty="0">
              <a:solidFill>
                <a:schemeClr val="tx1"/>
              </a:solidFill>
            </a:rPr>
            <a:t>Bulk of meals</a:t>
          </a:r>
        </a:p>
      </dsp:txBody>
      <dsp:txXfrm>
        <a:off x="4258824" y="0"/>
        <a:ext cx="2857053" cy="1714232"/>
      </dsp:txXfrm>
    </dsp:sp>
    <dsp:sp modelId="{3E8A5491-26D0-4A4F-AE06-CFBCBE97C04A}">
      <dsp:nvSpPr>
        <dsp:cNvPr id="0" name=""/>
        <dsp:cNvSpPr/>
      </dsp:nvSpPr>
      <dsp:spPr>
        <a:xfrm>
          <a:off x="1090466" y="0"/>
          <a:ext cx="2857053" cy="1714232"/>
        </a:xfrm>
        <a:prstGeom prst="rect">
          <a:avLst/>
        </a:prstGeom>
        <a:solidFill>
          <a:srgbClr val="008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b="1" kern="1200" dirty="0"/>
            <a:t>33% Fruit &amp; Vegetables</a:t>
          </a:r>
        </a:p>
        <a:p>
          <a:pPr marL="0" lvl="0" indent="0" algn="ctr" defTabSz="1333500">
            <a:lnSpc>
              <a:spcPct val="90000"/>
            </a:lnSpc>
            <a:spcBef>
              <a:spcPct val="0"/>
            </a:spcBef>
            <a:spcAft>
              <a:spcPct val="35000"/>
            </a:spcAft>
            <a:buNone/>
          </a:pPr>
          <a:r>
            <a:rPr lang="en-GB" sz="2800" b="1" kern="1200" dirty="0"/>
            <a:t>5+ a Day</a:t>
          </a:r>
        </a:p>
      </dsp:txBody>
      <dsp:txXfrm>
        <a:off x="1090466" y="0"/>
        <a:ext cx="2857053" cy="1714232"/>
      </dsp:txXfrm>
    </dsp:sp>
    <dsp:sp modelId="{C2C1812D-ED69-437D-8856-7344D851EF6C}">
      <dsp:nvSpPr>
        <dsp:cNvPr id="0" name=""/>
        <dsp:cNvSpPr/>
      </dsp:nvSpPr>
      <dsp:spPr>
        <a:xfrm>
          <a:off x="4258824" y="2016215"/>
          <a:ext cx="2857053" cy="1714232"/>
        </a:xfrm>
        <a:prstGeom prst="rect">
          <a:avLst/>
        </a:prstGeom>
        <a:solidFill>
          <a:schemeClr val="accent5">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b="1" kern="1200" dirty="0">
              <a:solidFill>
                <a:schemeClr val="tx1"/>
              </a:solidFill>
            </a:rPr>
            <a:t>15% Milk &amp; Dairy</a:t>
          </a:r>
        </a:p>
        <a:p>
          <a:pPr marL="0" lvl="0" indent="0" algn="ctr" defTabSz="1333500">
            <a:lnSpc>
              <a:spcPct val="90000"/>
            </a:lnSpc>
            <a:spcBef>
              <a:spcPct val="0"/>
            </a:spcBef>
            <a:spcAft>
              <a:spcPct val="35000"/>
            </a:spcAft>
            <a:buNone/>
          </a:pPr>
          <a:r>
            <a:rPr lang="en-GB" sz="2400" b="1" kern="1200" dirty="0">
              <a:solidFill>
                <a:schemeClr val="tx1"/>
              </a:solidFill>
            </a:rPr>
            <a:t>3 portions daily</a:t>
          </a:r>
        </a:p>
      </dsp:txBody>
      <dsp:txXfrm>
        <a:off x="4258824" y="2016215"/>
        <a:ext cx="2857053" cy="1714232"/>
      </dsp:txXfrm>
    </dsp:sp>
    <dsp:sp modelId="{7922149E-DEE1-4B7A-B289-BBCC77FDE6F4}">
      <dsp:nvSpPr>
        <dsp:cNvPr id="0" name=""/>
        <dsp:cNvSpPr/>
      </dsp:nvSpPr>
      <dsp:spPr>
        <a:xfrm>
          <a:off x="1090466" y="2016233"/>
          <a:ext cx="2857053" cy="1714232"/>
        </a:xfrm>
        <a:prstGeom prst="rect">
          <a:avLst/>
        </a:prstGeom>
        <a:solidFill>
          <a:schemeClr val="accent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b="1" kern="1200" dirty="0">
              <a:solidFill>
                <a:schemeClr val="tx1"/>
              </a:solidFill>
            </a:rPr>
            <a:t>12% Meat, Fish, Eggs, Beans</a:t>
          </a:r>
        </a:p>
        <a:p>
          <a:pPr marL="0" lvl="0" indent="0" algn="ctr" defTabSz="1333500">
            <a:lnSpc>
              <a:spcPct val="90000"/>
            </a:lnSpc>
            <a:spcBef>
              <a:spcPct val="0"/>
            </a:spcBef>
            <a:spcAft>
              <a:spcPct val="35000"/>
            </a:spcAft>
            <a:buNone/>
          </a:pPr>
          <a:r>
            <a:rPr lang="en-GB" sz="2200" b="1" kern="1200" dirty="0">
              <a:solidFill>
                <a:schemeClr val="tx1"/>
              </a:solidFill>
            </a:rPr>
            <a:t>Oily fish once a week</a:t>
          </a:r>
        </a:p>
      </dsp:txBody>
      <dsp:txXfrm>
        <a:off x="1090466" y="2016233"/>
        <a:ext cx="2857053" cy="1714232"/>
      </dsp:txXfrm>
    </dsp:sp>
    <dsp:sp modelId="{614795C3-DD9E-4676-9F03-EAFD0466A9CE}">
      <dsp:nvSpPr>
        <dsp:cNvPr id="0" name=""/>
        <dsp:cNvSpPr/>
      </dsp:nvSpPr>
      <dsp:spPr>
        <a:xfrm>
          <a:off x="2686273" y="4003570"/>
          <a:ext cx="2857053" cy="1714232"/>
        </a:xfrm>
        <a:prstGeom prst="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b="1" kern="1200" dirty="0"/>
            <a:t>&lt;8% High fat/sugary foods</a:t>
          </a:r>
        </a:p>
        <a:p>
          <a:pPr marL="0" lvl="0" indent="0" algn="ctr" defTabSz="1333500">
            <a:lnSpc>
              <a:spcPct val="90000"/>
            </a:lnSpc>
            <a:spcBef>
              <a:spcPct val="0"/>
            </a:spcBef>
            <a:spcAft>
              <a:spcPct val="35000"/>
            </a:spcAft>
            <a:buNone/>
          </a:pPr>
          <a:r>
            <a:rPr lang="en-GB" sz="2400" b="1" kern="1200" dirty="0"/>
            <a:t>Avoid saturated fats </a:t>
          </a:r>
        </a:p>
      </dsp:txBody>
      <dsp:txXfrm>
        <a:off x="2686273" y="4003570"/>
        <a:ext cx="2857053" cy="171423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81268E-8E3D-47E3-90F4-BE2FAD2E0728}" type="datetimeFigureOut">
              <a:rPr lang="en-GB" smtClean="0"/>
              <a:t>08/12/2023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E5FF13-FFC6-4F08-A6A2-BCF008B7D15D}" type="slidenum">
              <a:rPr lang="en-GB" smtClean="0"/>
              <a:t>‹#›</a:t>
            </a:fld>
            <a:endParaRPr lang="en-GB"/>
          </a:p>
        </p:txBody>
      </p:sp>
    </p:spTree>
    <p:extLst>
      <p:ext uri="{BB962C8B-B14F-4D97-AF65-F5344CB8AC3E}">
        <p14:creationId xmlns:p14="http://schemas.microsoft.com/office/powerpoint/2010/main" val="1292193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8E5FF13-FFC6-4F08-A6A2-BCF008B7D15D}" type="slidenum">
              <a:rPr lang="en-GB" smtClean="0"/>
              <a:t>2</a:t>
            </a:fld>
            <a:endParaRPr lang="en-GB"/>
          </a:p>
        </p:txBody>
      </p:sp>
    </p:spTree>
    <p:extLst>
      <p:ext uri="{BB962C8B-B14F-4D97-AF65-F5344CB8AC3E}">
        <p14:creationId xmlns:p14="http://schemas.microsoft.com/office/powerpoint/2010/main" val="1277966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8E5FF13-FFC6-4F08-A6A2-BCF008B7D15D}" type="slidenum">
              <a:rPr lang="en-GB" smtClean="0"/>
              <a:t>3</a:t>
            </a:fld>
            <a:endParaRPr lang="en-GB"/>
          </a:p>
        </p:txBody>
      </p:sp>
    </p:spTree>
    <p:extLst>
      <p:ext uri="{BB962C8B-B14F-4D97-AF65-F5344CB8AC3E}">
        <p14:creationId xmlns:p14="http://schemas.microsoft.com/office/powerpoint/2010/main" val="185486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a:solidFill>
                  <a:schemeClr val="tx1"/>
                </a:solidFill>
                <a:effectLst/>
                <a:latin typeface="+mn-lt"/>
                <a:ea typeface="+mn-ea"/>
                <a:cs typeface="+mn-cs"/>
              </a:rPr>
              <a:t>The eatwell plate shows how much of what most adults eat should come from each food group. This includes everything you eat during the day, including snacks.</a:t>
            </a:r>
            <a:br>
              <a:rPr lang="en-GB" sz="1200" b="0" i="0" kern="1200">
                <a:solidFill>
                  <a:schemeClr val="tx1"/>
                </a:solidFill>
                <a:effectLst/>
                <a:latin typeface="+mn-lt"/>
                <a:ea typeface="+mn-ea"/>
                <a:cs typeface="+mn-cs"/>
              </a:rPr>
            </a:br>
            <a:r>
              <a:rPr lang="en-GB" sz="1200" b="0" i="0" kern="1200">
                <a:solidFill>
                  <a:schemeClr val="tx1"/>
                </a:solidFill>
                <a:effectLst/>
                <a:latin typeface="+mn-lt"/>
                <a:ea typeface="+mn-ea"/>
                <a:cs typeface="+mn-cs"/>
              </a:rPr>
              <a:t>So, try to eat:</a:t>
            </a:r>
            <a:br>
              <a:rPr lang="en-GB" sz="1200" b="0" i="0" kern="1200">
                <a:solidFill>
                  <a:schemeClr val="tx1"/>
                </a:solidFill>
                <a:effectLst/>
                <a:latin typeface="+mn-lt"/>
                <a:ea typeface="+mn-ea"/>
                <a:cs typeface="+mn-cs"/>
              </a:rPr>
            </a:br>
            <a:r>
              <a:rPr lang="en-GB" sz="1200" b="0" i="0" kern="1200">
                <a:solidFill>
                  <a:schemeClr val="tx1"/>
                </a:solidFill>
                <a:effectLst/>
                <a:latin typeface="+mn-lt"/>
                <a:ea typeface="+mn-ea"/>
                <a:cs typeface="+mn-cs"/>
              </a:rPr>
              <a:t>– plenty of fruit and vegetables</a:t>
            </a:r>
            <a:br>
              <a:rPr lang="en-GB" sz="1200" b="0" i="0" kern="1200">
                <a:solidFill>
                  <a:schemeClr val="tx1"/>
                </a:solidFill>
                <a:effectLst/>
                <a:latin typeface="+mn-lt"/>
                <a:ea typeface="+mn-ea"/>
                <a:cs typeface="+mn-cs"/>
              </a:rPr>
            </a:br>
            <a:r>
              <a:rPr lang="en-GB" sz="1200" b="0" i="0" kern="1200">
                <a:solidFill>
                  <a:schemeClr val="tx1"/>
                </a:solidFill>
                <a:effectLst/>
                <a:latin typeface="+mn-lt"/>
                <a:ea typeface="+mn-ea"/>
                <a:cs typeface="+mn-cs"/>
              </a:rPr>
              <a:t>– plenty of bread, rice, potatoes, pasta and other starchy foods – choose wholegrain varieties whenever you can</a:t>
            </a:r>
            <a:br>
              <a:rPr lang="en-GB" sz="1200" b="0" i="0" kern="1200">
                <a:solidFill>
                  <a:schemeClr val="tx1"/>
                </a:solidFill>
                <a:effectLst/>
                <a:latin typeface="+mn-lt"/>
                <a:ea typeface="+mn-ea"/>
                <a:cs typeface="+mn-cs"/>
              </a:rPr>
            </a:br>
            <a:r>
              <a:rPr lang="en-GB" sz="1200" b="0" i="0" kern="1200">
                <a:solidFill>
                  <a:schemeClr val="tx1"/>
                </a:solidFill>
                <a:effectLst/>
                <a:latin typeface="+mn-lt"/>
                <a:ea typeface="+mn-ea"/>
                <a:cs typeface="+mn-cs"/>
              </a:rPr>
              <a:t>– some milk and dairy foods</a:t>
            </a:r>
            <a:br>
              <a:rPr lang="en-GB" sz="1200" b="0" i="0" kern="1200">
                <a:solidFill>
                  <a:schemeClr val="tx1"/>
                </a:solidFill>
                <a:effectLst/>
                <a:latin typeface="+mn-lt"/>
                <a:ea typeface="+mn-ea"/>
                <a:cs typeface="+mn-cs"/>
              </a:rPr>
            </a:br>
            <a:r>
              <a:rPr lang="en-GB" sz="1200" b="0" i="0" kern="1200">
                <a:solidFill>
                  <a:schemeClr val="tx1"/>
                </a:solidFill>
                <a:effectLst/>
                <a:latin typeface="+mn-lt"/>
                <a:ea typeface="+mn-ea"/>
                <a:cs typeface="+mn-cs"/>
              </a:rPr>
              <a:t>– some meat, fish, eggs, beans and other non-dairy sources of protein</a:t>
            </a:r>
            <a:br>
              <a:rPr lang="en-GB" sz="1200" b="0" i="0" kern="1200">
                <a:solidFill>
                  <a:schemeClr val="tx1"/>
                </a:solidFill>
                <a:effectLst/>
                <a:latin typeface="+mn-lt"/>
                <a:ea typeface="+mn-ea"/>
                <a:cs typeface="+mn-cs"/>
              </a:rPr>
            </a:br>
            <a:r>
              <a:rPr lang="en-GB" sz="1200" b="0" i="0" kern="1200">
                <a:solidFill>
                  <a:schemeClr val="tx1"/>
                </a:solidFill>
                <a:effectLst/>
                <a:latin typeface="+mn-lt"/>
                <a:ea typeface="+mn-ea"/>
                <a:cs typeface="+mn-cs"/>
              </a:rPr>
              <a:t>– just a small amount of foods and drinks high in fat and/or sugar</a:t>
            </a:r>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8E5FF13-FFC6-4F08-A6A2-BCF008B7D15D}" type="slidenum">
              <a:rPr lang="en-GB" smtClean="0"/>
              <a:t>5</a:t>
            </a:fld>
            <a:endParaRPr lang="en-GB"/>
          </a:p>
        </p:txBody>
      </p:sp>
    </p:spTree>
    <p:extLst>
      <p:ext uri="{BB962C8B-B14F-4D97-AF65-F5344CB8AC3E}">
        <p14:creationId xmlns:p14="http://schemas.microsoft.com/office/powerpoint/2010/main" val="1158739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-Should</a:t>
            </a:r>
            <a:r>
              <a:rPr lang="en-GB" baseline="0" dirty="0"/>
              <a:t> get all the vitamins and minerals you need from eating a balanced diet meaning most people don’t need a multivitamin supplement</a:t>
            </a:r>
          </a:p>
          <a:p>
            <a:r>
              <a:rPr lang="en-GB" baseline="0" dirty="0"/>
              <a:t>-Most meals we eat are ‘composite/combination’ ones, made up of a mixture of food groups, i.e. sandwich, casserole, pasta dishes. Need to consider how much of each food group the meal consists of and check if your intakes fitting with the suggested proportions</a:t>
            </a:r>
            <a:endParaRPr lang="en-GB" dirty="0"/>
          </a:p>
        </p:txBody>
      </p:sp>
      <p:sp>
        <p:nvSpPr>
          <p:cNvPr id="4" name="Slide Number Placeholder 3"/>
          <p:cNvSpPr>
            <a:spLocks noGrp="1"/>
          </p:cNvSpPr>
          <p:nvPr>
            <p:ph type="sldNum" sz="quarter" idx="10"/>
          </p:nvPr>
        </p:nvSpPr>
        <p:spPr/>
        <p:txBody>
          <a:bodyPr/>
          <a:lstStyle/>
          <a:p>
            <a:fld id="{28E5FF13-FFC6-4F08-A6A2-BCF008B7D15D}" type="slidenum">
              <a:rPr lang="en-GB" smtClean="0"/>
              <a:t>6</a:t>
            </a:fld>
            <a:endParaRPr lang="en-GB"/>
          </a:p>
        </p:txBody>
      </p:sp>
    </p:spTree>
    <p:extLst>
      <p:ext uri="{BB962C8B-B14F-4D97-AF65-F5344CB8AC3E}">
        <p14:creationId xmlns:p14="http://schemas.microsoft.com/office/powerpoint/2010/main" val="4210768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Antioxidant – a substance that protects</a:t>
            </a:r>
            <a:r>
              <a:rPr lang="en-GB" baseline="0" dirty="0"/>
              <a:t> our cells from oxidative damage (i.e. it prolongs the health of our cells). This diet provides a healthy intake for our whole body system, even down to our individual cells!</a:t>
            </a:r>
            <a:endParaRPr lang="en-GB" dirty="0"/>
          </a:p>
        </p:txBody>
      </p:sp>
      <p:sp>
        <p:nvSpPr>
          <p:cNvPr id="4" name="Slide Number Placeholder 3"/>
          <p:cNvSpPr>
            <a:spLocks noGrp="1"/>
          </p:cNvSpPr>
          <p:nvPr>
            <p:ph type="sldNum" sz="quarter" idx="10"/>
          </p:nvPr>
        </p:nvSpPr>
        <p:spPr/>
        <p:txBody>
          <a:bodyPr/>
          <a:lstStyle/>
          <a:p>
            <a:fld id="{28E5FF13-FFC6-4F08-A6A2-BCF008B7D15D}" type="slidenum">
              <a:rPr lang="en-GB" smtClean="0"/>
              <a:t>7</a:t>
            </a:fld>
            <a:endParaRPr lang="en-GB"/>
          </a:p>
        </p:txBody>
      </p:sp>
    </p:spTree>
    <p:extLst>
      <p:ext uri="{BB962C8B-B14F-4D97-AF65-F5344CB8AC3E}">
        <p14:creationId xmlns:p14="http://schemas.microsoft.com/office/powerpoint/2010/main" val="4014914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How many</a:t>
            </a:r>
            <a:r>
              <a:rPr lang="en-GB" baseline="0" dirty="0"/>
              <a:t> squares filled in shows how many portions of fruit or veg a product provides</a:t>
            </a:r>
          </a:p>
          <a:p>
            <a:pPr marL="171450" indent="-171450">
              <a:buFontTx/>
              <a:buChar char="-"/>
            </a:pPr>
            <a:r>
              <a:rPr lang="en-GB" baseline="0" dirty="0"/>
              <a:t>Variety is key</a:t>
            </a:r>
          </a:p>
          <a:p>
            <a:pPr marL="171450" indent="-171450">
              <a:buFontTx/>
              <a:buChar char="-"/>
            </a:pPr>
            <a:r>
              <a:rPr lang="en-GB" baseline="0" dirty="0"/>
              <a:t>Healthy adults should try to avoid consuming fruit and veg with added fat i.e. cream with fruit or butter on veg. fat free yoghurt accompanies fruit well. Also to note that over boiling veg can destroy their vitamin c content.</a:t>
            </a:r>
          </a:p>
        </p:txBody>
      </p:sp>
      <p:sp>
        <p:nvSpPr>
          <p:cNvPr id="4" name="Slide Number Placeholder 3"/>
          <p:cNvSpPr>
            <a:spLocks noGrp="1"/>
          </p:cNvSpPr>
          <p:nvPr>
            <p:ph type="sldNum" sz="quarter" idx="10"/>
          </p:nvPr>
        </p:nvSpPr>
        <p:spPr/>
        <p:txBody>
          <a:bodyPr/>
          <a:lstStyle/>
          <a:p>
            <a:fld id="{28E5FF13-FFC6-4F08-A6A2-BCF008B7D15D}" type="slidenum">
              <a:rPr lang="en-GB" smtClean="0"/>
              <a:t>8</a:t>
            </a:fld>
            <a:endParaRPr lang="en-GB"/>
          </a:p>
        </p:txBody>
      </p:sp>
    </p:spTree>
    <p:extLst>
      <p:ext uri="{BB962C8B-B14F-4D97-AF65-F5344CB8AC3E}">
        <p14:creationId xmlns:p14="http://schemas.microsoft.com/office/powerpoint/2010/main" val="764332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Simple carbs have 1 or 2 units of</a:t>
            </a:r>
            <a:r>
              <a:rPr lang="en-GB" baseline="0" dirty="0"/>
              <a:t> sugar. Easier for body to break down to glucose so get absorbed into blood quicker</a:t>
            </a:r>
          </a:p>
          <a:p>
            <a:r>
              <a:rPr lang="en-GB" baseline="0" dirty="0"/>
              <a:t>Complex/starchy made of many units of sugar. Take longer to be metabolised so they provide a slower release of energy.</a:t>
            </a:r>
            <a:endParaRPr lang="en-GB" dirty="0"/>
          </a:p>
        </p:txBody>
      </p:sp>
      <p:sp>
        <p:nvSpPr>
          <p:cNvPr id="4" name="Slide Number Placeholder 3"/>
          <p:cNvSpPr>
            <a:spLocks noGrp="1"/>
          </p:cNvSpPr>
          <p:nvPr>
            <p:ph type="sldNum" sz="quarter" idx="10"/>
          </p:nvPr>
        </p:nvSpPr>
        <p:spPr/>
        <p:txBody>
          <a:bodyPr/>
          <a:lstStyle/>
          <a:p>
            <a:fld id="{28E5FF13-FFC6-4F08-A6A2-BCF008B7D15D}" type="slidenum">
              <a:rPr lang="en-GB" smtClean="0"/>
              <a:t>9</a:t>
            </a:fld>
            <a:endParaRPr lang="en-GB"/>
          </a:p>
        </p:txBody>
      </p:sp>
    </p:spTree>
    <p:extLst>
      <p:ext uri="{BB962C8B-B14F-4D97-AF65-F5344CB8AC3E}">
        <p14:creationId xmlns:p14="http://schemas.microsoft.com/office/powerpoint/2010/main" val="1681470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-XS CHO stored as fat, highlights why we need to eat it in the right proportions</a:t>
            </a:r>
          </a:p>
        </p:txBody>
      </p:sp>
      <p:sp>
        <p:nvSpPr>
          <p:cNvPr id="4" name="Slide Number Placeholder 3"/>
          <p:cNvSpPr>
            <a:spLocks noGrp="1"/>
          </p:cNvSpPr>
          <p:nvPr>
            <p:ph type="sldNum" sz="quarter" idx="10"/>
          </p:nvPr>
        </p:nvSpPr>
        <p:spPr/>
        <p:txBody>
          <a:bodyPr/>
          <a:lstStyle/>
          <a:p>
            <a:fld id="{28E5FF13-FFC6-4F08-A6A2-BCF008B7D15D}" type="slidenum">
              <a:rPr lang="en-GB" smtClean="0"/>
              <a:t>10</a:t>
            </a:fld>
            <a:endParaRPr lang="en-GB"/>
          </a:p>
        </p:txBody>
      </p:sp>
    </p:spTree>
    <p:extLst>
      <p:ext uri="{BB962C8B-B14F-4D97-AF65-F5344CB8AC3E}">
        <p14:creationId xmlns:p14="http://schemas.microsoft.com/office/powerpoint/2010/main" val="1961394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grain is the seed</a:t>
            </a:r>
            <a:r>
              <a:rPr lang="en-GB" baseline="0" dirty="0"/>
              <a:t> of these cereal crops</a:t>
            </a:r>
          </a:p>
          <a:p>
            <a:r>
              <a:rPr lang="en-GB" baseline="0" dirty="0"/>
              <a:t>By removing the bran and germ (white bread, pasta, rice </a:t>
            </a:r>
            <a:r>
              <a:rPr lang="en-GB" baseline="0" dirty="0" err="1"/>
              <a:t>etc</a:t>
            </a:r>
            <a:r>
              <a:rPr lang="en-GB" baseline="0" dirty="0"/>
              <a:t>) you can see that a lot of the fibre and nutrients including B and E vitamins are removed</a:t>
            </a:r>
          </a:p>
          <a:p>
            <a:r>
              <a:rPr lang="en-GB" baseline="0" dirty="0"/>
              <a:t>Fibre reduces transit time therefore reducing the time when damaging substances may be in contact with the gut wall whilst providing a thriving environment for good bacteria which produce gut protective substances</a:t>
            </a:r>
            <a:endParaRPr lang="en-GB" dirty="0"/>
          </a:p>
        </p:txBody>
      </p:sp>
      <p:sp>
        <p:nvSpPr>
          <p:cNvPr id="4" name="Slide Number Placeholder 3"/>
          <p:cNvSpPr>
            <a:spLocks noGrp="1"/>
          </p:cNvSpPr>
          <p:nvPr>
            <p:ph type="sldNum" sz="quarter" idx="10"/>
          </p:nvPr>
        </p:nvSpPr>
        <p:spPr/>
        <p:txBody>
          <a:bodyPr/>
          <a:lstStyle/>
          <a:p>
            <a:fld id="{28E5FF13-FFC6-4F08-A6A2-BCF008B7D15D}" type="slidenum">
              <a:rPr lang="en-GB" smtClean="0"/>
              <a:t>11</a:t>
            </a:fld>
            <a:endParaRPr lang="en-GB"/>
          </a:p>
        </p:txBody>
      </p:sp>
    </p:spTree>
    <p:extLst>
      <p:ext uri="{BB962C8B-B14F-4D97-AF65-F5344CB8AC3E}">
        <p14:creationId xmlns:p14="http://schemas.microsoft.com/office/powerpoint/2010/main" val="3633886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-Poultry</a:t>
            </a:r>
            <a:r>
              <a:rPr lang="en-GB" baseline="0" dirty="0"/>
              <a:t> meat has increased considerably in fat content over recent years. White breast meat with no skin has the least amount of fat.</a:t>
            </a:r>
          </a:p>
          <a:p>
            <a:pPr marL="0" marR="0" lvl="3" indent="0" algn="l" defTabSz="914400" rtl="0" eaLnBrk="1" fontAlgn="auto" latinLnBrk="0" hangingPunct="1">
              <a:lnSpc>
                <a:spcPct val="100000"/>
              </a:lnSpc>
              <a:spcBef>
                <a:spcPts val="0"/>
              </a:spcBef>
              <a:spcAft>
                <a:spcPts val="0"/>
              </a:spcAft>
              <a:buClrTx/>
              <a:buSzTx/>
              <a:buFontTx/>
              <a:buNone/>
              <a:tabLst/>
              <a:defRPr/>
            </a:pPr>
            <a:r>
              <a:rPr lang="en-GB" baseline="0" dirty="0"/>
              <a:t>- Omega 3 sources </a:t>
            </a:r>
            <a:r>
              <a:rPr lang="en-GB" dirty="0"/>
              <a:t>in descending order of quantity of omega 3</a:t>
            </a:r>
          </a:p>
          <a:p>
            <a:r>
              <a:rPr lang="en-GB" dirty="0"/>
              <a:t>-</a:t>
            </a:r>
            <a:r>
              <a:rPr lang="en-GB" baseline="0" dirty="0"/>
              <a:t> Eggs contain dietary cholesterol however this has little effect blood cholesterol levels</a:t>
            </a:r>
            <a:endParaRPr lang="en-GB" dirty="0"/>
          </a:p>
        </p:txBody>
      </p:sp>
      <p:sp>
        <p:nvSpPr>
          <p:cNvPr id="4" name="Slide Number Placeholder 3"/>
          <p:cNvSpPr>
            <a:spLocks noGrp="1"/>
          </p:cNvSpPr>
          <p:nvPr>
            <p:ph type="sldNum" sz="quarter" idx="10"/>
          </p:nvPr>
        </p:nvSpPr>
        <p:spPr/>
        <p:txBody>
          <a:bodyPr/>
          <a:lstStyle/>
          <a:p>
            <a:fld id="{28E5FF13-FFC6-4F08-A6A2-BCF008B7D15D}" type="slidenum">
              <a:rPr lang="en-GB" smtClean="0"/>
              <a:t>13</a:t>
            </a:fld>
            <a:endParaRPr lang="en-GB"/>
          </a:p>
        </p:txBody>
      </p:sp>
    </p:spTree>
    <p:extLst>
      <p:ext uri="{BB962C8B-B14F-4D97-AF65-F5344CB8AC3E}">
        <p14:creationId xmlns:p14="http://schemas.microsoft.com/office/powerpoint/2010/main" val="339309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baseline="0" dirty="0"/>
              <a:t>Low fat dairy products contain the same amounts of calcium and protein as their full fat alternatives but less fat and energy</a:t>
            </a:r>
          </a:p>
          <a:p>
            <a:pPr marL="171450" indent="-171450">
              <a:buFontTx/>
              <a:buChar char="-"/>
            </a:pPr>
            <a:r>
              <a:rPr lang="en-GB" baseline="0" dirty="0"/>
              <a:t>Research suggests soya milk may be beneficial in lowering bad cholesterol</a:t>
            </a:r>
          </a:p>
        </p:txBody>
      </p:sp>
      <p:sp>
        <p:nvSpPr>
          <p:cNvPr id="4" name="Slide Number Placeholder 3"/>
          <p:cNvSpPr>
            <a:spLocks noGrp="1"/>
          </p:cNvSpPr>
          <p:nvPr>
            <p:ph type="sldNum" sz="quarter" idx="10"/>
          </p:nvPr>
        </p:nvSpPr>
        <p:spPr/>
        <p:txBody>
          <a:bodyPr/>
          <a:lstStyle/>
          <a:p>
            <a:fld id="{28E5FF13-FFC6-4F08-A6A2-BCF008B7D15D}" type="slidenum">
              <a:rPr lang="en-GB" smtClean="0"/>
              <a:t>14</a:t>
            </a:fld>
            <a:endParaRPr lang="en-GB"/>
          </a:p>
        </p:txBody>
      </p:sp>
    </p:spTree>
    <p:extLst>
      <p:ext uri="{BB962C8B-B14F-4D97-AF65-F5344CB8AC3E}">
        <p14:creationId xmlns:p14="http://schemas.microsoft.com/office/powerpoint/2010/main" val="1796415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Saturated – hard at room temp</a:t>
            </a:r>
          </a:p>
          <a:p>
            <a:pPr marL="171450" indent="-171450">
              <a:buFontTx/>
              <a:buChar char="-"/>
            </a:pPr>
            <a:r>
              <a:rPr lang="en-GB" dirty="0"/>
              <a:t>Trans</a:t>
            </a:r>
            <a:r>
              <a:rPr lang="en-GB" baseline="0" dirty="0"/>
              <a:t> – veg oils that have been processed to make them hard (on ingredients list as partially hydrogenated veg oil)</a:t>
            </a:r>
            <a:endParaRPr lang="en-GB" dirty="0"/>
          </a:p>
          <a:p>
            <a:pPr marL="171450" indent="-171450">
              <a:buFontTx/>
              <a:buChar char="-"/>
            </a:pPr>
            <a:r>
              <a:rPr lang="en-GB" dirty="0"/>
              <a:t>It</a:t>
            </a:r>
            <a:r>
              <a:rPr lang="en-GB" baseline="0" dirty="0"/>
              <a:t> is recommended to reduce sat &amp; trans fats and increase mono and polyunsaturated fats for heart and overall health.</a:t>
            </a:r>
            <a:endParaRPr lang="en-GB" dirty="0"/>
          </a:p>
        </p:txBody>
      </p:sp>
      <p:sp>
        <p:nvSpPr>
          <p:cNvPr id="4" name="Slide Number Placeholder 3"/>
          <p:cNvSpPr>
            <a:spLocks noGrp="1"/>
          </p:cNvSpPr>
          <p:nvPr>
            <p:ph type="sldNum" sz="quarter" idx="10"/>
          </p:nvPr>
        </p:nvSpPr>
        <p:spPr/>
        <p:txBody>
          <a:bodyPr/>
          <a:lstStyle/>
          <a:p>
            <a:fld id="{28E5FF13-FFC6-4F08-A6A2-BCF008B7D15D}" type="slidenum">
              <a:rPr lang="en-GB" smtClean="0"/>
              <a:t>16</a:t>
            </a:fld>
            <a:endParaRPr lang="en-GB"/>
          </a:p>
        </p:txBody>
      </p:sp>
    </p:spTree>
    <p:extLst>
      <p:ext uri="{BB962C8B-B14F-4D97-AF65-F5344CB8AC3E}">
        <p14:creationId xmlns:p14="http://schemas.microsoft.com/office/powerpoint/2010/main" val="933236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Tinned tuna</a:t>
            </a:r>
            <a:r>
              <a:rPr lang="en-GB" baseline="0" dirty="0"/>
              <a:t> – canning process removes omega 3</a:t>
            </a:r>
          </a:p>
        </p:txBody>
      </p:sp>
      <p:sp>
        <p:nvSpPr>
          <p:cNvPr id="4" name="Slide Number Placeholder 3"/>
          <p:cNvSpPr>
            <a:spLocks noGrp="1"/>
          </p:cNvSpPr>
          <p:nvPr>
            <p:ph type="sldNum" sz="quarter" idx="10"/>
          </p:nvPr>
        </p:nvSpPr>
        <p:spPr/>
        <p:txBody>
          <a:bodyPr/>
          <a:lstStyle/>
          <a:p>
            <a:fld id="{28E5FF13-FFC6-4F08-A6A2-BCF008B7D15D}" type="slidenum">
              <a:rPr lang="en-GB" smtClean="0"/>
              <a:t>17</a:t>
            </a:fld>
            <a:endParaRPr lang="en-GB"/>
          </a:p>
        </p:txBody>
      </p:sp>
    </p:spTree>
    <p:extLst>
      <p:ext uri="{BB962C8B-B14F-4D97-AF65-F5344CB8AC3E}">
        <p14:creationId xmlns:p14="http://schemas.microsoft.com/office/powerpoint/2010/main" val="244288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Lowering</a:t>
            </a:r>
            <a:r>
              <a:rPr lang="en-GB" baseline="0" dirty="0"/>
              <a:t> salt intake it is possible to reduce your blood pressure and therefore reduce your risk of developing heart disease and stroke</a:t>
            </a:r>
            <a:endParaRPr lang="en-GB" dirty="0"/>
          </a:p>
        </p:txBody>
      </p:sp>
      <p:sp>
        <p:nvSpPr>
          <p:cNvPr id="4" name="Slide Number Placeholder 3"/>
          <p:cNvSpPr>
            <a:spLocks noGrp="1"/>
          </p:cNvSpPr>
          <p:nvPr>
            <p:ph type="sldNum" sz="quarter" idx="10"/>
          </p:nvPr>
        </p:nvSpPr>
        <p:spPr/>
        <p:txBody>
          <a:bodyPr/>
          <a:lstStyle/>
          <a:p>
            <a:fld id="{28E5FF13-FFC6-4F08-A6A2-BCF008B7D15D}" type="slidenum">
              <a:rPr lang="en-GB" smtClean="0"/>
              <a:t>19</a:t>
            </a:fld>
            <a:endParaRPr lang="en-GB"/>
          </a:p>
        </p:txBody>
      </p:sp>
    </p:spTree>
    <p:extLst>
      <p:ext uri="{BB962C8B-B14F-4D97-AF65-F5344CB8AC3E}">
        <p14:creationId xmlns:p14="http://schemas.microsoft.com/office/powerpoint/2010/main" val="1662953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a:t>
            </a:r>
            <a:r>
              <a:rPr lang="en-GB" baseline="0" dirty="0"/>
              <a:t> 500Kcal reduction in energy daily can result in healthy weight loss of 1-2lbs</a:t>
            </a:r>
            <a:endParaRPr lang="en-GB" dirty="0"/>
          </a:p>
        </p:txBody>
      </p:sp>
      <p:sp>
        <p:nvSpPr>
          <p:cNvPr id="4" name="Slide Number Placeholder 3"/>
          <p:cNvSpPr>
            <a:spLocks noGrp="1"/>
          </p:cNvSpPr>
          <p:nvPr>
            <p:ph type="sldNum" sz="quarter" idx="10"/>
          </p:nvPr>
        </p:nvSpPr>
        <p:spPr/>
        <p:txBody>
          <a:bodyPr/>
          <a:lstStyle/>
          <a:p>
            <a:fld id="{28E5FF13-FFC6-4F08-A6A2-BCF008B7D15D}" type="slidenum">
              <a:rPr lang="en-GB" smtClean="0"/>
              <a:t>23</a:t>
            </a:fld>
            <a:endParaRPr lang="en-GB"/>
          </a:p>
        </p:txBody>
      </p:sp>
    </p:spTree>
    <p:extLst>
      <p:ext uri="{BB962C8B-B14F-4D97-AF65-F5344CB8AC3E}">
        <p14:creationId xmlns:p14="http://schemas.microsoft.com/office/powerpoint/2010/main" val="2306443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a:t>
            </a:r>
            <a:r>
              <a:rPr lang="en-GB" baseline="0" dirty="0"/>
              <a:t> you would like more in depth, tailored advice about your diet or specific medical condition ask your GP to refer you to a dietitian</a:t>
            </a:r>
            <a:endParaRPr lang="en-GB" dirty="0"/>
          </a:p>
        </p:txBody>
      </p:sp>
      <p:sp>
        <p:nvSpPr>
          <p:cNvPr id="4" name="Slide Number Placeholder 3"/>
          <p:cNvSpPr>
            <a:spLocks noGrp="1"/>
          </p:cNvSpPr>
          <p:nvPr>
            <p:ph type="sldNum" sz="quarter" idx="10"/>
          </p:nvPr>
        </p:nvSpPr>
        <p:spPr/>
        <p:txBody>
          <a:bodyPr/>
          <a:lstStyle/>
          <a:p>
            <a:fld id="{28E5FF13-FFC6-4F08-A6A2-BCF008B7D15D}" type="slidenum">
              <a:rPr lang="en-GB" smtClean="0"/>
              <a:t>25</a:t>
            </a:fld>
            <a:endParaRPr lang="en-GB"/>
          </a:p>
        </p:txBody>
      </p:sp>
    </p:spTree>
    <p:extLst>
      <p:ext uri="{BB962C8B-B14F-4D97-AF65-F5344CB8AC3E}">
        <p14:creationId xmlns:p14="http://schemas.microsoft.com/office/powerpoint/2010/main" val="3681000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469A94B7-7EDC-4ABD-905F-2FEA80238F26}" type="datetimeFigureOut">
              <a:rPr lang="en-GB" smtClean="0"/>
              <a:t>08/12/2023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F4AE99-5CCD-445F-94F0-AB02F3D232A4}" type="slidenum">
              <a:rPr lang="en-GB" smtClean="0"/>
              <a:t>‹#›</a:t>
            </a:fld>
            <a:endParaRPr lang="en-GB"/>
          </a:p>
        </p:txBody>
      </p:sp>
    </p:spTree>
    <p:extLst>
      <p:ext uri="{BB962C8B-B14F-4D97-AF65-F5344CB8AC3E}">
        <p14:creationId xmlns:p14="http://schemas.microsoft.com/office/powerpoint/2010/main" val="419649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69A94B7-7EDC-4ABD-905F-2FEA80238F26}" type="datetimeFigureOut">
              <a:rPr lang="en-GB" smtClean="0"/>
              <a:t>08/12/2023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F4AE99-5CCD-445F-94F0-AB02F3D232A4}" type="slidenum">
              <a:rPr lang="en-GB" smtClean="0"/>
              <a:t>‹#›</a:t>
            </a:fld>
            <a:endParaRPr lang="en-GB"/>
          </a:p>
        </p:txBody>
      </p:sp>
    </p:spTree>
    <p:extLst>
      <p:ext uri="{BB962C8B-B14F-4D97-AF65-F5344CB8AC3E}">
        <p14:creationId xmlns:p14="http://schemas.microsoft.com/office/powerpoint/2010/main" val="2201095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9A94B7-7EDC-4ABD-905F-2FEA80238F26}" type="datetimeFigureOut">
              <a:rPr lang="en-GB" smtClean="0"/>
              <a:t>08/12/2023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F4AE99-5CCD-445F-94F0-AB02F3D232A4}" type="slidenum">
              <a:rPr lang="en-GB" smtClean="0"/>
              <a:t>‹#›</a:t>
            </a:fld>
            <a:endParaRPr lang="en-GB"/>
          </a:p>
        </p:txBody>
      </p:sp>
    </p:spTree>
    <p:extLst>
      <p:ext uri="{BB962C8B-B14F-4D97-AF65-F5344CB8AC3E}">
        <p14:creationId xmlns:p14="http://schemas.microsoft.com/office/powerpoint/2010/main" val="1648342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69A94B7-7EDC-4ABD-905F-2FEA80238F26}" type="datetimeFigureOut">
              <a:rPr lang="en-GB" smtClean="0"/>
              <a:t>08/12/2023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F4AE99-5CCD-445F-94F0-AB02F3D232A4}" type="slidenum">
              <a:rPr lang="en-GB" smtClean="0"/>
              <a:t>‹#›</a:t>
            </a:fld>
            <a:endParaRPr lang="en-GB"/>
          </a:p>
        </p:txBody>
      </p:sp>
    </p:spTree>
    <p:extLst>
      <p:ext uri="{BB962C8B-B14F-4D97-AF65-F5344CB8AC3E}">
        <p14:creationId xmlns:p14="http://schemas.microsoft.com/office/powerpoint/2010/main" val="1119248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69A94B7-7EDC-4ABD-905F-2FEA80238F26}" type="datetimeFigureOut">
              <a:rPr lang="en-GB" smtClean="0"/>
              <a:t>08/12/2023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EF4AE99-5CCD-445F-94F0-AB02F3D232A4}" type="slidenum">
              <a:rPr lang="en-GB" smtClean="0"/>
              <a:t>‹#›</a:t>
            </a:fld>
            <a:endParaRPr lang="en-GB"/>
          </a:p>
        </p:txBody>
      </p:sp>
    </p:spTree>
    <p:extLst>
      <p:ext uri="{BB962C8B-B14F-4D97-AF65-F5344CB8AC3E}">
        <p14:creationId xmlns:p14="http://schemas.microsoft.com/office/powerpoint/2010/main" val="4117696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69A94B7-7EDC-4ABD-905F-2FEA80238F26}" type="datetimeFigureOut">
              <a:rPr lang="en-GB" smtClean="0"/>
              <a:t>08/12/2023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EF4AE99-5CCD-445F-94F0-AB02F3D232A4}" type="slidenum">
              <a:rPr lang="en-GB" smtClean="0"/>
              <a:t>‹#›</a:t>
            </a:fld>
            <a:endParaRPr lang="en-GB"/>
          </a:p>
        </p:txBody>
      </p:sp>
    </p:spTree>
    <p:extLst>
      <p:ext uri="{BB962C8B-B14F-4D97-AF65-F5344CB8AC3E}">
        <p14:creationId xmlns:p14="http://schemas.microsoft.com/office/powerpoint/2010/main" val="4222545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9A94B7-7EDC-4ABD-905F-2FEA80238F26}" type="datetimeFigureOut">
              <a:rPr lang="en-GB" smtClean="0"/>
              <a:t>08/12/2023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EF4AE99-5CCD-445F-94F0-AB02F3D232A4}" type="slidenum">
              <a:rPr lang="en-GB" smtClean="0"/>
              <a:t>‹#›</a:t>
            </a:fld>
            <a:endParaRPr lang="en-GB"/>
          </a:p>
        </p:txBody>
      </p:sp>
    </p:spTree>
    <p:extLst>
      <p:ext uri="{BB962C8B-B14F-4D97-AF65-F5344CB8AC3E}">
        <p14:creationId xmlns:p14="http://schemas.microsoft.com/office/powerpoint/2010/main" val="610634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9A94B7-7EDC-4ABD-905F-2FEA80238F26}" type="datetimeFigureOut">
              <a:rPr lang="en-GB" smtClean="0"/>
              <a:t>08/12/2023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F4AE99-5CCD-445F-94F0-AB02F3D232A4}" type="slidenum">
              <a:rPr lang="en-GB" smtClean="0"/>
              <a:t>‹#›</a:t>
            </a:fld>
            <a:endParaRPr lang="en-GB"/>
          </a:p>
        </p:txBody>
      </p:sp>
    </p:spTree>
    <p:extLst>
      <p:ext uri="{BB962C8B-B14F-4D97-AF65-F5344CB8AC3E}">
        <p14:creationId xmlns:p14="http://schemas.microsoft.com/office/powerpoint/2010/main" val="2824381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9A94B7-7EDC-4ABD-905F-2FEA80238F26}" type="datetimeFigureOut">
              <a:rPr lang="en-GB" smtClean="0"/>
              <a:t>08/12/2023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F4AE99-5CCD-445F-94F0-AB02F3D232A4}" type="slidenum">
              <a:rPr lang="en-GB" smtClean="0"/>
              <a:t>‹#›</a:t>
            </a:fld>
            <a:endParaRPr lang="en-GB"/>
          </a:p>
        </p:txBody>
      </p:sp>
    </p:spTree>
    <p:extLst>
      <p:ext uri="{BB962C8B-B14F-4D97-AF65-F5344CB8AC3E}">
        <p14:creationId xmlns:p14="http://schemas.microsoft.com/office/powerpoint/2010/main" val="1600655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69A94B7-7EDC-4ABD-905F-2FEA80238F26}" type="datetimeFigureOut">
              <a:rPr lang="en-GB" smtClean="0"/>
              <a:t>08/12/2023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F4AE99-5CCD-445F-94F0-AB02F3D232A4}" type="slidenum">
              <a:rPr lang="en-GB" smtClean="0"/>
              <a:t>‹#›</a:t>
            </a:fld>
            <a:endParaRPr lang="en-GB"/>
          </a:p>
        </p:txBody>
      </p:sp>
    </p:spTree>
    <p:extLst>
      <p:ext uri="{BB962C8B-B14F-4D97-AF65-F5344CB8AC3E}">
        <p14:creationId xmlns:p14="http://schemas.microsoft.com/office/powerpoint/2010/main" val="3341018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69A94B7-7EDC-4ABD-905F-2FEA80238F26}" type="datetimeFigureOut">
              <a:rPr lang="en-GB" smtClean="0"/>
              <a:t>08/12/2023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F4AE99-5CCD-445F-94F0-AB02F3D232A4}" type="slidenum">
              <a:rPr lang="en-GB" smtClean="0"/>
              <a:t>‹#›</a:t>
            </a:fld>
            <a:endParaRPr lang="en-GB"/>
          </a:p>
        </p:txBody>
      </p:sp>
    </p:spTree>
    <p:extLst>
      <p:ext uri="{BB962C8B-B14F-4D97-AF65-F5344CB8AC3E}">
        <p14:creationId xmlns:p14="http://schemas.microsoft.com/office/powerpoint/2010/main" val="2478440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5000"/>
            <a:lum/>
          </a:blip>
          <a:srcRect/>
          <a:stretch>
            <a:fillRect t="-47000" b="-4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9A94B7-7EDC-4ABD-905F-2FEA80238F26}" type="datetimeFigureOut">
              <a:rPr lang="en-GB" smtClean="0"/>
              <a:t>08/12/2023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F4AE99-5CCD-445F-94F0-AB02F3D232A4}" type="slidenum">
              <a:rPr lang="en-GB" smtClean="0"/>
              <a:t>‹#›</a:t>
            </a:fld>
            <a:endParaRPr lang="en-GB"/>
          </a:p>
        </p:txBody>
      </p:sp>
    </p:spTree>
    <p:extLst>
      <p:ext uri="{BB962C8B-B14F-4D97-AF65-F5344CB8AC3E}">
        <p14:creationId xmlns:p14="http://schemas.microsoft.com/office/powerpoint/2010/main" val="465521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craftstylish.com/assets/uploads/posts/40252/fish1_lg.jpg"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24.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a:t>Leading a Healthy Lifestyle</a:t>
            </a:r>
          </a:p>
        </p:txBody>
      </p:sp>
      <p:sp>
        <p:nvSpPr>
          <p:cNvPr id="3" name="Subtitle 2"/>
          <p:cNvSpPr>
            <a:spLocks noGrp="1"/>
          </p:cNvSpPr>
          <p:nvPr>
            <p:ph type="subTitle" idx="1"/>
          </p:nvPr>
        </p:nvSpPr>
        <p:spPr/>
        <p:txBody>
          <a:bodyPr>
            <a:normAutofit fontScale="85000" lnSpcReduction="20000"/>
          </a:bodyPr>
          <a:lstStyle/>
          <a:p>
            <a:r>
              <a:rPr lang="en-GB" dirty="0">
                <a:solidFill>
                  <a:schemeClr val="tx1"/>
                </a:solidFill>
              </a:rPr>
              <a:t>SHARAN .N</a:t>
            </a:r>
          </a:p>
          <a:p>
            <a:r>
              <a:rPr lang="en-GB" dirty="0">
                <a:solidFill>
                  <a:schemeClr val="tx1"/>
                </a:solidFill>
              </a:rPr>
              <a:t>NEERAJ S GOWDA</a:t>
            </a:r>
          </a:p>
          <a:p>
            <a:r>
              <a:rPr lang="en-GB" dirty="0">
                <a:solidFill>
                  <a:schemeClr val="tx1"/>
                </a:solidFill>
              </a:rPr>
              <a:t>MANASA S RAO</a:t>
            </a:r>
          </a:p>
          <a:p>
            <a:r>
              <a:rPr lang="en-GB" dirty="0">
                <a:solidFill>
                  <a:schemeClr val="tx1"/>
                </a:solidFill>
              </a:rPr>
              <a:t>G HARSITHA </a:t>
            </a:r>
          </a:p>
        </p:txBody>
      </p:sp>
    </p:spTree>
    <p:extLst>
      <p:ext uri="{BB962C8B-B14F-4D97-AF65-F5344CB8AC3E}">
        <p14:creationId xmlns:p14="http://schemas.microsoft.com/office/powerpoint/2010/main" val="2549368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Aims of the presentation</a:t>
            </a:r>
          </a:p>
        </p:txBody>
      </p:sp>
      <p:sp>
        <p:nvSpPr>
          <p:cNvPr id="3" name="Content Placeholder 2"/>
          <p:cNvSpPr>
            <a:spLocks noGrp="1"/>
          </p:cNvSpPr>
          <p:nvPr>
            <p:ph idx="1"/>
          </p:nvPr>
        </p:nvSpPr>
        <p:spPr/>
        <p:txBody>
          <a:bodyPr/>
          <a:lstStyle/>
          <a:p>
            <a:r>
              <a:rPr lang="en-GB" dirty="0"/>
              <a:t>To inform and discuss what a ‘healthy lifestyle’ means</a:t>
            </a:r>
          </a:p>
          <a:p>
            <a:r>
              <a:rPr lang="en-GB" dirty="0"/>
              <a:t>To help you identify health behaviours you could incorporate into your lifestyle</a:t>
            </a:r>
          </a:p>
          <a:p>
            <a:r>
              <a:rPr lang="en-GB" dirty="0"/>
              <a:t>To answer your questions on a healthy lifestyle</a:t>
            </a:r>
          </a:p>
        </p:txBody>
      </p:sp>
    </p:spTree>
    <p:extLst>
      <p:ext uri="{BB962C8B-B14F-4D97-AF65-F5344CB8AC3E}">
        <p14:creationId xmlns:p14="http://schemas.microsoft.com/office/powerpoint/2010/main" val="209220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‘The Holy Four’</a:t>
            </a:r>
          </a:p>
        </p:txBody>
      </p:sp>
      <p:sp>
        <p:nvSpPr>
          <p:cNvPr id="3" name="Content Placeholder 2"/>
          <p:cNvSpPr>
            <a:spLocks noGrp="1"/>
          </p:cNvSpPr>
          <p:nvPr>
            <p:ph idx="1"/>
          </p:nvPr>
        </p:nvSpPr>
        <p:spPr>
          <a:xfrm>
            <a:off x="457200" y="1772816"/>
            <a:ext cx="8229600" cy="4353347"/>
          </a:xfrm>
        </p:spPr>
        <p:txBody>
          <a:bodyPr>
            <a:normAutofit lnSpcReduction="10000"/>
          </a:bodyPr>
          <a:lstStyle/>
          <a:p>
            <a:pPr marL="0" indent="0">
              <a:buNone/>
            </a:pPr>
            <a:r>
              <a:rPr lang="en-GB" sz="3600" dirty="0"/>
              <a:t>Some researchers termed the following the holy 4 as they have a big impact on disease;</a:t>
            </a:r>
          </a:p>
          <a:p>
            <a:r>
              <a:rPr lang="en-GB" sz="3600" dirty="0"/>
              <a:t>Smoking</a:t>
            </a:r>
          </a:p>
          <a:p>
            <a:r>
              <a:rPr lang="en-GB" sz="3600" dirty="0"/>
              <a:t>Drinking</a:t>
            </a:r>
          </a:p>
          <a:p>
            <a:r>
              <a:rPr lang="en-GB" sz="3600" b="1" dirty="0">
                <a:solidFill>
                  <a:srgbClr val="008000"/>
                </a:solidFill>
              </a:rPr>
              <a:t>Nutrition</a:t>
            </a:r>
          </a:p>
          <a:p>
            <a:r>
              <a:rPr lang="en-GB" sz="3600" dirty="0"/>
              <a:t>Physical Activity</a:t>
            </a:r>
          </a:p>
        </p:txBody>
      </p:sp>
    </p:spTree>
    <p:extLst>
      <p:ext uri="{BB962C8B-B14F-4D97-AF65-F5344CB8AC3E}">
        <p14:creationId xmlns:p14="http://schemas.microsoft.com/office/powerpoint/2010/main" val="372612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3">
                                            <p:txEl>
                                              <p:pRg st="0" end="0"/>
                                            </p:txEl>
                                          </p:spTgt>
                                        </p:tgtEl>
                                        <p:attrNameLst>
                                          <p:attrName>r</p:attrName>
                                        </p:attrNameLst>
                                      </p:cBhvr>
                                    </p:animRot>
                                    <p:animRot by="-240000">
                                      <p:cBhvr>
                                        <p:cTn id="7" dur="200" fill="hold">
                                          <p:stCondLst>
                                            <p:cond delay="200"/>
                                          </p:stCondLst>
                                        </p:cTn>
                                        <p:tgtEl>
                                          <p:spTgt spid="3">
                                            <p:txEl>
                                              <p:pRg st="0" end="0"/>
                                            </p:txEl>
                                          </p:spTgt>
                                        </p:tgtEl>
                                        <p:attrNameLst>
                                          <p:attrName>r</p:attrName>
                                        </p:attrNameLst>
                                      </p:cBhvr>
                                    </p:animRot>
                                    <p:animRot by="240000">
                                      <p:cBhvr>
                                        <p:cTn id="8" dur="200" fill="hold">
                                          <p:stCondLst>
                                            <p:cond delay="400"/>
                                          </p:stCondLst>
                                        </p:cTn>
                                        <p:tgtEl>
                                          <p:spTgt spid="3">
                                            <p:txEl>
                                              <p:pRg st="0" end="0"/>
                                            </p:txEl>
                                          </p:spTgt>
                                        </p:tgtEl>
                                        <p:attrNameLst>
                                          <p:attrName>r</p:attrName>
                                        </p:attrNameLst>
                                      </p:cBhvr>
                                    </p:animRot>
                                    <p:animRot by="-240000">
                                      <p:cBhvr>
                                        <p:cTn id="9" dur="200" fill="hold">
                                          <p:stCondLst>
                                            <p:cond delay="600"/>
                                          </p:stCondLst>
                                        </p:cTn>
                                        <p:tgtEl>
                                          <p:spTgt spid="3">
                                            <p:txEl>
                                              <p:pRg st="0" end="0"/>
                                            </p:txEl>
                                          </p:spTgt>
                                        </p:tgtEl>
                                        <p:attrNameLst>
                                          <p:attrName>r</p:attrName>
                                        </p:attrNameLst>
                                      </p:cBhvr>
                                    </p:animRot>
                                    <p:animRot by="120000">
                                      <p:cBhvr>
                                        <p:cTn id="10" dur="200" fill="hold">
                                          <p:stCondLst>
                                            <p:cond delay="800"/>
                                          </p:stCondLst>
                                        </p:cTn>
                                        <p:tgtEl>
                                          <p:spTgt spid="3">
                                            <p:txEl>
                                              <p:pRg st="0" end="0"/>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2" presetClass="emph" presetSubtype="0" fill="hold" grpId="0" nodeType="clickEffect">
                                  <p:stCondLst>
                                    <p:cond delay="0"/>
                                  </p:stCondLst>
                                  <p:childTnLst>
                                    <p:animRot by="120000">
                                      <p:cBhvr>
                                        <p:cTn id="14" dur="100" fill="hold">
                                          <p:stCondLst>
                                            <p:cond delay="0"/>
                                          </p:stCondLst>
                                        </p:cTn>
                                        <p:tgtEl>
                                          <p:spTgt spid="3">
                                            <p:txEl>
                                              <p:pRg st="1" end="1"/>
                                            </p:txEl>
                                          </p:spTgt>
                                        </p:tgtEl>
                                        <p:attrNameLst>
                                          <p:attrName>r</p:attrName>
                                        </p:attrNameLst>
                                      </p:cBhvr>
                                    </p:animRot>
                                    <p:animRot by="-240000">
                                      <p:cBhvr>
                                        <p:cTn id="15" dur="200" fill="hold">
                                          <p:stCondLst>
                                            <p:cond delay="200"/>
                                          </p:stCondLst>
                                        </p:cTn>
                                        <p:tgtEl>
                                          <p:spTgt spid="3">
                                            <p:txEl>
                                              <p:pRg st="1" end="1"/>
                                            </p:txEl>
                                          </p:spTgt>
                                        </p:tgtEl>
                                        <p:attrNameLst>
                                          <p:attrName>r</p:attrName>
                                        </p:attrNameLst>
                                      </p:cBhvr>
                                    </p:animRot>
                                    <p:animRot by="240000">
                                      <p:cBhvr>
                                        <p:cTn id="16" dur="200" fill="hold">
                                          <p:stCondLst>
                                            <p:cond delay="400"/>
                                          </p:stCondLst>
                                        </p:cTn>
                                        <p:tgtEl>
                                          <p:spTgt spid="3">
                                            <p:txEl>
                                              <p:pRg st="1" end="1"/>
                                            </p:txEl>
                                          </p:spTgt>
                                        </p:tgtEl>
                                        <p:attrNameLst>
                                          <p:attrName>r</p:attrName>
                                        </p:attrNameLst>
                                      </p:cBhvr>
                                    </p:animRot>
                                    <p:animRot by="-240000">
                                      <p:cBhvr>
                                        <p:cTn id="17" dur="200" fill="hold">
                                          <p:stCondLst>
                                            <p:cond delay="600"/>
                                          </p:stCondLst>
                                        </p:cTn>
                                        <p:tgtEl>
                                          <p:spTgt spid="3">
                                            <p:txEl>
                                              <p:pRg st="1" end="1"/>
                                            </p:txEl>
                                          </p:spTgt>
                                        </p:tgtEl>
                                        <p:attrNameLst>
                                          <p:attrName>r</p:attrName>
                                        </p:attrNameLst>
                                      </p:cBhvr>
                                    </p:animRot>
                                    <p:animRot by="120000">
                                      <p:cBhvr>
                                        <p:cTn id="18" dur="200" fill="hold">
                                          <p:stCondLst>
                                            <p:cond delay="800"/>
                                          </p:stCondLst>
                                        </p:cTn>
                                        <p:tgtEl>
                                          <p:spTgt spid="3">
                                            <p:txEl>
                                              <p:pRg st="1" end="1"/>
                                            </p:txEl>
                                          </p:spTgt>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32" presetClass="emph" presetSubtype="0" fill="hold" grpId="0" nodeType="clickEffect">
                                  <p:stCondLst>
                                    <p:cond delay="0"/>
                                  </p:stCondLst>
                                  <p:childTnLst>
                                    <p:animRot by="120000">
                                      <p:cBhvr>
                                        <p:cTn id="22" dur="100" fill="hold">
                                          <p:stCondLst>
                                            <p:cond delay="0"/>
                                          </p:stCondLst>
                                        </p:cTn>
                                        <p:tgtEl>
                                          <p:spTgt spid="3">
                                            <p:txEl>
                                              <p:pRg st="2" end="2"/>
                                            </p:txEl>
                                          </p:spTgt>
                                        </p:tgtEl>
                                        <p:attrNameLst>
                                          <p:attrName>r</p:attrName>
                                        </p:attrNameLst>
                                      </p:cBhvr>
                                    </p:animRot>
                                    <p:animRot by="-240000">
                                      <p:cBhvr>
                                        <p:cTn id="23" dur="200" fill="hold">
                                          <p:stCondLst>
                                            <p:cond delay="200"/>
                                          </p:stCondLst>
                                        </p:cTn>
                                        <p:tgtEl>
                                          <p:spTgt spid="3">
                                            <p:txEl>
                                              <p:pRg st="2" end="2"/>
                                            </p:txEl>
                                          </p:spTgt>
                                        </p:tgtEl>
                                        <p:attrNameLst>
                                          <p:attrName>r</p:attrName>
                                        </p:attrNameLst>
                                      </p:cBhvr>
                                    </p:animRot>
                                    <p:animRot by="240000">
                                      <p:cBhvr>
                                        <p:cTn id="24" dur="200" fill="hold">
                                          <p:stCondLst>
                                            <p:cond delay="400"/>
                                          </p:stCondLst>
                                        </p:cTn>
                                        <p:tgtEl>
                                          <p:spTgt spid="3">
                                            <p:txEl>
                                              <p:pRg st="2" end="2"/>
                                            </p:txEl>
                                          </p:spTgt>
                                        </p:tgtEl>
                                        <p:attrNameLst>
                                          <p:attrName>r</p:attrName>
                                        </p:attrNameLst>
                                      </p:cBhvr>
                                    </p:animRot>
                                    <p:animRot by="-240000">
                                      <p:cBhvr>
                                        <p:cTn id="25" dur="200" fill="hold">
                                          <p:stCondLst>
                                            <p:cond delay="600"/>
                                          </p:stCondLst>
                                        </p:cTn>
                                        <p:tgtEl>
                                          <p:spTgt spid="3">
                                            <p:txEl>
                                              <p:pRg st="2" end="2"/>
                                            </p:txEl>
                                          </p:spTgt>
                                        </p:tgtEl>
                                        <p:attrNameLst>
                                          <p:attrName>r</p:attrName>
                                        </p:attrNameLst>
                                      </p:cBhvr>
                                    </p:animRot>
                                    <p:animRot by="120000">
                                      <p:cBhvr>
                                        <p:cTn id="26" dur="200" fill="hold">
                                          <p:stCondLst>
                                            <p:cond delay="800"/>
                                          </p:stCondLst>
                                        </p:cTn>
                                        <p:tgtEl>
                                          <p:spTgt spid="3">
                                            <p:txEl>
                                              <p:pRg st="2" end="2"/>
                                            </p:txEl>
                                          </p:spTgt>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32" presetClass="emph" presetSubtype="0" fill="hold" grpId="0" nodeType="clickEffect">
                                  <p:stCondLst>
                                    <p:cond delay="0"/>
                                  </p:stCondLst>
                                  <p:childTnLst>
                                    <p:animRot by="120000">
                                      <p:cBhvr>
                                        <p:cTn id="30" dur="100" fill="hold">
                                          <p:stCondLst>
                                            <p:cond delay="0"/>
                                          </p:stCondLst>
                                        </p:cTn>
                                        <p:tgtEl>
                                          <p:spTgt spid="3">
                                            <p:txEl>
                                              <p:pRg st="3" end="3"/>
                                            </p:txEl>
                                          </p:spTgt>
                                        </p:tgtEl>
                                        <p:attrNameLst>
                                          <p:attrName>r</p:attrName>
                                        </p:attrNameLst>
                                      </p:cBhvr>
                                    </p:animRot>
                                    <p:animRot by="-240000">
                                      <p:cBhvr>
                                        <p:cTn id="31" dur="200" fill="hold">
                                          <p:stCondLst>
                                            <p:cond delay="200"/>
                                          </p:stCondLst>
                                        </p:cTn>
                                        <p:tgtEl>
                                          <p:spTgt spid="3">
                                            <p:txEl>
                                              <p:pRg st="3" end="3"/>
                                            </p:txEl>
                                          </p:spTgt>
                                        </p:tgtEl>
                                        <p:attrNameLst>
                                          <p:attrName>r</p:attrName>
                                        </p:attrNameLst>
                                      </p:cBhvr>
                                    </p:animRot>
                                    <p:animRot by="240000">
                                      <p:cBhvr>
                                        <p:cTn id="32" dur="200" fill="hold">
                                          <p:stCondLst>
                                            <p:cond delay="400"/>
                                          </p:stCondLst>
                                        </p:cTn>
                                        <p:tgtEl>
                                          <p:spTgt spid="3">
                                            <p:txEl>
                                              <p:pRg st="3" end="3"/>
                                            </p:txEl>
                                          </p:spTgt>
                                        </p:tgtEl>
                                        <p:attrNameLst>
                                          <p:attrName>r</p:attrName>
                                        </p:attrNameLst>
                                      </p:cBhvr>
                                    </p:animRot>
                                    <p:animRot by="-240000">
                                      <p:cBhvr>
                                        <p:cTn id="33" dur="200" fill="hold">
                                          <p:stCondLst>
                                            <p:cond delay="600"/>
                                          </p:stCondLst>
                                        </p:cTn>
                                        <p:tgtEl>
                                          <p:spTgt spid="3">
                                            <p:txEl>
                                              <p:pRg st="3" end="3"/>
                                            </p:txEl>
                                          </p:spTgt>
                                        </p:tgtEl>
                                        <p:attrNameLst>
                                          <p:attrName>r</p:attrName>
                                        </p:attrNameLst>
                                      </p:cBhvr>
                                    </p:animRot>
                                    <p:animRot by="120000">
                                      <p:cBhvr>
                                        <p:cTn id="34" dur="200" fill="hold">
                                          <p:stCondLst>
                                            <p:cond delay="800"/>
                                          </p:stCondLst>
                                        </p:cTn>
                                        <p:tgtEl>
                                          <p:spTgt spid="3">
                                            <p:txEl>
                                              <p:pRg st="3" end="3"/>
                                            </p:txEl>
                                          </p:spTgt>
                                        </p:tgtEl>
                                        <p:attrNameLst>
                                          <p:attrName>r</p:attrName>
                                        </p:attrNameLst>
                                      </p:cBhvr>
                                    </p:animRot>
                                  </p:childTnLst>
                                </p:cTn>
                              </p:par>
                            </p:childTnLst>
                          </p:cTn>
                        </p:par>
                      </p:childTnLst>
                    </p:cTn>
                  </p:par>
                  <p:par>
                    <p:cTn id="35" fill="hold">
                      <p:stCondLst>
                        <p:cond delay="indefinite"/>
                      </p:stCondLst>
                      <p:childTnLst>
                        <p:par>
                          <p:cTn id="36" fill="hold">
                            <p:stCondLst>
                              <p:cond delay="0"/>
                            </p:stCondLst>
                            <p:childTnLst>
                              <p:par>
                                <p:cTn id="37" presetID="32" presetClass="emph" presetSubtype="0" fill="hold" grpId="0" nodeType="clickEffect">
                                  <p:stCondLst>
                                    <p:cond delay="0"/>
                                  </p:stCondLst>
                                  <p:childTnLst>
                                    <p:animRot by="120000">
                                      <p:cBhvr>
                                        <p:cTn id="38" dur="100" fill="hold">
                                          <p:stCondLst>
                                            <p:cond delay="0"/>
                                          </p:stCondLst>
                                        </p:cTn>
                                        <p:tgtEl>
                                          <p:spTgt spid="3">
                                            <p:txEl>
                                              <p:pRg st="4" end="4"/>
                                            </p:txEl>
                                          </p:spTgt>
                                        </p:tgtEl>
                                        <p:attrNameLst>
                                          <p:attrName>r</p:attrName>
                                        </p:attrNameLst>
                                      </p:cBhvr>
                                    </p:animRot>
                                    <p:animRot by="-240000">
                                      <p:cBhvr>
                                        <p:cTn id="39" dur="200" fill="hold">
                                          <p:stCondLst>
                                            <p:cond delay="200"/>
                                          </p:stCondLst>
                                        </p:cTn>
                                        <p:tgtEl>
                                          <p:spTgt spid="3">
                                            <p:txEl>
                                              <p:pRg st="4" end="4"/>
                                            </p:txEl>
                                          </p:spTgt>
                                        </p:tgtEl>
                                        <p:attrNameLst>
                                          <p:attrName>r</p:attrName>
                                        </p:attrNameLst>
                                      </p:cBhvr>
                                    </p:animRot>
                                    <p:animRot by="240000">
                                      <p:cBhvr>
                                        <p:cTn id="40" dur="200" fill="hold">
                                          <p:stCondLst>
                                            <p:cond delay="400"/>
                                          </p:stCondLst>
                                        </p:cTn>
                                        <p:tgtEl>
                                          <p:spTgt spid="3">
                                            <p:txEl>
                                              <p:pRg st="4" end="4"/>
                                            </p:txEl>
                                          </p:spTgt>
                                        </p:tgtEl>
                                        <p:attrNameLst>
                                          <p:attrName>r</p:attrName>
                                        </p:attrNameLst>
                                      </p:cBhvr>
                                    </p:animRot>
                                    <p:animRot by="-240000">
                                      <p:cBhvr>
                                        <p:cTn id="41" dur="200" fill="hold">
                                          <p:stCondLst>
                                            <p:cond delay="600"/>
                                          </p:stCondLst>
                                        </p:cTn>
                                        <p:tgtEl>
                                          <p:spTgt spid="3">
                                            <p:txEl>
                                              <p:pRg st="4" end="4"/>
                                            </p:txEl>
                                          </p:spTgt>
                                        </p:tgtEl>
                                        <p:attrNameLst>
                                          <p:attrName>r</p:attrName>
                                        </p:attrNameLst>
                                      </p:cBhvr>
                                    </p:animRot>
                                    <p:animRot by="120000">
                                      <p:cBhvr>
                                        <p:cTn id="42" dur="200" fill="hold">
                                          <p:stCondLst>
                                            <p:cond delay="800"/>
                                          </p:stCondLst>
                                        </p:cTn>
                                        <p:tgtEl>
                                          <p:spTgt spid="3">
                                            <p:txEl>
                                              <p:pRg st="4" end="4"/>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Exercise can be a walk in the park!</a:t>
            </a:r>
          </a:p>
        </p:txBody>
      </p:sp>
      <p:pic>
        <p:nvPicPr>
          <p:cNvPr id="1026" name="Picture 2" descr="C:\Users\Sarah\AppData\Local\Microsoft\Windows\Temporary Internet Files\Content.IE5\VIT1GWJT\MC900436163[1].wm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68144" y="1340768"/>
            <a:ext cx="2713057" cy="23762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55576" y="1412776"/>
            <a:ext cx="7128792" cy="4708981"/>
          </a:xfrm>
          <a:prstGeom prst="rect">
            <a:avLst/>
          </a:prstGeom>
          <a:noFill/>
        </p:spPr>
        <p:txBody>
          <a:bodyPr wrap="square" rtlCol="0">
            <a:spAutoFit/>
          </a:bodyPr>
          <a:lstStyle/>
          <a:p>
            <a:pPr marL="285750" indent="-285750">
              <a:buFont typeface="Arial" pitchFamily="34" charset="0"/>
              <a:buChar char="•"/>
            </a:pPr>
            <a:r>
              <a:rPr lang="en-GB" sz="2800" dirty="0"/>
              <a:t>A 30 minute</a:t>
            </a:r>
          </a:p>
          <a:p>
            <a:pPr marL="914400" lvl="1" indent="-457200">
              <a:buFont typeface="Wingdings" pitchFamily="2" charset="2"/>
              <a:buChar char="ü"/>
            </a:pPr>
            <a:r>
              <a:rPr lang="en-GB" sz="2800" dirty="0"/>
              <a:t>Brisk walk</a:t>
            </a:r>
          </a:p>
          <a:p>
            <a:pPr marL="914400" lvl="1" indent="-457200">
              <a:buFont typeface="Wingdings" pitchFamily="2" charset="2"/>
              <a:buChar char="ü"/>
            </a:pPr>
            <a:r>
              <a:rPr lang="en-GB" sz="2800" dirty="0"/>
              <a:t>Jogging</a:t>
            </a:r>
          </a:p>
          <a:p>
            <a:pPr marL="914400" lvl="1" indent="-457200">
              <a:buFont typeface="Wingdings" pitchFamily="2" charset="2"/>
              <a:buChar char="ü"/>
            </a:pPr>
            <a:r>
              <a:rPr lang="en-GB" sz="2800" dirty="0"/>
              <a:t>Cycling</a:t>
            </a:r>
          </a:p>
          <a:p>
            <a:pPr marL="914400" lvl="1" indent="-457200">
              <a:buFont typeface="Wingdings" pitchFamily="2" charset="2"/>
              <a:buChar char="ü"/>
            </a:pPr>
            <a:r>
              <a:rPr lang="en-GB" sz="2800" dirty="0"/>
              <a:t>Heavy gardening/housework</a:t>
            </a:r>
          </a:p>
          <a:p>
            <a:pPr marL="266700" lvl="1"/>
            <a:r>
              <a:rPr lang="en-GB" sz="2800" dirty="0"/>
              <a:t>…on &gt;5 days a week</a:t>
            </a:r>
          </a:p>
          <a:p>
            <a:pPr marL="285750" lvl="1" indent="-285750">
              <a:buFont typeface="Arial" pitchFamily="34" charset="0"/>
              <a:buChar char="•"/>
            </a:pPr>
            <a:endParaRPr lang="en-GB" sz="2800" dirty="0"/>
          </a:p>
          <a:p>
            <a:pPr marL="285750" lvl="1" indent="-285750">
              <a:buFont typeface="Arial" pitchFamily="34" charset="0"/>
              <a:buChar char="•"/>
            </a:pPr>
            <a:r>
              <a:rPr lang="en-GB" sz="2800" dirty="0"/>
              <a:t>If it gets you slightly out of breath and a bit sweaty its working!</a:t>
            </a:r>
          </a:p>
          <a:p>
            <a:pPr marL="285750" lvl="1" indent="-285750">
              <a:buFont typeface="Arial" pitchFamily="34" charset="0"/>
              <a:buChar char="•"/>
            </a:pPr>
            <a:r>
              <a:rPr lang="en-GB" sz="2800" dirty="0"/>
              <a:t>Two 15 minute bursts may be just as effective</a:t>
            </a:r>
          </a:p>
          <a:p>
            <a:pPr marL="285750" lvl="1" indent="-285750">
              <a:buFont typeface="Arial" pitchFamily="34" charset="0"/>
              <a:buChar char="•"/>
            </a:pPr>
            <a:endParaRPr lang="en-GB" sz="2000" dirty="0"/>
          </a:p>
        </p:txBody>
      </p:sp>
    </p:spTree>
    <p:extLst>
      <p:ext uri="{BB962C8B-B14F-4D97-AF65-F5344CB8AC3E}">
        <p14:creationId xmlns:p14="http://schemas.microsoft.com/office/powerpoint/2010/main" val="1771394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8401" t="9119" r="11806" b="4448"/>
          <a:stretch/>
        </p:blipFill>
        <p:spPr bwMode="auto">
          <a:xfrm>
            <a:off x="0" y="260648"/>
            <a:ext cx="9106136" cy="5805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8749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circle(in)">
                                      <p:cBhvr>
                                        <p:cTn id="7" dur="20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084168" y="6581001"/>
            <a:ext cx="3059832" cy="276999"/>
          </a:xfrm>
          <a:prstGeom prst="rect">
            <a:avLst/>
          </a:prstGeom>
          <a:noFill/>
        </p:spPr>
        <p:txBody>
          <a:bodyPr wrap="square" rtlCol="0">
            <a:spAutoFit/>
          </a:bodyPr>
          <a:lstStyle/>
          <a:p>
            <a:pPr algn="r"/>
            <a:r>
              <a:rPr lang="en-GB" sz="1200" dirty="0"/>
              <a:t>Proportions taken from food.gov.uk website</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4161525157"/>
              </p:ext>
            </p:extLst>
          </p:nvPr>
        </p:nvGraphicFramePr>
        <p:xfrm>
          <a:off x="457200" y="404664"/>
          <a:ext cx="8229600" cy="57214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737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Sarah\AppData\Local\Microsoft\Windows\Temporary Internet Files\Content.IE5\LYOM7L37\MP900448302[1].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9334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67544" y="404664"/>
            <a:ext cx="8229600" cy="1143000"/>
          </a:xfrm>
        </p:spPr>
        <p:txBody>
          <a:bodyPr/>
          <a:lstStyle/>
          <a:p>
            <a:r>
              <a:rPr lang="en-GB" b="1" dirty="0"/>
              <a:t>Why 5 a Day?</a:t>
            </a:r>
          </a:p>
        </p:txBody>
      </p:sp>
      <p:sp>
        <p:nvSpPr>
          <p:cNvPr id="5" name="TextBox 4"/>
          <p:cNvSpPr txBox="1"/>
          <p:nvPr/>
        </p:nvSpPr>
        <p:spPr>
          <a:xfrm>
            <a:off x="1259632" y="1412776"/>
            <a:ext cx="6192688" cy="4693593"/>
          </a:xfrm>
          <a:prstGeom prst="rect">
            <a:avLst/>
          </a:prstGeom>
          <a:noFill/>
        </p:spPr>
        <p:txBody>
          <a:bodyPr wrap="square" rtlCol="0">
            <a:spAutoFit/>
          </a:bodyPr>
          <a:lstStyle/>
          <a:p>
            <a:pPr algn="ctr"/>
            <a:r>
              <a:rPr lang="en-GB" sz="2500" dirty="0"/>
              <a:t>400g fruit and vegetables a day can help us to stay healthy</a:t>
            </a:r>
          </a:p>
          <a:p>
            <a:endParaRPr lang="en-GB" sz="2500" dirty="0"/>
          </a:p>
          <a:p>
            <a:pPr marL="285750" indent="-285750">
              <a:buFont typeface="Arial" pitchFamily="34" charset="0"/>
              <a:buChar char="•"/>
            </a:pPr>
            <a:r>
              <a:rPr lang="en-GB" sz="2500" dirty="0"/>
              <a:t>Great source of antioxidants, vitamins and minerals</a:t>
            </a:r>
          </a:p>
          <a:p>
            <a:pPr marL="285750" indent="-285750">
              <a:buFont typeface="Arial" pitchFamily="34" charset="0"/>
              <a:buChar char="•"/>
            </a:pPr>
            <a:r>
              <a:rPr lang="en-GB" sz="2500" dirty="0"/>
              <a:t>Make a good healthy, handy and sometimes cheap snack i.e. banana 19p!</a:t>
            </a:r>
          </a:p>
          <a:p>
            <a:pPr marL="285750" indent="-285750">
              <a:buFont typeface="Arial" pitchFamily="34" charset="0"/>
              <a:buChar char="•"/>
            </a:pPr>
            <a:r>
              <a:rPr lang="en-GB" sz="2500" dirty="0"/>
              <a:t>Help to prevent constipation due to their high dietary fibre content</a:t>
            </a:r>
          </a:p>
          <a:p>
            <a:pPr marL="285750" indent="-285750">
              <a:buFont typeface="Arial" pitchFamily="34" charset="0"/>
              <a:buChar char="•"/>
            </a:pPr>
            <a:r>
              <a:rPr lang="en-GB" sz="2500" dirty="0"/>
              <a:t>May reduce risk of cancer, heart disease and stroke</a:t>
            </a:r>
          </a:p>
          <a:p>
            <a:endParaRPr lang="en-GB" sz="2400" dirty="0"/>
          </a:p>
        </p:txBody>
      </p:sp>
    </p:spTree>
    <p:extLst>
      <p:ext uri="{BB962C8B-B14F-4D97-AF65-F5344CB8AC3E}">
        <p14:creationId xmlns:p14="http://schemas.microsoft.com/office/powerpoint/2010/main" val="764416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descr="UK - NHS - Just Eat More"/>
          <p:cNvPicPr>
            <a:picLocks noChangeAspect="1" noChangeArrowheads="1"/>
          </p:cNvPicPr>
          <p:nvPr/>
        </p:nvPicPr>
        <p:blipFill rotWithShape="1">
          <a:blip r:embed="rId3">
            <a:extLst>
              <a:ext uri="{28A0092B-C50C-407E-A947-70E740481C1C}">
                <a14:useLocalDpi xmlns:a14="http://schemas.microsoft.com/office/drawing/2010/main" val="0"/>
              </a:ext>
            </a:extLst>
          </a:blip>
          <a:srcRect t="5503"/>
          <a:stretch/>
        </p:blipFill>
        <p:spPr bwMode="auto">
          <a:xfrm>
            <a:off x="539552" y="0"/>
            <a:ext cx="4608512" cy="68078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580112" y="260648"/>
            <a:ext cx="3096344" cy="584775"/>
          </a:xfrm>
          <a:prstGeom prst="rect">
            <a:avLst/>
          </a:prstGeom>
          <a:noFill/>
        </p:spPr>
        <p:txBody>
          <a:bodyPr wrap="square" rtlCol="0">
            <a:spAutoFit/>
          </a:bodyPr>
          <a:lstStyle/>
          <a:p>
            <a:r>
              <a:rPr lang="en-GB" sz="3200" b="1" dirty="0"/>
              <a:t>What Counts?</a:t>
            </a:r>
          </a:p>
        </p:txBody>
      </p:sp>
      <p:grpSp>
        <p:nvGrpSpPr>
          <p:cNvPr id="10" name="Group 9"/>
          <p:cNvGrpSpPr/>
          <p:nvPr/>
        </p:nvGrpSpPr>
        <p:grpSpPr>
          <a:xfrm>
            <a:off x="5868144" y="3140968"/>
            <a:ext cx="2520280" cy="3303188"/>
            <a:chOff x="5868144" y="1340768"/>
            <a:chExt cx="2520280" cy="3303188"/>
          </a:xfrm>
        </p:grpSpPr>
        <p:pic>
          <p:nvPicPr>
            <p:cNvPr id="1030" name="Picture 6" descr="http://www.juiceland.co.uk/images/5aday.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8144" y="1340768"/>
              <a:ext cx="2378571" cy="2333692"/>
            </a:xfrm>
            <a:prstGeom prst="rect">
              <a:avLst/>
            </a:prstGeom>
            <a:noFill/>
            <a:extLst>
              <a:ext uri="{909E8E84-426E-40DD-AFC4-6F175D3DCCD1}">
                <a14:hiddenFill xmlns:a14="http://schemas.microsoft.com/office/drawing/2010/main">
                  <a:solidFill>
                    <a:srgbClr val="FFFFFF"/>
                  </a:solidFill>
                </a14:hiddenFill>
              </a:ext>
            </a:extLst>
          </p:spPr>
        </p:pic>
        <p:sp>
          <p:nvSpPr>
            <p:cNvPr id="8" name="Up Arrow 7"/>
            <p:cNvSpPr/>
            <p:nvPr/>
          </p:nvSpPr>
          <p:spPr>
            <a:xfrm>
              <a:off x="5976156" y="3859126"/>
              <a:ext cx="360040" cy="369332"/>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a:off x="6417204" y="3720626"/>
              <a:ext cx="1971220" cy="923330"/>
            </a:xfrm>
            <a:prstGeom prst="rect">
              <a:avLst/>
            </a:prstGeom>
            <a:noFill/>
          </p:spPr>
          <p:txBody>
            <a:bodyPr wrap="square" rtlCol="0">
              <a:spAutoFit/>
            </a:bodyPr>
            <a:lstStyle/>
            <a:p>
              <a:r>
                <a:rPr lang="en-GB" dirty="0"/>
                <a:t>Shows a product contains a number of 5 a day</a:t>
              </a:r>
            </a:p>
          </p:txBody>
        </p:sp>
      </p:grpSp>
      <p:sp>
        <p:nvSpPr>
          <p:cNvPr id="11" name="TextBox 10"/>
          <p:cNvSpPr txBox="1"/>
          <p:nvPr/>
        </p:nvSpPr>
        <p:spPr>
          <a:xfrm>
            <a:off x="5868144" y="888127"/>
            <a:ext cx="1822702" cy="1938992"/>
          </a:xfrm>
          <a:prstGeom prst="rect">
            <a:avLst/>
          </a:prstGeom>
          <a:noFill/>
        </p:spPr>
        <p:txBody>
          <a:bodyPr wrap="square" rtlCol="0">
            <a:spAutoFit/>
          </a:bodyPr>
          <a:lstStyle/>
          <a:p>
            <a:pPr marL="285750" indent="-285750">
              <a:buFont typeface="Wingdings" pitchFamily="2" charset="2"/>
              <a:buChar char="ü"/>
            </a:pPr>
            <a:r>
              <a:rPr lang="en-GB" sz="2400" dirty="0"/>
              <a:t>Fresh</a:t>
            </a:r>
          </a:p>
          <a:p>
            <a:pPr marL="285750" indent="-285750">
              <a:buFont typeface="Wingdings" pitchFamily="2" charset="2"/>
              <a:buChar char="ü"/>
            </a:pPr>
            <a:r>
              <a:rPr lang="en-GB" sz="2400" dirty="0"/>
              <a:t>Frozen</a:t>
            </a:r>
          </a:p>
          <a:p>
            <a:pPr marL="285750" indent="-285750">
              <a:buFont typeface="Wingdings" pitchFamily="2" charset="2"/>
              <a:buChar char="ü"/>
            </a:pPr>
            <a:r>
              <a:rPr lang="en-GB" sz="2400" dirty="0"/>
              <a:t>Tinned</a:t>
            </a:r>
          </a:p>
          <a:p>
            <a:pPr marL="285750" indent="-285750">
              <a:buFont typeface="Wingdings" pitchFamily="2" charset="2"/>
              <a:buChar char="ü"/>
            </a:pPr>
            <a:r>
              <a:rPr lang="en-GB" sz="2400" dirty="0"/>
              <a:t>Canned</a:t>
            </a:r>
          </a:p>
          <a:p>
            <a:pPr marL="285750" indent="-285750">
              <a:buFont typeface="Wingdings" pitchFamily="2" charset="2"/>
              <a:buChar char="ü"/>
            </a:pPr>
            <a:r>
              <a:rPr lang="en-GB" sz="2400" dirty="0"/>
              <a:t>Dried</a:t>
            </a:r>
          </a:p>
        </p:txBody>
      </p:sp>
    </p:spTree>
    <p:extLst>
      <p:ext uri="{BB962C8B-B14F-4D97-AF65-F5344CB8AC3E}">
        <p14:creationId xmlns:p14="http://schemas.microsoft.com/office/powerpoint/2010/main" val="3094063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xit" presetSubtype="32" fill="hold" nodeType="clickEffect">
                                  <p:stCondLst>
                                    <p:cond delay="0"/>
                                  </p:stCondLst>
                                  <p:childTnLst>
                                    <p:anim calcmode="lin" valueType="num">
                                      <p:cBhvr>
                                        <p:cTn id="12" dur="500"/>
                                        <p:tgtEl>
                                          <p:spTgt spid="1028"/>
                                        </p:tgtEl>
                                        <p:attrNameLst>
                                          <p:attrName>ppt_w</p:attrName>
                                        </p:attrNameLst>
                                      </p:cBhvr>
                                      <p:tavLst>
                                        <p:tav tm="0">
                                          <p:val>
                                            <p:strVal val="ppt_w"/>
                                          </p:val>
                                        </p:tav>
                                        <p:tav tm="100000">
                                          <p:val>
                                            <p:fltVal val="0"/>
                                          </p:val>
                                        </p:tav>
                                      </p:tavLst>
                                    </p:anim>
                                    <p:anim calcmode="lin" valueType="num">
                                      <p:cBhvr>
                                        <p:cTn id="13" dur="500"/>
                                        <p:tgtEl>
                                          <p:spTgt spid="1028"/>
                                        </p:tgtEl>
                                        <p:attrNameLst>
                                          <p:attrName>ppt_h</p:attrName>
                                        </p:attrNameLst>
                                      </p:cBhvr>
                                      <p:tavLst>
                                        <p:tav tm="0">
                                          <p:val>
                                            <p:strVal val="ppt_h"/>
                                          </p:val>
                                        </p:tav>
                                        <p:tav tm="100000">
                                          <p:val>
                                            <p:fltVal val="0"/>
                                          </p:val>
                                        </p:tav>
                                      </p:tavLst>
                                    </p:anim>
                                    <p:animEffect transition="out" filter="fade">
                                      <p:cBhvr>
                                        <p:cTn id="14" dur="500"/>
                                        <p:tgtEl>
                                          <p:spTgt spid="1028"/>
                                        </p:tgtEl>
                                      </p:cBhvr>
                                    </p:animEffect>
                                    <p:set>
                                      <p:cBhvr>
                                        <p:cTn id="15" dur="1" fill="hold">
                                          <p:stCondLst>
                                            <p:cond delay="499"/>
                                          </p:stCondLst>
                                        </p:cTn>
                                        <p:tgtEl>
                                          <p:spTgt spid="10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Carbohydrates</a:t>
            </a:r>
          </a:p>
        </p:txBody>
      </p:sp>
      <p:sp>
        <p:nvSpPr>
          <p:cNvPr id="3" name="Content Placeholder 2"/>
          <p:cNvSpPr>
            <a:spLocks noGrp="1"/>
          </p:cNvSpPr>
          <p:nvPr>
            <p:ph idx="1"/>
          </p:nvPr>
        </p:nvSpPr>
        <p:spPr>
          <a:xfrm>
            <a:off x="457200" y="1600200"/>
            <a:ext cx="8229600" cy="4997152"/>
          </a:xfrm>
        </p:spPr>
        <p:txBody>
          <a:bodyPr>
            <a:normAutofit fontScale="92500" lnSpcReduction="20000"/>
          </a:bodyPr>
          <a:lstStyle/>
          <a:p>
            <a:pPr marL="0" indent="0">
              <a:buNone/>
            </a:pPr>
            <a:r>
              <a:rPr lang="en-GB" b="1" i="1" u="sng" dirty="0"/>
              <a:t>Q: </a:t>
            </a:r>
            <a:r>
              <a:rPr lang="en-GB" i="1" u="sng" dirty="0"/>
              <a:t>What are they?</a:t>
            </a:r>
          </a:p>
          <a:p>
            <a:pPr marL="0" indent="0">
              <a:buNone/>
            </a:pPr>
            <a:r>
              <a:rPr lang="en-GB" b="1" dirty="0"/>
              <a:t>A: </a:t>
            </a:r>
            <a:r>
              <a:rPr lang="en-GB" dirty="0"/>
              <a:t>Sugars and starches that provide our bodies with energy (calories) to function</a:t>
            </a:r>
          </a:p>
          <a:p>
            <a:pPr marL="0" indent="0">
              <a:buNone/>
            </a:pPr>
            <a:endParaRPr lang="en-GB" sz="1500" dirty="0"/>
          </a:p>
          <a:p>
            <a:pPr marL="0" indent="0">
              <a:buNone/>
            </a:pPr>
            <a:r>
              <a:rPr lang="en-GB" dirty="0"/>
              <a:t>Dietary sources come in two forms;</a:t>
            </a:r>
          </a:p>
          <a:p>
            <a:r>
              <a:rPr lang="en-GB" dirty="0"/>
              <a:t>Simple</a:t>
            </a:r>
          </a:p>
          <a:p>
            <a:pPr lvl="1"/>
            <a:r>
              <a:rPr lang="en-GB" dirty="0"/>
              <a:t>Fructose (fruit sugar), sucrose (table sugar), lactose (milk sugar) and glucose</a:t>
            </a:r>
          </a:p>
          <a:p>
            <a:pPr lvl="1"/>
            <a:r>
              <a:rPr lang="en-GB" dirty="0"/>
              <a:t>Sweets, sugary pop</a:t>
            </a:r>
          </a:p>
          <a:p>
            <a:r>
              <a:rPr lang="en-GB" dirty="0"/>
              <a:t>Complex/starchy</a:t>
            </a:r>
          </a:p>
          <a:p>
            <a:pPr lvl="1"/>
            <a:r>
              <a:rPr lang="en-GB" dirty="0"/>
              <a:t>Bread, flour, rice, pasta, breakfast cereals</a:t>
            </a:r>
          </a:p>
          <a:p>
            <a:pPr lvl="1"/>
            <a:r>
              <a:rPr lang="en-GB" dirty="0"/>
              <a:t>Good source of calcium, iron and B vitamins</a:t>
            </a:r>
          </a:p>
        </p:txBody>
      </p:sp>
    </p:spTree>
    <p:extLst>
      <p:ext uri="{BB962C8B-B14F-4D97-AF65-F5344CB8AC3E}">
        <p14:creationId xmlns:p14="http://schemas.microsoft.com/office/powerpoint/2010/main" val="879236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548680"/>
            <a:ext cx="8229600" cy="5976664"/>
          </a:xfrm>
        </p:spPr>
        <p:txBody>
          <a:bodyPr>
            <a:normAutofit/>
          </a:bodyPr>
          <a:lstStyle/>
          <a:p>
            <a:r>
              <a:rPr lang="en-GB" dirty="0"/>
              <a:t>Fruit and vegetables and pulses also provide carbohydrates; a mixture of starches and sugars</a:t>
            </a:r>
          </a:p>
          <a:p>
            <a:pPr marL="0" indent="0">
              <a:buNone/>
            </a:pPr>
            <a:endParaRPr lang="en-GB" sz="1400" dirty="0"/>
          </a:p>
          <a:p>
            <a:pPr marL="0" indent="0">
              <a:buNone/>
            </a:pPr>
            <a:r>
              <a:rPr lang="en-GB" dirty="0"/>
              <a:t>Recommended dietary intake: </a:t>
            </a:r>
            <a:r>
              <a:rPr lang="en-GB" b="1" dirty="0"/>
              <a:t>33% starchy</a:t>
            </a:r>
            <a:r>
              <a:rPr lang="en-GB" dirty="0"/>
              <a:t> </a:t>
            </a:r>
            <a:r>
              <a:rPr lang="en-GB" b="1" dirty="0"/>
              <a:t>carbs, 50% total carbs</a:t>
            </a:r>
            <a:endParaRPr lang="en-GB" dirty="0"/>
          </a:p>
          <a:p>
            <a:pPr indent="-250825"/>
            <a:r>
              <a:rPr lang="en-GB" sz="2800" dirty="0"/>
              <a:t>Our bodies store unused carbohydrate in the liver and muscles but when full, excess carbohydrate is stored as fat</a:t>
            </a:r>
          </a:p>
          <a:p>
            <a:pPr marL="342900" lvl="1" indent="-250825">
              <a:buFont typeface="Arial" pitchFamily="34" charset="0"/>
              <a:buChar char="•"/>
              <a:tabLst>
                <a:tab pos="360363" algn="l"/>
              </a:tabLst>
            </a:pPr>
            <a:r>
              <a:rPr lang="en-GB" dirty="0"/>
              <a:t>Too little carbs </a:t>
            </a:r>
            <a:r>
              <a:rPr lang="en-GB" dirty="0">
                <a:sym typeface="Wingdings" pitchFamily="2" charset="2"/>
              </a:rPr>
              <a:t> weakness, poor concentration (not enough fuel to the brain), constipation</a:t>
            </a:r>
          </a:p>
        </p:txBody>
      </p:sp>
    </p:spTree>
    <p:extLst>
      <p:ext uri="{BB962C8B-B14F-4D97-AF65-F5344CB8AC3E}">
        <p14:creationId xmlns:p14="http://schemas.microsoft.com/office/powerpoint/2010/main" val="674673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Whole grains</a:t>
            </a:r>
          </a:p>
        </p:txBody>
      </p:sp>
      <p:sp>
        <p:nvSpPr>
          <p:cNvPr id="3" name="Content Placeholder 2"/>
          <p:cNvSpPr>
            <a:spLocks noGrp="1"/>
          </p:cNvSpPr>
          <p:nvPr>
            <p:ph idx="1"/>
          </p:nvPr>
        </p:nvSpPr>
        <p:spPr>
          <a:xfrm>
            <a:off x="457200" y="1340768"/>
            <a:ext cx="8229600" cy="4785395"/>
          </a:xfrm>
        </p:spPr>
        <p:txBody>
          <a:bodyPr>
            <a:noAutofit/>
          </a:bodyPr>
          <a:lstStyle/>
          <a:p>
            <a:r>
              <a:rPr lang="en-GB" sz="2600" dirty="0"/>
              <a:t>Wheat, barely, rye, oats and rice</a:t>
            </a:r>
          </a:p>
          <a:p>
            <a:r>
              <a:rPr lang="en-GB" sz="2600" dirty="0"/>
              <a:t>3 layers;</a:t>
            </a:r>
          </a:p>
          <a:p>
            <a:pPr lvl="1"/>
            <a:r>
              <a:rPr lang="en-GB" sz="2600" dirty="0"/>
              <a:t>Fibre rich outer layer (bran)</a:t>
            </a:r>
          </a:p>
          <a:p>
            <a:pPr lvl="1"/>
            <a:r>
              <a:rPr lang="en-GB" sz="2600" dirty="0"/>
              <a:t>Nutrient packed inner area (germ)</a:t>
            </a:r>
          </a:p>
          <a:p>
            <a:pPr lvl="1"/>
            <a:r>
              <a:rPr lang="en-GB" sz="2600" dirty="0"/>
              <a:t>Central starchy part (endosperm)</a:t>
            </a:r>
          </a:p>
          <a:p>
            <a:pPr lvl="1"/>
            <a:endParaRPr lang="en-GB" sz="2600" dirty="0"/>
          </a:p>
          <a:p>
            <a:pPr marL="525463" lvl="1" indent="-457200">
              <a:buFont typeface="Arial" pitchFamily="34" charset="0"/>
              <a:buChar char="•"/>
            </a:pPr>
            <a:r>
              <a:rPr lang="en-GB" sz="2600" dirty="0"/>
              <a:t>Processing removes the bran and germ </a:t>
            </a:r>
            <a:r>
              <a:rPr lang="en-GB" sz="2600" dirty="0">
                <a:sym typeface="Wingdings" pitchFamily="2" charset="2"/>
              </a:rPr>
              <a:t></a:t>
            </a:r>
            <a:r>
              <a:rPr lang="en-GB" sz="2600" dirty="0"/>
              <a:t> white variety</a:t>
            </a:r>
          </a:p>
          <a:p>
            <a:pPr marL="525463" lvl="1" indent="-457200">
              <a:buFont typeface="Arial" pitchFamily="34" charset="0"/>
              <a:buChar char="•"/>
            </a:pPr>
            <a:r>
              <a:rPr lang="en-GB" sz="2600" dirty="0"/>
              <a:t>Surveys show 95% of adults don’t consume enough</a:t>
            </a:r>
          </a:p>
          <a:p>
            <a:pPr marL="525463" lvl="1" indent="-457200">
              <a:buFont typeface="Arial" pitchFamily="34" charset="0"/>
              <a:buChar char="•"/>
            </a:pPr>
            <a:r>
              <a:rPr lang="en-GB" sz="2600" dirty="0"/>
              <a:t>Soluble &amp; non-soluble fibre to prevent constipation, lower cholesterol and encourage healthy gut bacteria</a:t>
            </a:r>
          </a:p>
        </p:txBody>
      </p:sp>
      <p:pic>
        <p:nvPicPr>
          <p:cNvPr id="4" name="Picture 2" descr="C:\Users\Sarah\AppData\Local\Microsoft\Windows\Temporary Internet Files\Content.IE5\VIT1GWJT\MP90042775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55601" y="1268760"/>
            <a:ext cx="1848848" cy="2771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927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heel(1)">
                                      <p:cBhvr>
                                        <p:cTn id="12" dur="2000"/>
                                        <p:tgtEl>
                                          <p:spTgt spid="3">
                                            <p:txEl>
                                              <p:pRg st="1" end="1"/>
                                            </p:txEl>
                                          </p:spTgt>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heel(1)">
                                      <p:cBhvr>
                                        <p:cTn id="15" dur="2000"/>
                                        <p:tgtEl>
                                          <p:spTgt spid="3">
                                            <p:txEl>
                                              <p:pRg st="2" end="2"/>
                                            </p:txEl>
                                          </p:spTgt>
                                        </p:tgtEl>
                                      </p:cBhvr>
                                    </p:animEffect>
                                  </p:childTnLst>
                                </p:cTn>
                              </p:par>
                              <p:par>
                                <p:cTn id="16" presetID="21" presetClass="entr" presetSubtype="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heel(1)">
                                      <p:cBhvr>
                                        <p:cTn id="18" dur="2000"/>
                                        <p:tgtEl>
                                          <p:spTgt spid="3">
                                            <p:txEl>
                                              <p:pRg st="3" end="3"/>
                                            </p:txEl>
                                          </p:spTgt>
                                        </p:tgtEl>
                                      </p:cBhvr>
                                    </p:animEffect>
                                  </p:childTnLst>
                                </p:cTn>
                              </p:par>
                              <p:par>
                                <p:cTn id="19" presetID="21"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heel(1)">
                                      <p:cBhvr>
                                        <p:cTn id="21" dur="2000"/>
                                        <p:tgtEl>
                                          <p:spTgt spid="3">
                                            <p:txEl>
                                              <p:pRg st="4" end="4"/>
                                            </p:txEl>
                                          </p:spTgt>
                                        </p:tgtEl>
                                      </p:cBhvr>
                                    </p:animEffect>
                                  </p:childTnLst>
                                </p:cTn>
                              </p:par>
                              <p:par>
                                <p:cTn id="22" presetID="21" presetClass="entr" presetSubtype="1"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wheel(1)">
                                      <p:cBhvr>
                                        <p:cTn id="24" dur="2000"/>
                                        <p:tgtEl>
                                          <p:spTgt spid="3">
                                            <p:txEl>
                                              <p:pRg st="6" end="6"/>
                                            </p:txEl>
                                          </p:spTgt>
                                        </p:tgtEl>
                                      </p:cBhvr>
                                    </p:animEffect>
                                  </p:childTnLst>
                                </p:cTn>
                              </p:par>
                              <p:par>
                                <p:cTn id="25" presetID="21" presetClass="entr" presetSubtype="1"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heel(1)">
                                      <p:cBhvr>
                                        <p:cTn id="27" dur="2000"/>
                                        <p:tgtEl>
                                          <p:spTgt spid="3">
                                            <p:txEl>
                                              <p:pRg st="7" end="7"/>
                                            </p:txEl>
                                          </p:spTgt>
                                        </p:tgtEl>
                                      </p:cBhvr>
                                    </p:animEffect>
                                  </p:childTnLst>
                                </p:cTn>
                              </p:par>
                              <p:par>
                                <p:cTn id="28" presetID="21" presetClass="entr" presetSubtype="1" fill="hold" grpId="0"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wheel(1)">
                                      <p:cBhvr>
                                        <p:cTn id="30"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548680"/>
            <a:ext cx="8229600" cy="5688632"/>
          </a:xfrm>
        </p:spPr>
        <p:txBody>
          <a:bodyPr>
            <a:normAutofit fontScale="92500"/>
          </a:bodyPr>
          <a:lstStyle/>
          <a:p>
            <a:pPr marL="342900" lvl="1" indent="-342900">
              <a:buFont typeface="Arial" pitchFamily="34" charset="0"/>
              <a:buChar char="•"/>
            </a:pPr>
            <a:r>
              <a:rPr lang="en-GB" dirty="0"/>
              <a:t>May     risk of type 2 diabetes, heart disease and some cancers</a:t>
            </a:r>
          </a:p>
          <a:p>
            <a:r>
              <a:rPr lang="en-GB" sz="2800" dirty="0"/>
              <a:t>Aim for 3 servings daily</a:t>
            </a:r>
          </a:p>
          <a:p>
            <a:r>
              <a:rPr lang="en-GB" sz="2800" dirty="0"/>
              <a:t>Low ‘GI’ (slow release of energy) which may keep you fuller for longer</a:t>
            </a:r>
          </a:p>
          <a:p>
            <a:r>
              <a:rPr lang="en-GB" sz="2800" dirty="0"/>
              <a:t>Look out for ‘Whole’ before the name of the cereal</a:t>
            </a:r>
          </a:p>
          <a:p>
            <a:pPr marL="457200" lvl="1" indent="0">
              <a:buNone/>
            </a:pPr>
            <a:r>
              <a:rPr lang="en-GB" sz="2600" b="1" u="sng" dirty="0"/>
              <a:t>Ideas:</a:t>
            </a:r>
          </a:p>
          <a:p>
            <a:pPr lvl="2"/>
            <a:r>
              <a:rPr lang="en-GB" sz="2600" dirty="0"/>
              <a:t>Wholegrain cereals and cereal bars with yoghurt or milk for breakfast or as snacks</a:t>
            </a:r>
          </a:p>
          <a:p>
            <a:pPr lvl="2"/>
            <a:r>
              <a:rPr lang="en-GB" sz="2600" dirty="0"/>
              <a:t>Wholemeal, granary, multigrain bread instead of white</a:t>
            </a:r>
          </a:p>
          <a:p>
            <a:pPr lvl="2"/>
            <a:r>
              <a:rPr lang="en-GB" sz="2600" dirty="0"/>
              <a:t>Oatmeal and whole-oats to make flapjack</a:t>
            </a:r>
          </a:p>
          <a:p>
            <a:pPr lvl="2"/>
            <a:r>
              <a:rPr lang="en-GB" sz="2600" dirty="0" err="1"/>
              <a:t>Quinoa</a:t>
            </a:r>
            <a:r>
              <a:rPr lang="en-GB" sz="2600" dirty="0"/>
              <a:t>, bulgur wheat, brown rice in salads or with curries</a:t>
            </a:r>
          </a:p>
        </p:txBody>
      </p:sp>
      <p:cxnSp>
        <p:nvCxnSpPr>
          <p:cNvPr id="5" name="Straight Arrow Connector 4"/>
          <p:cNvCxnSpPr/>
          <p:nvPr/>
        </p:nvCxnSpPr>
        <p:spPr>
          <a:xfrm>
            <a:off x="1703263" y="621305"/>
            <a:ext cx="0" cy="28803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2456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74638"/>
            <a:ext cx="8064896" cy="1143000"/>
          </a:xfrm>
        </p:spPr>
        <p:txBody>
          <a:bodyPr>
            <a:normAutofit fontScale="90000"/>
          </a:bodyPr>
          <a:lstStyle/>
          <a:p>
            <a:r>
              <a:rPr lang="en-GB" b="1" dirty="0"/>
              <a:t>Protein: Meat, Fish and Alternatives</a:t>
            </a:r>
          </a:p>
        </p:txBody>
      </p:sp>
      <p:sp>
        <p:nvSpPr>
          <p:cNvPr id="3" name="Content Placeholder 2"/>
          <p:cNvSpPr>
            <a:spLocks noGrp="1"/>
          </p:cNvSpPr>
          <p:nvPr>
            <p:ph idx="1"/>
          </p:nvPr>
        </p:nvSpPr>
        <p:spPr>
          <a:xfrm>
            <a:off x="457200" y="1600200"/>
            <a:ext cx="8229600" cy="4853136"/>
          </a:xfrm>
        </p:spPr>
        <p:txBody>
          <a:bodyPr>
            <a:normAutofit/>
          </a:bodyPr>
          <a:lstStyle/>
          <a:p>
            <a:pPr marL="533400" lvl="1" indent="-457200">
              <a:buFont typeface="Arial" pitchFamily="34" charset="0"/>
              <a:buChar char="•"/>
            </a:pPr>
            <a:r>
              <a:rPr lang="en-GB" dirty="0"/>
              <a:t>Moderate amounts</a:t>
            </a:r>
          </a:p>
          <a:p>
            <a:pPr marL="527050" lvl="1" indent="-457200">
              <a:buFont typeface="Arial" pitchFamily="34" charset="0"/>
              <a:buChar char="•"/>
            </a:pPr>
            <a:r>
              <a:rPr lang="en-GB" dirty="0"/>
              <a:t>Choose low fat/lean options where possible</a:t>
            </a:r>
          </a:p>
          <a:p>
            <a:pPr marL="869950" lvl="3" indent="-342900"/>
            <a:r>
              <a:rPr lang="en-GB" sz="2400" dirty="0"/>
              <a:t>Cut visible fat off meat products and avoid poultry skin</a:t>
            </a:r>
          </a:p>
          <a:p>
            <a:pPr marL="527050" lvl="1" indent="-457200">
              <a:buFont typeface="Arial" pitchFamily="34" charset="0"/>
              <a:buChar char="•"/>
            </a:pPr>
            <a:r>
              <a:rPr lang="en-GB" dirty="0"/>
              <a:t>Try avoid processed meat products due to their high saturated fat content</a:t>
            </a:r>
          </a:p>
          <a:p>
            <a:pPr marL="527050" lvl="1" indent="-457200">
              <a:buFont typeface="Arial" pitchFamily="34" charset="0"/>
              <a:buChar char="•"/>
            </a:pPr>
            <a:r>
              <a:rPr lang="en-GB" dirty="0"/>
              <a:t>Fish twice a week (not fried!), one oily</a:t>
            </a:r>
          </a:p>
          <a:p>
            <a:pPr marL="544513" lvl="3" indent="-457200">
              <a:buFont typeface="Arial" pitchFamily="34" charset="0"/>
              <a:buChar char="•"/>
            </a:pPr>
            <a:r>
              <a:rPr lang="en-GB" sz="2800" dirty="0"/>
              <a:t>Eggs – FSA puts no limit on intake</a:t>
            </a:r>
          </a:p>
          <a:p>
            <a:pPr marL="544513" lvl="3" indent="-457200">
              <a:buFont typeface="Arial" pitchFamily="34" charset="0"/>
              <a:buChar char="•"/>
            </a:pPr>
            <a:r>
              <a:rPr lang="en-GB" sz="2800" dirty="0" err="1"/>
              <a:t>Mycoprotein</a:t>
            </a:r>
            <a:r>
              <a:rPr lang="en-GB" sz="2800" dirty="0"/>
              <a:t> (</a:t>
            </a:r>
            <a:r>
              <a:rPr lang="en-GB" sz="2800" dirty="0" err="1"/>
              <a:t>Quorn</a:t>
            </a:r>
            <a:r>
              <a:rPr lang="en-GB" sz="2800" baseline="30000" dirty="0" err="1"/>
              <a:t>TM</a:t>
            </a:r>
            <a:r>
              <a:rPr lang="en-GB" sz="2800" dirty="0"/>
              <a:t>), soya protein and tofu are also good low fat protein sources</a:t>
            </a:r>
            <a:endParaRPr lang="en-GB" sz="2800" baseline="30000" dirty="0"/>
          </a:p>
        </p:txBody>
      </p:sp>
    </p:spTree>
    <p:extLst>
      <p:ext uri="{BB962C8B-B14F-4D97-AF65-F5344CB8AC3E}">
        <p14:creationId xmlns:p14="http://schemas.microsoft.com/office/powerpoint/2010/main" val="39549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Protein: Milk and Dairy</a:t>
            </a:r>
          </a:p>
        </p:txBody>
      </p:sp>
      <p:sp>
        <p:nvSpPr>
          <p:cNvPr id="3" name="Content Placeholder 2"/>
          <p:cNvSpPr>
            <a:spLocks noGrp="1"/>
          </p:cNvSpPr>
          <p:nvPr>
            <p:ph idx="1"/>
          </p:nvPr>
        </p:nvSpPr>
        <p:spPr/>
        <p:txBody>
          <a:bodyPr>
            <a:normAutofit fontScale="92500" lnSpcReduction="10000"/>
          </a:bodyPr>
          <a:lstStyle/>
          <a:p>
            <a:r>
              <a:rPr lang="en-GB" dirty="0"/>
              <a:t>2-3 portions daily</a:t>
            </a:r>
          </a:p>
          <a:p>
            <a:r>
              <a:rPr lang="en-GB" dirty="0"/>
              <a:t>Milk (1/3 pint), cheese (40g), yoghurt (1 pot)</a:t>
            </a:r>
          </a:p>
          <a:p>
            <a:r>
              <a:rPr lang="en-GB" dirty="0"/>
              <a:t>Healthy adults should choose low fat options if possible</a:t>
            </a:r>
          </a:p>
          <a:p>
            <a:r>
              <a:rPr lang="en-GB" dirty="0"/>
              <a:t>Plant based alternative milk drinks i.e. soya better to get fortified sugar free version</a:t>
            </a:r>
          </a:p>
          <a:p>
            <a:r>
              <a:rPr lang="en-GB" dirty="0"/>
              <a:t>Snack/dessert idea:</a:t>
            </a:r>
          </a:p>
          <a:p>
            <a:pPr lvl="1"/>
            <a:r>
              <a:rPr lang="en-GB" dirty="0"/>
              <a:t>Try plain yoghurt with strawberries or blueberries for sweetness or adding it to curries instead of cream</a:t>
            </a:r>
          </a:p>
        </p:txBody>
      </p:sp>
    </p:spTree>
    <p:extLst>
      <p:ext uri="{BB962C8B-B14F-4D97-AF65-F5344CB8AC3E}">
        <p14:creationId xmlns:p14="http://schemas.microsoft.com/office/powerpoint/2010/main" val="3963398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High Fat/Sugary Foods</a:t>
            </a:r>
          </a:p>
        </p:txBody>
      </p:sp>
      <p:sp>
        <p:nvSpPr>
          <p:cNvPr id="3" name="Content Placeholder 2"/>
          <p:cNvSpPr>
            <a:spLocks noGrp="1"/>
          </p:cNvSpPr>
          <p:nvPr>
            <p:ph idx="1"/>
          </p:nvPr>
        </p:nvSpPr>
        <p:spPr/>
        <p:txBody>
          <a:bodyPr/>
          <a:lstStyle/>
          <a:p>
            <a:r>
              <a:rPr lang="en-GB" dirty="0"/>
              <a:t>&lt;8% of intake</a:t>
            </a:r>
          </a:p>
          <a:p>
            <a:r>
              <a:rPr lang="en-GB" dirty="0"/>
              <a:t>Can be consumed as part of a healthy balanced diet</a:t>
            </a:r>
          </a:p>
          <a:p>
            <a:r>
              <a:rPr lang="en-GB" dirty="0"/>
              <a:t>Include crisps, sweets, cakes, biscuits, sugary drinks</a:t>
            </a:r>
          </a:p>
          <a:p>
            <a:r>
              <a:rPr lang="en-GB" dirty="0"/>
              <a:t>Provide relatively little nutritional benefit</a:t>
            </a:r>
          </a:p>
          <a:p>
            <a:r>
              <a:rPr lang="en-GB" dirty="0"/>
              <a:t>Many are highly processed so may contribute a large amount of salt to the diet</a:t>
            </a:r>
          </a:p>
        </p:txBody>
      </p:sp>
      <p:pic>
        <p:nvPicPr>
          <p:cNvPr id="4099" name="Picture 3" descr="C:\Users\Sarah\AppData\Local\Microsoft\Windows\Temporary Internet Files\Content.IE5\VIT1GWJT\MP900448703[1].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388" t="19443" r="18262"/>
          <a:stretch/>
        </p:blipFill>
        <p:spPr bwMode="auto">
          <a:xfrm>
            <a:off x="7416636" y="104778"/>
            <a:ext cx="1718077" cy="1190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4182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lgn="ctr" eaLnBrk="1" hangingPunct="1"/>
            <a:r>
              <a:rPr lang="en-GB" b="1" dirty="0"/>
              <a:t>Fat</a:t>
            </a:r>
          </a:p>
        </p:txBody>
      </p:sp>
      <p:sp>
        <p:nvSpPr>
          <p:cNvPr id="10243" name="Rectangle 3"/>
          <p:cNvSpPr>
            <a:spLocks noGrp="1" noChangeArrowheads="1"/>
          </p:cNvSpPr>
          <p:nvPr>
            <p:ph type="body" idx="1"/>
          </p:nvPr>
        </p:nvSpPr>
        <p:spPr>
          <a:xfrm>
            <a:off x="251520" y="1340768"/>
            <a:ext cx="8229600" cy="4933950"/>
          </a:xfrm>
        </p:spPr>
        <p:txBody>
          <a:bodyPr>
            <a:normAutofit/>
          </a:bodyPr>
          <a:lstStyle/>
          <a:p>
            <a:pPr marL="449263" indent="0" eaLnBrk="1" hangingPunct="1">
              <a:buFont typeface="Wingdings" pitchFamily="2" charset="2"/>
              <a:buNone/>
              <a:defRPr/>
            </a:pPr>
            <a:r>
              <a:rPr lang="en-GB" sz="2800" dirty="0">
                <a:latin typeface="+mj-lt"/>
              </a:rPr>
              <a:t>We need some fats in our diet as they provide energy and some vitamins. Some our body cannot make; essential fatty acids (EFAs)</a:t>
            </a:r>
          </a:p>
          <a:p>
            <a:pPr marL="400050" indent="-400050" eaLnBrk="1" hangingPunct="1">
              <a:buFont typeface="Wingdings" pitchFamily="2" charset="2"/>
              <a:buNone/>
              <a:defRPr/>
            </a:pPr>
            <a:endParaRPr lang="en-GB" sz="1800" dirty="0">
              <a:latin typeface="+mj-lt"/>
            </a:endParaRPr>
          </a:p>
          <a:p>
            <a:pPr marL="787400" eaLnBrk="1" hangingPunct="1">
              <a:defRPr/>
            </a:pPr>
            <a:r>
              <a:rPr lang="en-GB" sz="2400" b="1" u="sng" dirty="0">
                <a:solidFill>
                  <a:srgbClr val="FF0000"/>
                </a:solidFill>
                <a:latin typeface="+mj-lt"/>
              </a:rPr>
              <a:t>Saturated</a:t>
            </a:r>
            <a:r>
              <a:rPr lang="en-GB" sz="2400" b="1" dirty="0">
                <a:solidFill>
                  <a:srgbClr val="FF0000"/>
                </a:solidFill>
                <a:latin typeface="+mj-lt"/>
              </a:rPr>
              <a:t>  </a:t>
            </a:r>
            <a:r>
              <a:rPr lang="en-GB" sz="2400" b="1" dirty="0">
                <a:latin typeface="+mj-lt"/>
              </a:rPr>
              <a:t>(animal products)</a:t>
            </a:r>
          </a:p>
          <a:p>
            <a:pPr marL="787400" eaLnBrk="1" hangingPunct="1">
              <a:defRPr/>
            </a:pPr>
            <a:r>
              <a:rPr lang="en-GB" sz="2400" b="1" u="sng" dirty="0">
                <a:solidFill>
                  <a:srgbClr val="FF0000"/>
                </a:solidFill>
                <a:latin typeface="+mj-lt"/>
                <a:sym typeface="Wingdings" pitchFamily="2" charset="2"/>
              </a:rPr>
              <a:t>Trans</a:t>
            </a:r>
            <a:r>
              <a:rPr lang="en-GB" sz="2400" dirty="0">
                <a:solidFill>
                  <a:srgbClr val="FF0000"/>
                </a:solidFill>
                <a:latin typeface="+mj-lt"/>
                <a:sym typeface="Wingdings" pitchFamily="2" charset="2"/>
              </a:rPr>
              <a:t>	    </a:t>
            </a:r>
            <a:r>
              <a:rPr lang="en-GB" sz="2400" b="1" dirty="0">
                <a:latin typeface="+mj-lt"/>
                <a:sym typeface="Wingdings" pitchFamily="2" charset="2"/>
              </a:rPr>
              <a:t>(cakes/biscuits)</a:t>
            </a:r>
          </a:p>
          <a:p>
            <a:pPr marL="444500" indent="0" eaLnBrk="1" hangingPunct="1">
              <a:buNone/>
              <a:defRPr/>
            </a:pPr>
            <a:r>
              <a:rPr lang="en-GB" sz="2400" b="1" dirty="0">
                <a:solidFill>
                  <a:srgbClr val="FF0000"/>
                </a:solidFill>
                <a:latin typeface="+mj-lt"/>
                <a:sym typeface="Wingdings" pitchFamily="2" charset="2"/>
              </a:rPr>
              <a:t>					</a:t>
            </a:r>
            <a:r>
              <a:rPr lang="en-GB" sz="2400" b="1" dirty="0">
                <a:latin typeface="+mj-lt"/>
                <a:sym typeface="Wingdings" pitchFamily="2" charset="2"/>
              </a:rPr>
              <a:t> </a:t>
            </a:r>
            <a:r>
              <a:rPr lang="en-GB" sz="2400" b="1" dirty="0">
                <a:solidFill>
                  <a:srgbClr val="FF0000"/>
                </a:solidFill>
                <a:latin typeface="+mj-lt"/>
              </a:rPr>
              <a:t>blood cholesterol</a:t>
            </a:r>
          </a:p>
          <a:p>
            <a:pPr marL="444500" indent="0" eaLnBrk="1" hangingPunct="1">
              <a:buNone/>
              <a:defRPr/>
            </a:pPr>
            <a:endParaRPr lang="en-GB" sz="2400" b="1" dirty="0">
              <a:solidFill>
                <a:srgbClr val="FF0000"/>
              </a:solidFill>
              <a:latin typeface="+mj-lt"/>
            </a:endParaRPr>
          </a:p>
          <a:p>
            <a:pPr marL="787400">
              <a:defRPr/>
            </a:pPr>
            <a:r>
              <a:rPr lang="en-GB" sz="2400" b="1" u="sng" dirty="0">
                <a:solidFill>
                  <a:srgbClr val="009900"/>
                </a:solidFill>
                <a:latin typeface="+mj-lt"/>
              </a:rPr>
              <a:t>Monounsaturated</a:t>
            </a:r>
            <a:r>
              <a:rPr lang="en-GB" sz="2400" b="1" dirty="0">
                <a:solidFill>
                  <a:srgbClr val="009900"/>
                </a:solidFill>
                <a:latin typeface="+mj-lt"/>
              </a:rPr>
              <a:t>	</a:t>
            </a:r>
            <a:r>
              <a:rPr lang="en-GB" sz="2400" b="1" dirty="0"/>
              <a:t>(olive/rapeseed oils, avocados)</a:t>
            </a:r>
            <a:endParaRPr lang="en-GB" sz="2400" b="1" dirty="0">
              <a:solidFill>
                <a:srgbClr val="00B050"/>
              </a:solidFill>
              <a:latin typeface="+mj-lt"/>
            </a:endParaRPr>
          </a:p>
          <a:p>
            <a:pPr marL="787400">
              <a:defRPr/>
            </a:pPr>
            <a:r>
              <a:rPr lang="en-GB" sz="2400" b="1" u="sng" dirty="0">
                <a:solidFill>
                  <a:srgbClr val="009900"/>
                </a:solidFill>
                <a:latin typeface="+mj-lt"/>
              </a:rPr>
              <a:t>Polyunsaturated</a:t>
            </a:r>
            <a:r>
              <a:rPr lang="en-GB" sz="2400" b="1" dirty="0">
                <a:solidFill>
                  <a:srgbClr val="009900"/>
                </a:solidFill>
                <a:latin typeface="+mj-lt"/>
              </a:rPr>
              <a:t>	</a:t>
            </a:r>
            <a:r>
              <a:rPr lang="en-GB" sz="2400" b="1" dirty="0"/>
              <a:t>(sunflower, corn, sesame oil)</a:t>
            </a:r>
            <a:endParaRPr lang="en-GB" sz="2400" b="1" dirty="0">
              <a:solidFill>
                <a:srgbClr val="00B050"/>
              </a:solidFill>
              <a:latin typeface="+mj-lt"/>
            </a:endParaRPr>
          </a:p>
          <a:p>
            <a:pPr marL="444500" lvl="1" indent="0">
              <a:buNone/>
              <a:defRPr/>
            </a:pPr>
            <a:r>
              <a:rPr lang="en-GB" sz="2400" b="1" dirty="0">
                <a:solidFill>
                  <a:srgbClr val="00B050"/>
                </a:solidFill>
                <a:latin typeface="+mj-lt"/>
              </a:rPr>
              <a:t>					</a:t>
            </a:r>
            <a:r>
              <a:rPr lang="en-GB" sz="2400" b="1" dirty="0">
                <a:solidFill>
                  <a:srgbClr val="009900"/>
                </a:solidFill>
                <a:sym typeface="Wingdings" pitchFamily="2" charset="2"/>
              </a:rPr>
              <a:t></a:t>
            </a:r>
            <a:r>
              <a:rPr lang="en-GB" sz="2400" b="1" dirty="0">
                <a:solidFill>
                  <a:srgbClr val="009900"/>
                </a:solidFill>
              </a:rPr>
              <a:t> blood cholesterol</a:t>
            </a:r>
          </a:p>
        </p:txBody>
      </p:sp>
    </p:spTree>
    <p:extLst>
      <p:ext uri="{BB962C8B-B14F-4D97-AF65-F5344CB8AC3E}">
        <p14:creationId xmlns:p14="http://schemas.microsoft.com/office/powerpoint/2010/main" val="4237972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43">
                                            <p:txEl>
                                              <p:pRg st="4" end="4"/>
                                            </p:txEl>
                                          </p:spTgt>
                                        </p:tgtEl>
                                        <p:attrNameLst>
                                          <p:attrName>style.visibility</p:attrName>
                                        </p:attrNameLst>
                                      </p:cBhvr>
                                      <p:to>
                                        <p:strVal val="visible"/>
                                      </p:to>
                                    </p:set>
                                    <p:animEffect transition="in" filter="fade">
                                      <p:cBhvr>
                                        <p:cTn id="7" dur="500"/>
                                        <p:tgtEl>
                                          <p:spTgt spid="1024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43">
                                            <p:txEl>
                                              <p:pRg st="8" end="8"/>
                                            </p:txEl>
                                          </p:spTgt>
                                        </p:tgtEl>
                                        <p:attrNameLst>
                                          <p:attrName>style.visibility</p:attrName>
                                        </p:attrNameLst>
                                      </p:cBhvr>
                                      <p:to>
                                        <p:strVal val="visible"/>
                                      </p:to>
                                    </p:set>
                                    <p:animEffect transition="in" filter="fade">
                                      <p:cBhvr>
                                        <p:cTn id="12" dur="500"/>
                                        <p:tgtEl>
                                          <p:spTgt spid="1024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Title 1"/>
          <p:cNvSpPr>
            <a:spLocks noGrp="1"/>
          </p:cNvSpPr>
          <p:nvPr>
            <p:ph type="title" idx="4294967295"/>
          </p:nvPr>
        </p:nvSpPr>
        <p:spPr>
          <a:xfrm>
            <a:off x="0" y="274638"/>
            <a:ext cx="8229600" cy="1143000"/>
          </a:xfrm>
        </p:spPr>
        <p:txBody>
          <a:bodyPr/>
          <a:lstStyle/>
          <a:p>
            <a:pPr eaLnBrk="1" hangingPunct="1"/>
            <a:r>
              <a:rPr lang="en-GB" b="1" dirty="0"/>
              <a:t>Omega 3</a:t>
            </a:r>
          </a:p>
        </p:txBody>
      </p:sp>
      <p:sp>
        <p:nvSpPr>
          <p:cNvPr id="9220" name="Text Box 26"/>
          <p:cNvSpPr txBox="1">
            <a:spLocks noChangeArrowheads="1"/>
          </p:cNvSpPr>
          <p:nvPr/>
        </p:nvSpPr>
        <p:spPr bwMode="auto">
          <a:xfrm>
            <a:off x="6804025" y="5589588"/>
            <a:ext cx="1871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GB"/>
          </a:p>
        </p:txBody>
      </p:sp>
      <p:pic>
        <p:nvPicPr>
          <p:cNvPr id="9221" name="Picture 33" descr="See full size image">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l="9512" r="11206" b="3622"/>
          <a:stretch>
            <a:fillRect/>
          </a:stretch>
        </p:blipFill>
        <p:spPr bwMode="auto">
          <a:xfrm>
            <a:off x="5037931" y="1142999"/>
            <a:ext cx="3500438"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Text Box 34"/>
          <p:cNvSpPr txBox="1">
            <a:spLocks noChangeArrowheads="1"/>
          </p:cNvSpPr>
          <p:nvPr/>
        </p:nvSpPr>
        <p:spPr bwMode="auto">
          <a:xfrm>
            <a:off x="107950" y="1700213"/>
            <a:ext cx="3384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GB"/>
          </a:p>
        </p:txBody>
      </p:sp>
      <p:sp>
        <p:nvSpPr>
          <p:cNvPr id="9223" name="Text Box 35"/>
          <p:cNvSpPr txBox="1">
            <a:spLocks noChangeArrowheads="1"/>
          </p:cNvSpPr>
          <p:nvPr/>
        </p:nvSpPr>
        <p:spPr bwMode="auto">
          <a:xfrm>
            <a:off x="5037931" y="1600248"/>
            <a:ext cx="3532187"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GB" sz="2800" dirty="0"/>
              <a:t>Sardines</a:t>
            </a:r>
          </a:p>
          <a:p>
            <a:pPr algn="ctr" eaLnBrk="1" hangingPunct="1">
              <a:spcBef>
                <a:spcPct val="50000"/>
              </a:spcBef>
            </a:pPr>
            <a:r>
              <a:rPr lang="en-GB" sz="2800" dirty="0"/>
              <a:t>Salmon</a:t>
            </a:r>
          </a:p>
          <a:p>
            <a:pPr algn="ctr" eaLnBrk="1" hangingPunct="1">
              <a:spcBef>
                <a:spcPct val="50000"/>
              </a:spcBef>
            </a:pPr>
            <a:r>
              <a:rPr lang="en-GB" sz="2800" dirty="0"/>
              <a:t>Mackerel, kippers</a:t>
            </a:r>
          </a:p>
          <a:p>
            <a:pPr algn="ctr" eaLnBrk="1" hangingPunct="1">
              <a:spcBef>
                <a:spcPct val="50000"/>
              </a:spcBef>
            </a:pPr>
            <a:r>
              <a:rPr lang="en-GB" sz="2800" dirty="0"/>
              <a:t>Herrings</a:t>
            </a:r>
          </a:p>
          <a:p>
            <a:pPr algn="ctr" eaLnBrk="1" hangingPunct="1">
              <a:spcBef>
                <a:spcPct val="50000"/>
              </a:spcBef>
            </a:pPr>
            <a:r>
              <a:rPr lang="en-GB" sz="2800" dirty="0">
                <a:solidFill>
                  <a:srgbClr val="FF3300"/>
                </a:solidFill>
              </a:rPr>
              <a:t>Tuna </a:t>
            </a:r>
          </a:p>
          <a:p>
            <a:pPr algn="ctr" eaLnBrk="1" hangingPunct="1">
              <a:spcBef>
                <a:spcPct val="50000"/>
              </a:spcBef>
            </a:pPr>
            <a:r>
              <a:rPr lang="en-GB" sz="2800" dirty="0"/>
              <a:t>Swordfish</a:t>
            </a:r>
          </a:p>
          <a:p>
            <a:pPr algn="ctr" eaLnBrk="1" hangingPunct="1">
              <a:spcBef>
                <a:spcPct val="50000"/>
              </a:spcBef>
            </a:pPr>
            <a:r>
              <a:rPr lang="en-GB" sz="2800" dirty="0"/>
              <a:t>Halibut, trout</a:t>
            </a:r>
          </a:p>
        </p:txBody>
      </p:sp>
      <p:sp>
        <p:nvSpPr>
          <p:cNvPr id="4" name="Rectangle 3"/>
          <p:cNvSpPr/>
          <p:nvPr/>
        </p:nvSpPr>
        <p:spPr>
          <a:xfrm>
            <a:off x="559414" y="2852936"/>
            <a:ext cx="4100227" cy="1569660"/>
          </a:xfrm>
          <a:prstGeom prst="rect">
            <a:avLst/>
          </a:prstGeom>
        </p:spPr>
        <p:txBody>
          <a:bodyPr wrap="square">
            <a:spAutoFit/>
          </a:bodyPr>
          <a:lstStyle/>
          <a:p>
            <a:pPr marL="84138">
              <a:defRPr/>
            </a:pPr>
            <a:r>
              <a:rPr lang="en-GB" sz="2400" b="1" u="sng" dirty="0">
                <a:solidFill>
                  <a:srgbClr val="009900"/>
                </a:solidFill>
              </a:rPr>
              <a:t>Plant sources</a:t>
            </a:r>
            <a:r>
              <a:rPr lang="en-GB" sz="2400" b="1" dirty="0"/>
              <a:t> </a:t>
            </a:r>
            <a:r>
              <a:rPr lang="en-GB" sz="2400" b="1" dirty="0">
                <a:sym typeface="Wingdings" pitchFamily="2" charset="2"/>
              </a:rPr>
              <a:t>linseed, walnuts and walnut oil</a:t>
            </a:r>
          </a:p>
          <a:p>
            <a:pPr marL="84138">
              <a:defRPr/>
            </a:pPr>
            <a:endParaRPr lang="en-GB" sz="2400" b="1" dirty="0">
              <a:sym typeface="Wingdings" pitchFamily="2" charset="2"/>
            </a:endParaRPr>
          </a:p>
          <a:p>
            <a:pPr marL="342900" indent="-342900">
              <a:buFont typeface="Wingdings" pitchFamily="2" charset="2"/>
              <a:buChar char="ü"/>
              <a:defRPr/>
            </a:pPr>
            <a:r>
              <a:rPr lang="en-GB" sz="2400" b="1" dirty="0">
                <a:solidFill>
                  <a:srgbClr val="009900"/>
                </a:solidFill>
                <a:sym typeface="Wingdings" pitchFamily="2" charset="2"/>
              </a:rPr>
              <a:t>Healthy Heart</a:t>
            </a:r>
            <a:endParaRPr lang="en-GB" sz="2400" b="1" dirty="0">
              <a:sym typeface="Wingdings" pitchFamily="2" charset="2"/>
            </a:endParaRPr>
          </a:p>
        </p:txBody>
      </p:sp>
      <p:sp>
        <p:nvSpPr>
          <p:cNvPr id="5" name="Rectangle 4"/>
          <p:cNvSpPr/>
          <p:nvPr/>
        </p:nvSpPr>
        <p:spPr>
          <a:xfrm>
            <a:off x="323528" y="1412776"/>
            <a:ext cx="4572000" cy="1200329"/>
          </a:xfrm>
          <a:prstGeom prst="rect">
            <a:avLst/>
          </a:prstGeom>
        </p:spPr>
        <p:txBody>
          <a:bodyPr>
            <a:spAutoFit/>
          </a:bodyPr>
          <a:lstStyle/>
          <a:p>
            <a:pPr marL="171450" indent="-171450">
              <a:buFontTx/>
              <a:buChar char="-"/>
            </a:pPr>
            <a:r>
              <a:rPr lang="en-GB" sz="2400" dirty="0"/>
              <a:t>EFAs: our body cannot make them so we have to obtain them through dietary sources</a:t>
            </a:r>
          </a:p>
        </p:txBody>
      </p:sp>
    </p:spTree>
    <p:extLst>
      <p:ext uri="{BB962C8B-B14F-4D97-AF65-F5344CB8AC3E}">
        <p14:creationId xmlns:p14="http://schemas.microsoft.com/office/powerpoint/2010/main" val="4099551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GB" dirty="0"/>
              <a:t>Grill, boil, steam or poach instead of frying and roasting</a:t>
            </a:r>
          </a:p>
          <a:p>
            <a:r>
              <a:rPr lang="en-GB" dirty="0"/>
              <a:t>Cutting off all visible fat, removing poultry skins, skim fat off mince from casseroles</a:t>
            </a:r>
          </a:p>
          <a:p>
            <a:r>
              <a:rPr lang="en-GB" dirty="0"/>
              <a:t>Use an olive based or low fat spread instead of butter</a:t>
            </a:r>
          </a:p>
          <a:p>
            <a:r>
              <a:rPr lang="en-GB" dirty="0"/>
              <a:t>Choose lower fat dairy products</a:t>
            </a:r>
          </a:p>
          <a:p>
            <a:r>
              <a:rPr lang="en-GB" dirty="0"/>
              <a:t>Keep hidden sources of saturated fat to a minimum i.e. biscuits, pies etc.</a:t>
            </a:r>
          </a:p>
        </p:txBody>
      </p:sp>
      <p:sp>
        <p:nvSpPr>
          <p:cNvPr id="4" name="Title 3"/>
          <p:cNvSpPr>
            <a:spLocks noGrp="1"/>
          </p:cNvSpPr>
          <p:nvPr>
            <p:ph type="title"/>
          </p:nvPr>
        </p:nvSpPr>
        <p:spPr/>
        <p:txBody>
          <a:bodyPr>
            <a:normAutofit/>
          </a:bodyPr>
          <a:lstStyle/>
          <a:p>
            <a:pPr algn="l"/>
            <a:r>
              <a:rPr lang="en-GB" sz="3600" b="1" dirty="0"/>
              <a:t>How to   saturated fat intake</a:t>
            </a:r>
          </a:p>
        </p:txBody>
      </p:sp>
      <p:cxnSp>
        <p:nvCxnSpPr>
          <p:cNvPr id="7" name="Straight Arrow Connector 6"/>
          <p:cNvCxnSpPr/>
          <p:nvPr/>
        </p:nvCxnSpPr>
        <p:spPr>
          <a:xfrm>
            <a:off x="2051720" y="621305"/>
            <a:ext cx="0" cy="431431"/>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217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Salt is falling, all around us</a:t>
            </a:r>
          </a:p>
        </p:txBody>
      </p:sp>
      <p:sp>
        <p:nvSpPr>
          <p:cNvPr id="3" name="Content Placeholder 2"/>
          <p:cNvSpPr>
            <a:spLocks noGrp="1"/>
          </p:cNvSpPr>
          <p:nvPr>
            <p:ph idx="1"/>
          </p:nvPr>
        </p:nvSpPr>
        <p:spPr>
          <a:xfrm>
            <a:off x="457200" y="1484784"/>
            <a:ext cx="8229600" cy="4641379"/>
          </a:xfrm>
        </p:spPr>
        <p:txBody>
          <a:bodyPr>
            <a:normAutofit/>
          </a:bodyPr>
          <a:lstStyle/>
          <a:p>
            <a:r>
              <a:rPr lang="en-GB" sz="2800" dirty="0"/>
              <a:t>Consuming too much salt in our diet can lead to high blood pressure </a:t>
            </a:r>
            <a:r>
              <a:rPr lang="en-GB" sz="2800" dirty="0">
                <a:sym typeface="Wingdings" pitchFamily="2" charset="2"/>
              </a:rPr>
              <a:t> risk of </a:t>
            </a:r>
            <a:r>
              <a:rPr lang="en-GB" sz="2800" dirty="0"/>
              <a:t>heart disease and stroke</a:t>
            </a:r>
          </a:p>
          <a:p>
            <a:r>
              <a:rPr lang="en-GB" sz="2800" dirty="0"/>
              <a:t>Lots of foods have hidden salt – check labels</a:t>
            </a:r>
          </a:p>
          <a:p>
            <a:r>
              <a:rPr lang="en-GB" sz="2800" dirty="0"/>
              <a:t>Current average intake is</a:t>
            </a:r>
          </a:p>
          <a:p>
            <a:pPr lvl="1"/>
            <a:r>
              <a:rPr lang="en-GB" b="1" dirty="0"/>
              <a:t> </a:t>
            </a:r>
            <a:r>
              <a:rPr lang="en-GB" b="1" u="sng" dirty="0">
                <a:solidFill>
                  <a:srgbClr val="FF0000"/>
                </a:solidFill>
              </a:rPr>
              <a:t>8.6g</a:t>
            </a:r>
            <a:r>
              <a:rPr lang="en-GB" dirty="0"/>
              <a:t> (2 </a:t>
            </a:r>
            <a:r>
              <a:rPr lang="en-GB" dirty="0" err="1"/>
              <a:t>tsp</a:t>
            </a:r>
            <a:r>
              <a:rPr lang="en-GB" dirty="0"/>
              <a:t>)</a:t>
            </a:r>
          </a:p>
          <a:p>
            <a:pPr lvl="1"/>
            <a:r>
              <a:rPr lang="en-GB" dirty="0"/>
              <a:t>Recommended: </a:t>
            </a:r>
            <a:r>
              <a:rPr lang="en-GB" b="1" u="sng" dirty="0">
                <a:solidFill>
                  <a:srgbClr val="008000"/>
                </a:solidFill>
              </a:rPr>
              <a:t>6g</a:t>
            </a:r>
          </a:p>
          <a:p>
            <a:pPr marL="533400" lvl="1" indent="-457200">
              <a:buFont typeface="Arial" pitchFamily="34" charset="0"/>
              <a:buChar char="•"/>
            </a:pPr>
            <a:r>
              <a:rPr lang="en-GB" dirty="0"/>
              <a:t>~ 75% of salt is hidden in food already!</a:t>
            </a:r>
          </a:p>
          <a:p>
            <a:pPr marL="933450" lvl="2" indent="-457200"/>
            <a:r>
              <a:rPr lang="en-GB" dirty="0"/>
              <a:t>Ready meals, soup, sauces, cereals, crisps</a:t>
            </a:r>
          </a:p>
          <a:p>
            <a:pPr marL="476250" lvl="2" indent="0">
              <a:buNone/>
            </a:pPr>
            <a:r>
              <a:rPr lang="en-GB" dirty="0"/>
              <a:t>	stock cubes, processed meats, smoked fish</a:t>
            </a:r>
          </a:p>
        </p:txBody>
      </p:sp>
      <p:pic>
        <p:nvPicPr>
          <p:cNvPr id="3078" name="Picture 6" descr="C:\Users\Sarah\AppData\Local\Microsoft\Windows\Temporary Internet Files\Content.IE5\6TG9I9MM\MC900264400[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4288" y="3284984"/>
            <a:ext cx="1612081" cy="2122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357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Tips to reduce salt intake</a:t>
            </a:r>
          </a:p>
        </p:txBody>
      </p:sp>
      <p:sp>
        <p:nvSpPr>
          <p:cNvPr id="3" name="Content Placeholder 2"/>
          <p:cNvSpPr>
            <a:spLocks noGrp="1"/>
          </p:cNvSpPr>
          <p:nvPr>
            <p:ph idx="1"/>
          </p:nvPr>
        </p:nvSpPr>
        <p:spPr>
          <a:xfrm>
            <a:off x="611560" y="1600200"/>
            <a:ext cx="8075240" cy="4525963"/>
          </a:xfrm>
        </p:spPr>
        <p:txBody>
          <a:bodyPr>
            <a:normAutofit/>
          </a:bodyPr>
          <a:lstStyle/>
          <a:p>
            <a:r>
              <a:rPr lang="en-GB" sz="2800" dirty="0"/>
              <a:t>Don’t add during cooking or at the table</a:t>
            </a:r>
          </a:p>
          <a:p>
            <a:r>
              <a:rPr lang="en-GB" sz="2800" dirty="0"/>
              <a:t>Use herbs and spices or lemon juice</a:t>
            </a:r>
          </a:p>
          <a:p>
            <a:r>
              <a:rPr lang="en-GB" sz="2800" dirty="0"/>
              <a:t>Look at labels, check for lower salt varieties</a:t>
            </a:r>
          </a:p>
          <a:p>
            <a:r>
              <a:rPr lang="en-GB" sz="2800" dirty="0"/>
              <a:t>Ask in restaurants for no salt</a:t>
            </a:r>
          </a:p>
          <a:p>
            <a:r>
              <a:rPr lang="en-GB" sz="2800" dirty="0"/>
              <a:t>2 weeks no salt – taste buds can adjust so persist</a:t>
            </a:r>
          </a:p>
          <a:p>
            <a:endParaRPr lang="en-GB" sz="2800" dirty="0"/>
          </a:p>
        </p:txBody>
      </p:sp>
    </p:spTree>
    <p:extLst>
      <p:ext uri="{BB962C8B-B14F-4D97-AF65-F5344CB8AC3E}">
        <p14:creationId xmlns:p14="http://schemas.microsoft.com/office/powerpoint/2010/main" val="2408638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Meal Pattern</a:t>
            </a:r>
          </a:p>
        </p:txBody>
      </p:sp>
      <p:sp>
        <p:nvSpPr>
          <p:cNvPr id="3" name="Content Placeholder 2"/>
          <p:cNvSpPr>
            <a:spLocks noGrp="1"/>
          </p:cNvSpPr>
          <p:nvPr>
            <p:ph idx="1"/>
          </p:nvPr>
        </p:nvSpPr>
        <p:spPr>
          <a:xfrm>
            <a:off x="457200" y="1600200"/>
            <a:ext cx="8229600" cy="4925144"/>
          </a:xfrm>
        </p:spPr>
        <p:txBody>
          <a:bodyPr>
            <a:normAutofit fontScale="92500" lnSpcReduction="10000"/>
          </a:bodyPr>
          <a:lstStyle/>
          <a:p>
            <a:r>
              <a:rPr lang="en-GB" dirty="0"/>
              <a:t>Regular balanced meals are recommended</a:t>
            </a:r>
          </a:p>
          <a:p>
            <a:r>
              <a:rPr lang="en-GB" dirty="0"/>
              <a:t>Missing meals may result in higher quantities of high energy foods being craved and consumed</a:t>
            </a:r>
          </a:p>
          <a:p>
            <a:r>
              <a:rPr lang="en-GB" dirty="0"/>
              <a:t>Plan ahead</a:t>
            </a:r>
          </a:p>
          <a:p>
            <a:r>
              <a:rPr lang="en-GB" dirty="0"/>
              <a:t>Meal times are a good opportunity to get the family together</a:t>
            </a:r>
          </a:p>
          <a:p>
            <a:r>
              <a:rPr lang="en-GB" dirty="0"/>
              <a:t>‘Breakfast is the most important meal of the day’ - break the fast!</a:t>
            </a:r>
          </a:p>
          <a:p>
            <a:pPr lvl="1"/>
            <a:r>
              <a:rPr lang="en-GB" dirty="0"/>
              <a:t>people who consume a fortified breakfast cereal tend to have higher intakes of vitamins and minerals</a:t>
            </a:r>
          </a:p>
        </p:txBody>
      </p:sp>
    </p:spTree>
    <p:extLst>
      <p:ext uri="{BB962C8B-B14F-4D97-AF65-F5344CB8AC3E}">
        <p14:creationId xmlns:p14="http://schemas.microsoft.com/office/powerpoint/2010/main" val="461281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Watch your Weight</a:t>
            </a:r>
          </a:p>
        </p:txBody>
      </p:sp>
      <p:pic>
        <p:nvPicPr>
          <p:cNvPr id="2050" name="Picture 2" descr="C:\Users\Sarah\AppData\Local\Microsoft\Windows\Temporary Internet Files\Content.IE5\FG47NFHQ\MC900437988[1].wm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44208" y="1340768"/>
            <a:ext cx="2392881" cy="151216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27584" y="1628800"/>
            <a:ext cx="5904656" cy="4216539"/>
          </a:xfrm>
          <a:prstGeom prst="rect">
            <a:avLst/>
          </a:prstGeom>
          <a:noFill/>
        </p:spPr>
        <p:txBody>
          <a:bodyPr wrap="square" rtlCol="0">
            <a:spAutoFit/>
          </a:bodyPr>
          <a:lstStyle/>
          <a:p>
            <a:r>
              <a:rPr lang="en-GB" sz="2400" dirty="0"/>
              <a:t>After eating we should feel satisfied, not stuffed!</a:t>
            </a:r>
          </a:p>
          <a:p>
            <a:endParaRPr lang="en-GB" sz="2400" dirty="0"/>
          </a:p>
          <a:p>
            <a:r>
              <a:rPr lang="en-GB" sz="2400" dirty="0"/>
              <a:t>Measurement of weight to height used by most health professionals;</a:t>
            </a:r>
          </a:p>
          <a:p>
            <a:r>
              <a:rPr lang="en-GB" sz="2400" dirty="0"/>
              <a:t>- </a:t>
            </a:r>
            <a:r>
              <a:rPr lang="en-GB" sz="2400" b="1" u="sng" dirty="0"/>
              <a:t>BMI (Body Mass Index)</a:t>
            </a:r>
          </a:p>
          <a:p>
            <a:endParaRPr lang="en-GB" sz="2400" dirty="0"/>
          </a:p>
          <a:p>
            <a:r>
              <a:rPr lang="en-GB" sz="2400" dirty="0"/>
              <a:t>A BMI outside of the desirable </a:t>
            </a:r>
            <a:r>
              <a:rPr lang="en-GB" sz="2800" b="1" u="sng" dirty="0">
                <a:solidFill>
                  <a:srgbClr val="00B050"/>
                </a:solidFill>
              </a:rPr>
              <a:t>20-25Kg/m</a:t>
            </a:r>
            <a:r>
              <a:rPr lang="en-GB" sz="2800" b="1" u="sng" baseline="30000" dirty="0">
                <a:solidFill>
                  <a:srgbClr val="00B050"/>
                </a:solidFill>
              </a:rPr>
              <a:t>2</a:t>
            </a:r>
            <a:r>
              <a:rPr lang="en-GB" sz="2800" dirty="0"/>
              <a:t> </a:t>
            </a:r>
            <a:r>
              <a:rPr lang="en-GB" sz="2400" dirty="0"/>
              <a:t>may reflect a higher risk of developing health problems</a:t>
            </a:r>
          </a:p>
          <a:p>
            <a:endParaRPr lang="en-GB" sz="2400" dirty="0"/>
          </a:p>
        </p:txBody>
      </p:sp>
    </p:spTree>
    <p:extLst>
      <p:ext uri="{BB962C8B-B14F-4D97-AF65-F5344CB8AC3E}">
        <p14:creationId xmlns:p14="http://schemas.microsoft.com/office/powerpoint/2010/main" val="420972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05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body" idx="1"/>
          </p:nvPr>
        </p:nvSpPr>
        <p:spPr>
          <a:xfrm>
            <a:off x="457200" y="260350"/>
            <a:ext cx="8229600" cy="5870575"/>
          </a:xfrm>
        </p:spPr>
        <p:txBody>
          <a:bodyPr/>
          <a:lstStyle/>
          <a:p>
            <a:pPr marL="0" indent="0" eaLnBrk="1" hangingPunct="1">
              <a:buNone/>
            </a:pPr>
            <a:r>
              <a:rPr lang="en-GB" dirty="0">
                <a:latin typeface="+mj-lt"/>
              </a:rPr>
              <a:t>Aim to lose weight slowly (1-2 pounds/week)</a:t>
            </a:r>
          </a:p>
          <a:p>
            <a:pPr eaLnBrk="1" hangingPunct="1">
              <a:buFont typeface="Wingdings" pitchFamily="2" charset="2"/>
              <a:buNone/>
            </a:pPr>
            <a:endParaRPr lang="en-GB" dirty="0">
              <a:latin typeface="+mj-lt"/>
            </a:endParaRPr>
          </a:p>
          <a:p>
            <a:pPr algn="ctr" eaLnBrk="1" hangingPunct="1">
              <a:buFont typeface="Wingdings" pitchFamily="2" charset="2"/>
              <a:buNone/>
            </a:pPr>
            <a:r>
              <a:rPr lang="en-GB" dirty="0">
                <a:latin typeface="+mj-lt"/>
              </a:rPr>
              <a:t>Input </a:t>
            </a:r>
            <a:r>
              <a:rPr lang="en-GB" dirty="0">
                <a:solidFill>
                  <a:srgbClr val="FF0000"/>
                </a:solidFill>
                <a:latin typeface="+mj-lt"/>
              </a:rPr>
              <a:t>V</a:t>
            </a:r>
            <a:r>
              <a:rPr lang="en-GB" dirty="0">
                <a:latin typeface="+mj-lt"/>
              </a:rPr>
              <a:t> Output </a:t>
            </a:r>
          </a:p>
          <a:p>
            <a:pPr eaLnBrk="1" hangingPunct="1">
              <a:buFont typeface="Wingdings" pitchFamily="2" charset="2"/>
              <a:buNone/>
            </a:pPr>
            <a:endParaRPr lang="en-GB" dirty="0">
              <a:latin typeface="+mj-lt"/>
            </a:endParaRPr>
          </a:p>
          <a:p>
            <a:pPr eaLnBrk="1" hangingPunct="1">
              <a:buFont typeface="Wingdings" pitchFamily="2" charset="2"/>
              <a:buNone/>
            </a:pPr>
            <a:endParaRPr lang="en-GB" dirty="0">
              <a:latin typeface="+mj-lt"/>
            </a:endParaRPr>
          </a:p>
          <a:p>
            <a:pPr eaLnBrk="1" hangingPunct="1">
              <a:buFont typeface="Wingdings" pitchFamily="2" charset="2"/>
              <a:buNone/>
            </a:pPr>
            <a:endParaRPr lang="en-GB" dirty="0">
              <a:latin typeface="+mj-lt"/>
            </a:endParaRPr>
          </a:p>
          <a:p>
            <a:pPr eaLnBrk="1" hangingPunct="1">
              <a:buFont typeface="Wingdings" pitchFamily="2" charset="2"/>
              <a:buNone/>
            </a:pPr>
            <a:endParaRPr lang="en-GB" dirty="0">
              <a:latin typeface="+mj-lt"/>
            </a:endParaRPr>
          </a:p>
          <a:p>
            <a:pPr eaLnBrk="1" hangingPunct="1">
              <a:buFont typeface="Wingdings" pitchFamily="2" charset="2"/>
              <a:buNone/>
            </a:pPr>
            <a:endParaRPr lang="en-GB" dirty="0">
              <a:latin typeface="+mj-lt"/>
            </a:endParaRPr>
          </a:p>
          <a:p>
            <a:pPr algn="ctr" eaLnBrk="1" hangingPunct="1">
              <a:buFont typeface="Wingdings" pitchFamily="2" charset="2"/>
              <a:buNone/>
            </a:pPr>
            <a:r>
              <a:rPr lang="en-GB" dirty="0">
                <a:latin typeface="+mj-lt"/>
              </a:rPr>
              <a:t>Base intake on the Eatwell Plate</a:t>
            </a:r>
          </a:p>
          <a:p>
            <a:pPr algn="ctr" eaLnBrk="1" hangingPunct="1">
              <a:buFont typeface="Wingdings" pitchFamily="2" charset="2"/>
              <a:buNone/>
            </a:pPr>
            <a:endParaRPr lang="en-GB" dirty="0">
              <a:latin typeface="Arial Unicode MS" pitchFamily="34" charset="-128"/>
            </a:endParaRPr>
          </a:p>
        </p:txBody>
      </p:sp>
      <p:pic>
        <p:nvPicPr>
          <p:cNvPr id="31747" name="Picture 5" descr="Food-Safe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989138"/>
            <a:ext cx="2592387"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9" descr="exercis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1989138"/>
            <a:ext cx="2879725"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332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1746">
                                            <p:txEl>
                                              <p:pRg st="0" end="0"/>
                                            </p:txEl>
                                          </p:spTgt>
                                        </p:tgtEl>
                                      </p:cBhvr>
                                    </p:animEffect>
                                    <p:animScale>
                                      <p:cBhvr>
                                        <p:cTn id="7" dur="250" autoRev="1" fill="hold"/>
                                        <p:tgtEl>
                                          <p:spTgt spid="31746">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31746">
                                            <p:txEl>
                                              <p:pRg st="2" end="2"/>
                                            </p:txEl>
                                          </p:spTgt>
                                        </p:tgtEl>
                                      </p:cBhvr>
                                    </p:animEffect>
                                    <p:animScale>
                                      <p:cBhvr>
                                        <p:cTn id="12" dur="250" autoRev="1" fill="hold"/>
                                        <p:tgtEl>
                                          <p:spTgt spid="31746">
                                            <p:txEl>
                                              <p:pRg st="2" end="2"/>
                                            </p:txEl>
                                          </p:spTgt>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31746">
                                            <p:txEl>
                                              <p:pRg st="8" end="8"/>
                                            </p:txEl>
                                          </p:spTgt>
                                        </p:tgtEl>
                                      </p:cBhvr>
                                    </p:animEffect>
                                    <p:animScale>
                                      <p:cBhvr>
                                        <p:cTn id="17" dur="250" autoRev="1" fill="hold"/>
                                        <p:tgtEl>
                                          <p:spTgt spid="31746">
                                            <p:txEl>
                                              <p:pRg st="8" end="8"/>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The Media</a:t>
            </a:r>
          </a:p>
        </p:txBody>
      </p:sp>
      <p:sp>
        <p:nvSpPr>
          <p:cNvPr id="3" name="Content Placeholder 2"/>
          <p:cNvSpPr>
            <a:spLocks noGrp="1"/>
          </p:cNvSpPr>
          <p:nvPr>
            <p:ph idx="1"/>
          </p:nvPr>
        </p:nvSpPr>
        <p:spPr/>
        <p:txBody>
          <a:bodyPr/>
          <a:lstStyle/>
          <a:p>
            <a:r>
              <a:rPr lang="en-GB" dirty="0"/>
              <a:t>Health claims often reported</a:t>
            </a:r>
          </a:p>
          <a:p>
            <a:pPr marL="0" indent="0">
              <a:buNone/>
            </a:pPr>
            <a:r>
              <a:rPr lang="en-GB" dirty="0"/>
              <a:t>    in the media</a:t>
            </a:r>
          </a:p>
          <a:p>
            <a:r>
              <a:rPr lang="en-GB" dirty="0"/>
              <a:t>Sponsored studies </a:t>
            </a:r>
            <a:r>
              <a:rPr lang="en-GB" dirty="0">
                <a:sym typeface="Wingdings" pitchFamily="2" charset="2"/>
              </a:rPr>
              <a:t></a:t>
            </a:r>
            <a:r>
              <a:rPr lang="en-GB" dirty="0"/>
              <a:t> biased results</a:t>
            </a:r>
          </a:p>
          <a:p>
            <a:r>
              <a:rPr lang="en-GB" dirty="0"/>
              <a:t>Sample sizes of the test group may be small so the results can’t be generalised to everyone</a:t>
            </a:r>
          </a:p>
          <a:p>
            <a:r>
              <a:rPr lang="en-GB" dirty="0"/>
              <a:t>Financial gain? Some products expensive</a:t>
            </a:r>
          </a:p>
          <a:p>
            <a:r>
              <a:rPr lang="en-GB" dirty="0"/>
              <a:t>Be critical, may have to take with a (small) pinch of salt!</a:t>
            </a:r>
          </a:p>
        </p:txBody>
      </p:sp>
      <p:pic>
        <p:nvPicPr>
          <p:cNvPr id="2051" name="Picture 3" descr="C:\Users\Sarah\AppData\Local\Microsoft\Windows\Temporary Internet Files\Content.IE5\FG47NFHQ\MC900371064[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2160" y="476672"/>
            <a:ext cx="2351700" cy="2068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5029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Summary</a:t>
            </a:r>
          </a:p>
        </p:txBody>
      </p:sp>
      <p:sp>
        <p:nvSpPr>
          <p:cNvPr id="4" name="TextBox 3"/>
          <p:cNvSpPr txBox="1"/>
          <p:nvPr/>
        </p:nvSpPr>
        <p:spPr>
          <a:xfrm>
            <a:off x="683568" y="1700808"/>
            <a:ext cx="7921708" cy="3970318"/>
          </a:xfrm>
          <a:prstGeom prst="rect">
            <a:avLst/>
          </a:prstGeom>
          <a:noFill/>
        </p:spPr>
        <p:txBody>
          <a:bodyPr wrap="square" rtlCol="0">
            <a:spAutoFit/>
          </a:bodyPr>
          <a:lstStyle/>
          <a:p>
            <a:r>
              <a:rPr lang="en-GB" sz="2800" dirty="0"/>
              <a:t>Hopefully now you feel informed about what a ‘healthy lifestyle’ means and are able to identify health behaviours you could incorporate into your lifestyle</a:t>
            </a:r>
          </a:p>
          <a:p>
            <a:pPr marL="342900" indent="-342900">
              <a:buFont typeface="Arial" pitchFamily="34" charset="0"/>
              <a:buChar char="•"/>
            </a:pPr>
            <a:r>
              <a:rPr lang="en-GB" sz="2800" dirty="0"/>
              <a:t>Eat sensibly, choosing a range of foods in the correct proportions</a:t>
            </a:r>
          </a:p>
          <a:p>
            <a:pPr marL="342900" indent="-342900">
              <a:buFont typeface="Arial" pitchFamily="34" charset="0"/>
              <a:buChar char="•"/>
            </a:pPr>
            <a:r>
              <a:rPr lang="en-GB" sz="2800" dirty="0"/>
              <a:t>Move often</a:t>
            </a:r>
          </a:p>
          <a:p>
            <a:pPr marL="342900" indent="-342900">
              <a:buFont typeface="Arial" pitchFamily="34" charset="0"/>
              <a:buChar char="•"/>
            </a:pPr>
            <a:r>
              <a:rPr lang="en-GB" sz="2800" dirty="0"/>
              <a:t>Drink moderately</a:t>
            </a:r>
          </a:p>
          <a:p>
            <a:pPr marL="342900" indent="-342900">
              <a:buFont typeface="Arial" pitchFamily="34" charset="0"/>
              <a:buChar char="•"/>
            </a:pPr>
            <a:r>
              <a:rPr lang="en-GB" sz="2800" dirty="0"/>
              <a:t>If you smoke, try to stop</a:t>
            </a:r>
          </a:p>
        </p:txBody>
      </p:sp>
    </p:spTree>
    <p:extLst>
      <p:ext uri="{BB962C8B-B14F-4D97-AF65-F5344CB8AC3E}">
        <p14:creationId xmlns:p14="http://schemas.microsoft.com/office/powerpoint/2010/main" val="2665285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6590" y="1988840"/>
            <a:ext cx="7470828" cy="2862322"/>
          </a:xfrm>
          <a:prstGeom prst="rect">
            <a:avLst/>
          </a:prstGeom>
          <a:noFill/>
        </p:spPr>
        <p:txBody>
          <a:bodyPr wrap="none" lIns="91440" tIns="45720" rIns="91440" bIns="45720">
            <a:spAutoFit/>
          </a:bodyPr>
          <a:lstStyle/>
          <a:p>
            <a:pPr algn="ctr"/>
            <a:r>
              <a:rPr lang="en-US" sz="6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 for listening</a:t>
            </a:r>
          </a:p>
          <a:p>
            <a:pPr algn="ctr"/>
            <a:endParaRPr lang="en-US" sz="6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r>
              <a:rPr lang="en-US" sz="6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Any questions?</a:t>
            </a:r>
          </a:p>
        </p:txBody>
      </p:sp>
    </p:spTree>
    <p:extLst>
      <p:ext uri="{BB962C8B-B14F-4D97-AF65-F5344CB8AC3E}">
        <p14:creationId xmlns:p14="http://schemas.microsoft.com/office/powerpoint/2010/main" val="205513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2"/>
                                        </p:tgtEl>
                                        <p:attrNameLst>
                                          <p:attrName>style.color</p:attrName>
                                        </p:attrNameLst>
                                      </p:cBhvr>
                                      <p:to>
                                        <a:schemeClr val="bg1"/>
                                      </p:to>
                                    </p:animClr>
                                    <p:animClr clrSpc="rgb" dir="cw">
                                      <p:cBhvr>
                                        <p:cTn id="7" dur="250" autoRev="1" fill="remove"/>
                                        <p:tgtEl>
                                          <p:spTgt spid="2"/>
                                        </p:tgtEl>
                                        <p:attrNameLst>
                                          <p:attrName>fillcolor</p:attrName>
                                        </p:attrNameLst>
                                      </p:cBhvr>
                                      <p:to>
                                        <a:schemeClr val="bg1"/>
                                      </p:to>
                                    </p:animClr>
                                    <p:set>
                                      <p:cBhvr>
                                        <p:cTn id="8" dur="250" autoRev="1" fill="remove"/>
                                        <p:tgtEl>
                                          <p:spTgt spid="2"/>
                                        </p:tgtEl>
                                        <p:attrNameLst>
                                          <p:attrName>fill.type</p:attrName>
                                        </p:attrNameLst>
                                      </p:cBhvr>
                                      <p:to>
                                        <p:strVal val="solid"/>
                                      </p:to>
                                    </p:set>
                                    <p:set>
                                      <p:cBhvr>
                                        <p:cTn id="9" dur="250" autoRev="1" fill="remove"/>
                                        <p:tgtEl>
                                          <p:spTgt spid="2"/>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 presetClass="exit" presetSubtype="4" fill="hold" grpId="1" nodeType="clickEffect">
                                  <p:stCondLst>
                                    <p:cond delay="0"/>
                                  </p:stCondLst>
                                  <p:childTnLst>
                                    <p:anim calcmode="lin" valueType="num">
                                      <p:cBhvr additive="base">
                                        <p:cTn id="13" dur="500"/>
                                        <p:tgtEl>
                                          <p:spTgt spid="2"/>
                                        </p:tgtEl>
                                        <p:attrNameLst>
                                          <p:attrName>ppt_x</p:attrName>
                                        </p:attrNameLst>
                                      </p:cBhvr>
                                      <p:tavLst>
                                        <p:tav tm="0">
                                          <p:val>
                                            <p:strVal val="ppt_x"/>
                                          </p:val>
                                        </p:tav>
                                        <p:tav tm="100000">
                                          <p:val>
                                            <p:strVal val="ppt_x"/>
                                          </p:val>
                                        </p:tav>
                                      </p:tavLst>
                                    </p:anim>
                                    <p:anim calcmode="lin" valueType="num">
                                      <p:cBhvr additive="base">
                                        <p:cTn id="14" dur="500"/>
                                        <p:tgtEl>
                                          <p:spTgt spid="2"/>
                                        </p:tgtEl>
                                        <p:attrNameLst>
                                          <p:attrName>ppt_y</p:attrName>
                                        </p:attrNameLst>
                                      </p:cBhvr>
                                      <p:tavLst>
                                        <p:tav tm="0">
                                          <p:val>
                                            <p:strVal val="ppt_y"/>
                                          </p:val>
                                        </p:tav>
                                        <p:tav tm="100000">
                                          <p:val>
                                            <p:strVal val="1+ppt_h/2"/>
                                          </p:val>
                                        </p:tav>
                                      </p:tavLst>
                                    </p:anim>
                                    <p:set>
                                      <p:cBhvr>
                                        <p:cTn id="15"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1706</TotalTime>
  <Words>1962</Words>
  <Application>Microsoft Office PowerPoint</Application>
  <PresentationFormat>On-screen Show (4:3)</PresentationFormat>
  <Paragraphs>229</Paragraphs>
  <Slides>26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Arial Unicode MS</vt:lpstr>
      <vt:lpstr>Calibri</vt:lpstr>
      <vt:lpstr>Wingdings</vt:lpstr>
      <vt:lpstr>Office Theme</vt:lpstr>
      <vt:lpstr>Leading a Healthy Lifestyle</vt:lpstr>
      <vt:lpstr>Aims of the presentation</vt:lpstr>
      <vt:lpstr>‘The Holy Four’</vt:lpstr>
      <vt:lpstr>Exercise can be a walk in the park!</vt:lpstr>
      <vt:lpstr>PowerPoint Presentation</vt:lpstr>
      <vt:lpstr>PowerPoint Presentation</vt:lpstr>
      <vt:lpstr>Why 5 a Day?</vt:lpstr>
      <vt:lpstr>PowerPoint Presentation</vt:lpstr>
      <vt:lpstr>Carbohydrates</vt:lpstr>
      <vt:lpstr>PowerPoint Presentation</vt:lpstr>
      <vt:lpstr>Whole grains</vt:lpstr>
      <vt:lpstr>PowerPoint Presentation</vt:lpstr>
      <vt:lpstr>Protein: Meat, Fish and Alternatives</vt:lpstr>
      <vt:lpstr>Protein: Milk and Dairy</vt:lpstr>
      <vt:lpstr>High Fat/Sugary Foods</vt:lpstr>
      <vt:lpstr>Fat</vt:lpstr>
      <vt:lpstr>Omega 3</vt:lpstr>
      <vt:lpstr>How to   saturated fat intake</vt:lpstr>
      <vt:lpstr>Salt is falling, all around us</vt:lpstr>
      <vt:lpstr>Tips to reduce salt intake</vt:lpstr>
      <vt:lpstr>Meal Pattern</vt:lpstr>
      <vt:lpstr>Watch your Weight</vt:lpstr>
      <vt:lpstr>PowerPoint Presentation</vt:lpstr>
      <vt:lpstr>The Media</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Sarah Brook</dc:creator>
  <cp:lastModifiedBy>Sharan N</cp:lastModifiedBy>
  <cp:revision>99</cp:revision>
  <dcterms:created xsi:type="dcterms:W3CDTF">2012-09-24T18:30:07Z</dcterms:created>
  <dcterms:modified xsi:type="dcterms:W3CDTF">2023-12-08T12:23:21Z</dcterms:modified>
</cp:coreProperties>
</file>