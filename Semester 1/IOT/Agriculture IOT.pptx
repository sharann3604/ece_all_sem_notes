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5" r:id="rId9"/>
    <p:sldId id="267" r:id="rId10"/>
    <p:sldId id="268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725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1456" y="38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8000"/>
                </a:lnTo>
              </a:path>
            </a:pathLst>
          </a:custGeom>
          <a:ln w="990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25312" y="3681602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54" y="0"/>
                </a:moveTo>
                <a:lnTo>
                  <a:pt x="0" y="3176587"/>
                </a:lnTo>
              </a:path>
            </a:pathLst>
          </a:custGeom>
          <a:ln w="990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1338" y="0"/>
            <a:ext cx="3007995" cy="6858000"/>
          </a:xfrm>
          <a:custGeom>
            <a:avLst/>
            <a:gdLst/>
            <a:ahLst/>
            <a:cxnLst/>
            <a:rect l="l" t="t" r="r" b="b"/>
            <a:pathLst>
              <a:path w="3007995" h="6858000">
                <a:moveTo>
                  <a:pt x="3007614" y="0"/>
                </a:moveTo>
                <a:lnTo>
                  <a:pt x="2043214" y="0"/>
                </a:lnTo>
                <a:lnTo>
                  <a:pt x="0" y="6858000"/>
                </a:lnTo>
                <a:lnTo>
                  <a:pt x="3007614" y="6858000"/>
                </a:lnTo>
                <a:lnTo>
                  <a:pt x="3007614" y="0"/>
                </a:lnTo>
                <a:close/>
              </a:path>
            </a:pathLst>
          </a:custGeom>
          <a:solidFill>
            <a:srgbClr val="90C225">
              <a:alpha val="3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4961" y="0"/>
            <a:ext cx="2587625" cy="6858000"/>
          </a:xfrm>
          <a:custGeom>
            <a:avLst/>
            <a:gdLst/>
            <a:ahLst/>
            <a:cxnLst/>
            <a:rect l="l" t="t" r="r" b="b"/>
            <a:pathLst>
              <a:path w="2587625" h="6858000">
                <a:moveTo>
                  <a:pt x="2587040" y="0"/>
                </a:moveTo>
                <a:lnTo>
                  <a:pt x="0" y="0"/>
                </a:lnTo>
                <a:lnTo>
                  <a:pt x="1207960" y="6858000"/>
                </a:lnTo>
                <a:lnTo>
                  <a:pt x="2587040" y="6858000"/>
                </a:lnTo>
                <a:lnTo>
                  <a:pt x="2587040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2167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836" y="0"/>
                </a:moveTo>
                <a:lnTo>
                  <a:pt x="0" y="3810000"/>
                </a:lnTo>
                <a:lnTo>
                  <a:pt x="3259836" y="3810000"/>
                </a:lnTo>
                <a:lnTo>
                  <a:pt x="3259836" y="0"/>
                </a:lnTo>
                <a:close/>
              </a:path>
            </a:pathLst>
          </a:custGeom>
          <a:solidFill>
            <a:srgbClr val="539F20">
              <a:alpha val="7215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518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429" y="0"/>
                </a:moveTo>
                <a:lnTo>
                  <a:pt x="0" y="0"/>
                </a:lnTo>
                <a:lnTo>
                  <a:pt x="2467838" y="6858000"/>
                </a:lnTo>
                <a:lnTo>
                  <a:pt x="2851429" y="6858000"/>
                </a:lnTo>
                <a:lnTo>
                  <a:pt x="2851429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8876" y="0"/>
            <a:ext cx="1290320" cy="6858000"/>
          </a:xfrm>
          <a:custGeom>
            <a:avLst/>
            <a:gdLst/>
            <a:ahLst/>
            <a:cxnLst/>
            <a:rect l="l" t="t" r="r" b="b"/>
            <a:pathLst>
              <a:path w="1290320" h="6858000">
                <a:moveTo>
                  <a:pt x="1290078" y="0"/>
                </a:moveTo>
                <a:lnTo>
                  <a:pt x="1018476" y="0"/>
                </a:lnTo>
                <a:lnTo>
                  <a:pt x="0" y="6858000"/>
                </a:lnTo>
                <a:lnTo>
                  <a:pt x="1290078" y="6858000"/>
                </a:lnTo>
                <a:lnTo>
                  <a:pt x="1290078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40629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321" y="0"/>
                </a:moveTo>
                <a:lnTo>
                  <a:pt x="0" y="0"/>
                </a:lnTo>
                <a:lnTo>
                  <a:pt x="1107897" y="6858000"/>
                </a:lnTo>
                <a:lnTo>
                  <a:pt x="1248321" y="6858000"/>
                </a:lnTo>
                <a:lnTo>
                  <a:pt x="1248321" y="0"/>
                </a:lnTo>
                <a:close/>
              </a:path>
            </a:pathLst>
          </a:custGeom>
          <a:solidFill>
            <a:srgbClr val="90C225">
              <a:alpha val="650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1581" y="3589781"/>
            <a:ext cx="1817370" cy="3268345"/>
          </a:xfrm>
          <a:custGeom>
            <a:avLst/>
            <a:gdLst/>
            <a:ahLst/>
            <a:cxnLst/>
            <a:rect l="l" t="t" r="r" b="b"/>
            <a:pathLst>
              <a:path w="1817370" h="3268345">
                <a:moveTo>
                  <a:pt x="1817370" y="0"/>
                </a:moveTo>
                <a:lnTo>
                  <a:pt x="0" y="3268217"/>
                </a:lnTo>
                <a:lnTo>
                  <a:pt x="1817370" y="3268217"/>
                </a:lnTo>
                <a:lnTo>
                  <a:pt x="1817370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8790" y="242569"/>
            <a:ext cx="8222615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8838" y="1031239"/>
            <a:ext cx="8550275" cy="3709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90C225">
              <a:alpha val="850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129875" y="2894445"/>
            <a:ext cx="7064375" cy="3226524"/>
          </a:xfrm>
          <a:prstGeom prst="rect">
            <a:avLst/>
          </a:prstGeom>
        </p:spPr>
        <p:txBody>
          <a:bodyPr vert="horz" wrap="square" lIns="0" tIns="266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5400" dirty="0">
                <a:solidFill>
                  <a:srgbClr val="90C225"/>
                </a:solidFill>
                <a:latin typeface="Trebuchet MS"/>
                <a:cs typeface="Trebuchet MS"/>
              </a:rPr>
              <a:t>IoT</a:t>
            </a:r>
            <a:r>
              <a:rPr sz="5400" spc="-200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5400" dirty="0">
                <a:solidFill>
                  <a:srgbClr val="90C225"/>
                </a:solidFill>
                <a:latin typeface="Trebuchet MS"/>
                <a:cs typeface="Trebuchet MS"/>
              </a:rPr>
              <a:t>shaping</a:t>
            </a:r>
            <a:r>
              <a:rPr sz="5400" spc="-110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5400" spc="-10" dirty="0">
                <a:solidFill>
                  <a:srgbClr val="90C225"/>
                </a:solidFill>
                <a:latin typeface="Trebuchet MS"/>
                <a:cs typeface="Trebuchet MS"/>
              </a:rPr>
              <a:t>agriculture</a:t>
            </a:r>
            <a:endParaRPr sz="5400" dirty="0">
              <a:latin typeface="Trebuchet MS"/>
              <a:cs typeface="Trebuchet MS"/>
            </a:endParaRPr>
          </a:p>
          <a:p>
            <a:pPr marL="837565">
              <a:lnSpc>
                <a:spcPct val="100000"/>
              </a:lnSpc>
              <a:spcBef>
                <a:spcPts val="630"/>
              </a:spcBef>
            </a:pPr>
            <a:r>
              <a:rPr sz="1700" dirty="0">
                <a:solidFill>
                  <a:srgbClr val="7E7E7E"/>
                </a:solidFill>
                <a:latin typeface="Trebuchet MS"/>
                <a:cs typeface="Trebuchet MS"/>
              </a:rPr>
              <a:t>Things</a:t>
            </a:r>
            <a:r>
              <a:rPr sz="1700" spc="-5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7E7E7E"/>
                </a:solidFill>
                <a:latin typeface="Trebuchet MS"/>
                <a:cs typeface="Trebuchet MS"/>
              </a:rPr>
              <a:t>to</a:t>
            </a:r>
            <a:r>
              <a:rPr sz="1700" spc="-4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7E7E7E"/>
                </a:solidFill>
                <a:latin typeface="Trebuchet MS"/>
                <a:cs typeface="Trebuchet MS"/>
              </a:rPr>
              <a:t>consider</a:t>
            </a:r>
            <a:r>
              <a:rPr sz="1700" spc="-4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7E7E7E"/>
                </a:solidFill>
                <a:latin typeface="Trebuchet MS"/>
                <a:cs typeface="Trebuchet MS"/>
              </a:rPr>
              <a:t>before</a:t>
            </a:r>
            <a:r>
              <a:rPr sz="1700" spc="-4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7E7E7E"/>
                </a:solidFill>
                <a:latin typeface="Trebuchet MS"/>
                <a:cs typeface="Trebuchet MS"/>
              </a:rPr>
              <a:t>developing</a:t>
            </a:r>
            <a:r>
              <a:rPr sz="1700" spc="-4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7E7E7E"/>
                </a:solidFill>
                <a:latin typeface="Trebuchet MS"/>
                <a:cs typeface="Trebuchet MS"/>
              </a:rPr>
              <a:t>the</a:t>
            </a:r>
            <a:r>
              <a:rPr sz="1700" spc="-4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7E7E7E"/>
                </a:solidFill>
                <a:latin typeface="Trebuchet MS"/>
                <a:cs typeface="Trebuchet MS"/>
              </a:rPr>
              <a:t>smart</a:t>
            </a:r>
            <a:r>
              <a:rPr sz="1700" spc="-4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7E7E7E"/>
                </a:solidFill>
                <a:latin typeface="Trebuchet MS"/>
                <a:cs typeface="Trebuchet MS"/>
              </a:rPr>
              <a:t>farming</a:t>
            </a:r>
            <a:r>
              <a:rPr sz="1700" spc="-5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7E7E7E"/>
                </a:solidFill>
                <a:latin typeface="Trebuchet MS"/>
                <a:cs typeface="Trebuchet MS"/>
              </a:rPr>
              <a:t>solution</a:t>
            </a:r>
            <a:endParaRPr sz="17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55"/>
              </a:spcBef>
            </a:pPr>
            <a:endParaRPr sz="1700" dirty="0">
              <a:latin typeface="Trebuchet MS"/>
              <a:cs typeface="Trebuchet MS"/>
            </a:endParaRPr>
          </a:p>
          <a:p>
            <a:pPr marR="536575" algn="ctr">
              <a:lnSpc>
                <a:spcPct val="100000"/>
              </a:lnSpc>
            </a:pPr>
            <a:r>
              <a:rPr lang="en-US" sz="1700" b="1" spc="-10" dirty="0">
                <a:solidFill>
                  <a:srgbClr val="7E7E7E"/>
                </a:solidFill>
                <a:latin typeface="Trebuchet MS"/>
                <a:cs typeface="Trebuchet MS"/>
              </a:rPr>
              <a:t>By:</a:t>
            </a:r>
          </a:p>
          <a:p>
            <a:pPr marR="536575" algn="ctr">
              <a:lnSpc>
                <a:spcPct val="100000"/>
              </a:lnSpc>
            </a:pPr>
            <a:r>
              <a:rPr lang="en-US" sz="1700" b="1" spc="-10" dirty="0">
                <a:solidFill>
                  <a:srgbClr val="7E7E7E"/>
                </a:solidFill>
                <a:latin typeface="Trebuchet MS"/>
                <a:cs typeface="Trebuchet MS"/>
              </a:rPr>
              <a:t>Vijay D</a:t>
            </a:r>
          </a:p>
          <a:p>
            <a:pPr marR="536575" algn="ctr">
              <a:lnSpc>
                <a:spcPct val="100000"/>
              </a:lnSpc>
            </a:pPr>
            <a:r>
              <a:rPr lang="en-US" sz="1700" b="1" spc="-10" dirty="0">
                <a:solidFill>
                  <a:srgbClr val="7E7E7E"/>
                </a:solidFill>
                <a:latin typeface="Trebuchet MS"/>
                <a:cs typeface="Trebuchet MS"/>
              </a:rPr>
              <a:t>Mallikarjun P</a:t>
            </a:r>
          </a:p>
          <a:p>
            <a:pPr marR="536575" algn="ctr">
              <a:lnSpc>
                <a:spcPct val="100000"/>
              </a:lnSpc>
            </a:pPr>
            <a:r>
              <a:rPr lang="en-US" sz="1700" b="1" spc="-10" dirty="0" err="1">
                <a:solidFill>
                  <a:srgbClr val="7E7E7E"/>
                </a:solidFill>
                <a:latin typeface="Trebuchet MS"/>
                <a:cs typeface="Trebuchet MS"/>
              </a:rPr>
              <a:t>Srujan</a:t>
            </a:r>
            <a:r>
              <a:rPr lang="en-US" sz="1700" b="1" spc="-10" dirty="0">
                <a:solidFill>
                  <a:srgbClr val="7E7E7E"/>
                </a:solidFill>
                <a:latin typeface="Trebuchet MS"/>
                <a:cs typeface="Trebuchet MS"/>
              </a:rPr>
              <a:t> R</a:t>
            </a:r>
          </a:p>
          <a:p>
            <a:pPr marR="536575" algn="ctr">
              <a:lnSpc>
                <a:spcPct val="100000"/>
              </a:lnSpc>
            </a:pPr>
            <a:r>
              <a:rPr lang="en-US" sz="1700" b="1" spc="-10" dirty="0">
                <a:solidFill>
                  <a:srgbClr val="7E7E7E"/>
                </a:solidFill>
                <a:latin typeface="Trebuchet MS"/>
                <a:cs typeface="Trebuchet MS"/>
              </a:rPr>
              <a:t>Shiva Darshan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3453"/>
            <a:ext cx="448945" cy="2844800"/>
          </a:xfrm>
          <a:custGeom>
            <a:avLst/>
            <a:gdLst/>
            <a:ahLst/>
            <a:cxnLst/>
            <a:rect l="l" t="t" r="r" b="b"/>
            <a:pathLst>
              <a:path w="448945" h="2844800">
                <a:moveTo>
                  <a:pt x="0" y="0"/>
                </a:moveTo>
                <a:lnTo>
                  <a:pt x="0" y="2844546"/>
                </a:lnTo>
                <a:lnTo>
                  <a:pt x="448818" y="2844546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Contents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8790" y="904748"/>
            <a:ext cx="6229985" cy="3254737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Modern</a:t>
            </a:r>
            <a:r>
              <a:rPr sz="18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Agriculture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Why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IoT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agriculture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800" spc="-1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few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use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cases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IoT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Emerging</a:t>
            </a:r>
            <a:r>
              <a:rPr sz="1800" spc="-1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Agriculture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use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cases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Things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consider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on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IoT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Data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decision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Smart</a:t>
            </a:r>
            <a:r>
              <a:rPr sz="18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Tagging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Need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hour</a:t>
            </a: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3453"/>
            <a:ext cx="448945" cy="2844800"/>
          </a:xfrm>
          <a:custGeom>
            <a:avLst/>
            <a:gdLst/>
            <a:ahLst/>
            <a:cxnLst/>
            <a:rect l="l" t="t" r="r" b="b"/>
            <a:pathLst>
              <a:path w="448945" h="2844800">
                <a:moveTo>
                  <a:pt x="0" y="0"/>
                </a:moveTo>
                <a:lnTo>
                  <a:pt x="0" y="2844546"/>
                </a:lnTo>
                <a:lnTo>
                  <a:pt x="448818" y="2844546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Modern</a:t>
            </a:r>
            <a:r>
              <a:rPr spc="-229" dirty="0"/>
              <a:t> </a:t>
            </a:r>
            <a:r>
              <a:rPr spc="-10" dirty="0"/>
              <a:t>Agriculture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8838" y="1000759"/>
            <a:ext cx="8397875" cy="523113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55600" marR="5080" indent="-342900" algn="just">
              <a:lnSpc>
                <a:spcPts val="2160"/>
              </a:lnSpc>
              <a:spcBef>
                <a:spcPts val="370"/>
              </a:spcBef>
            </a:pPr>
            <a:r>
              <a:rPr sz="1600" spc="12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Agriculture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was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key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development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rise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human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civilization,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whereby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farming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created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food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surpluses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that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enabled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people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live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in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cities.</a:t>
            </a:r>
            <a:endParaRPr sz="2000">
              <a:latin typeface="Trebuchet MS"/>
              <a:cs typeface="Trebuchet MS"/>
            </a:endParaRPr>
          </a:p>
          <a:p>
            <a:pPr marL="355600" marR="738505" indent="-342900" algn="just">
              <a:lnSpc>
                <a:spcPts val="2160"/>
              </a:lnSpc>
              <a:spcBef>
                <a:spcPts val="1000"/>
              </a:spcBef>
            </a:pPr>
            <a:r>
              <a:rPr sz="1600" spc="12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spc="110" dirty="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Major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types: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Cultivation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Land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&amp;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Breeding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2000" spc="-1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Animals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/</a:t>
            </a:r>
            <a:r>
              <a:rPr sz="2000" spc="-1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Animal Husbandry</a:t>
            </a:r>
            <a:endParaRPr sz="20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730"/>
              </a:spcBef>
            </a:pPr>
            <a:r>
              <a:rPr sz="1600" spc="12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spc="140" dirty="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History:</a:t>
            </a:r>
            <a:endParaRPr sz="20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790"/>
              </a:spcBef>
            </a:pPr>
            <a:r>
              <a:rPr sz="145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spc="470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105,000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years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ago: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Wild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grains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gathering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785"/>
              </a:spcBef>
            </a:pPr>
            <a:r>
              <a:rPr sz="145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spc="46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11,500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years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ago: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Planting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/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Domesticated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grains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780"/>
              </a:spcBef>
            </a:pPr>
            <a:r>
              <a:rPr sz="145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spc="45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10,000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years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ago: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Domesticated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animals</a:t>
            </a:r>
            <a:endParaRPr sz="1800">
              <a:latin typeface="Trebuchet MS"/>
              <a:cs typeface="Trebuchet MS"/>
            </a:endParaRPr>
          </a:p>
          <a:p>
            <a:pPr marL="355600" marR="300990" indent="-343535">
              <a:lnSpc>
                <a:spcPts val="2160"/>
              </a:lnSpc>
              <a:spcBef>
                <a:spcPts val="102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Traditional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methods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have</a:t>
            </a:r>
            <a:r>
              <a:rPr sz="20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been</a:t>
            </a:r>
            <a:r>
              <a:rPr sz="20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rebuchet MS"/>
                <a:cs typeface="Trebuchet MS"/>
              </a:rPr>
              <a:t>improvised</a:t>
            </a:r>
            <a:r>
              <a:rPr sz="2000" u="sng" spc="-4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rebuchet MS"/>
                <a:cs typeface="Trebuchet MS"/>
              </a:rPr>
              <a:t>often</a:t>
            </a:r>
            <a:r>
              <a:rPr sz="2000" u="sng" spc="-6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rebuchet MS"/>
                <a:cs typeface="Trebuchet MS"/>
              </a:rPr>
              <a:t>with</a:t>
            </a:r>
            <a:r>
              <a:rPr sz="2000" u="sng" spc="-5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rebuchet MS"/>
                <a:cs typeface="Trebuchet MS"/>
              </a:rPr>
              <a:t>application</a:t>
            </a:r>
            <a:r>
              <a:rPr sz="2000" u="sng" spc="-5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u="sng" spc="-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rebuchet MS"/>
                <a:cs typeface="Trebuchet MS"/>
              </a:rPr>
              <a:t>of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rebuchet MS"/>
                <a:cs typeface="Trebuchet MS"/>
              </a:rPr>
              <a:t>new</a:t>
            </a:r>
            <a:r>
              <a:rPr sz="2000" u="sng" spc="-5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rebuchet MS"/>
                <a:cs typeface="Trebuchet MS"/>
              </a:rPr>
              <a:t>technologies</a:t>
            </a:r>
            <a:r>
              <a:rPr sz="2000" u="sng" spc="-6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rebuchet MS"/>
                <a:cs typeface="Trebuchet MS"/>
              </a:rPr>
              <a:t>and</a:t>
            </a:r>
            <a:r>
              <a:rPr sz="2000" u="sng" spc="-4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rebuchet MS"/>
                <a:cs typeface="Trebuchet MS"/>
              </a:rPr>
              <a:t>information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  <a:p>
            <a:pPr marL="354965" marR="14604" indent="-342900">
              <a:lnSpc>
                <a:spcPts val="216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Major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Success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Parameters: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Improved</a:t>
            </a:r>
            <a:r>
              <a:rPr sz="200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Soil</a:t>
            </a:r>
            <a:r>
              <a:rPr sz="200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Trebuchet MS"/>
                <a:cs typeface="Trebuchet MS"/>
              </a:rPr>
              <a:t>Fertility,</a:t>
            </a:r>
            <a:r>
              <a:rPr sz="200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Effective</a:t>
            </a:r>
            <a:r>
              <a:rPr sz="2000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rebuchet MS"/>
                <a:cs typeface="Trebuchet MS"/>
              </a:rPr>
              <a:t>Irrigation, 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Advanced</a:t>
            </a:r>
            <a:r>
              <a:rPr sz="2000" spc="-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Harvesting,</a:t>
            </a:r>
            <a:r>
              <a:rPr sz="2000" spc="-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Enhanced</a:t>
            </a:r>
            <a:r>
              <a:rPr sz="2000" spc="-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Livestock</a:t>
            </a:r>
            <a:r>
              <a:rPr sz="2000" spc="-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rebuchet MS"/>
                <a:cs typeface="Trebuchet MS"/>
              </a:rPr>
              <a:t>Yield,</a:t>
            </a:r>
            <a:r>
              <a:rPr sz="2000" spc="-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Crop</a:t>
            </a:r>
            <a:r>
              <a:rPr sz="2000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rebuchet MS"/>
                <a:cs typeface="Trebuchet MS"/>
              </a:rPr>
              <a:t>protection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Results</a:t>
            </a:r>
            <a:r>
              <a:rPr sz="20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Efficient</a:t>
            </a:r>
            <a:r>
              <a:rPr sz="2000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Produce</a:t>
            </a:r>
            <a:r>
              <a:rPr sz="2000" spc="-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to</a:t>
            </a:r>
            <a:r>
              <a:rPr sz="2000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Market</a:t>
            </a:r>
            <a:r>
              <a:rPr sz="2000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to</a:t>
            </a:r>
            <a:r>
              <a:rPr sz="2000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rebuchet MS"/>
                <a:cs typeface="Trebuchet MS"/>
              </a:rPr>
              <a:t>Consumption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IoT</a:t>
            </a:r>
            <a:r>
              <a:rPr sz="20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strengthens</a:t>
            </a:r>
            <a:r>
              <a:rPr sz="20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modern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day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agricultural</a:t>
            </a:r>
            <a:r>
              <a:rPr sz="20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goals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3453"/>
            <a:ext cx="448945" cy="2844800"/>
          </a:xfrm>
          <a:custGeom>
            <a:avLst/>
            <a:gdLst/>
            <a:ahLst/>
            <a:cxnLst/>
            <a:rect l="l" t="t" r="r" b="b"/>
            <a:pathLst>
              <a:path w="448945" h="2844800">
                <a:moveTo>
                  <a:pt x="0" y="0"/>
                </a:moveTo>
                <a:lnTo>
                  <a:pt x="0" y="2844546"/>
                </a:lnTo>
                <a:lnTo>
                  <a:pt x="448818" y="2844546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Things</a:t>
            </a:r>
            <a:r>
              <a:rPr spc="-50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consider</a:t>
            </a:r>
            <a:r>
              <a:rPr spc="-50" dirty="0"/>
              <a:t> </a:t>
            </a:r>
            <a:r>
              <a:rPr dirty="0"/>
              <a:t>on</a:t>
            </a:r>
            <a:r>
              <a:rPr spc="-80" dirty="0"/>
              <a:t> </a:t>
            </a:r>
            <a:r>
              <a:rPr spc="-25" dirty="0"/>
              <a:t>IoT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8838" y="888773"/>
            <a:ext cx="8294370" cy="5166995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Major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IoT</a:t>
            </a:r>
            <a:r>
              <a:rPr sz="20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Objectives</a:t>
            </a:r>
            <a:endParaRPr sz="20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790"/>
              </a:spcBef>
            </a:pPr>
            <a:r>
              <a:rPr sz="145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spc="30" dirty="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Operate</a:t>
            </a:r>
            <a:endParaRPr sz="180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  <a:spcBef>
                <a:spcPts val="815"/>
              </a:spcBef>
            </a:pPr>
            <a:r>
              <a:rPr sz="1250" spc="12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spc="21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Perform</a:t>
            </a:r>
            <a:r>
              <a:rPr sz="16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specific</a:t>
            </a:r>
            <a:r>
              <a:rPr sz="16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operations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remotely</a:t>
            </a:r>
            <a:endParaRPr sz="160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  <a:spcBef>
                <a:spcPts val="810"/>
              </a:spcBef>
            </a:pPr>
            <a:r>
              <a:rPr sz="1250" spc="12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spc="254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Eg: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Irrigation</a:t>
            </a:r>
            <a:r>
              <a:rPr sz="16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systems,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fence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activation,</a:t>
            </a:r>
            <a:r>
              <a:rPr sz="1600" spc="-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Alarm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systems,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etc</a:t>
            </a:r>
            <a:endParaRPr sz="16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775"/>
              </a:spcBef>
            </a:pPr>
            <a:r>
              <a:rPr sz="145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spc="30" dirty="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Monitor</a:t>
            </a:r>
            <a:endParaRPr sz="180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  <a:spcBef>
                <a:spcPts val="815"/>
              </a:spcBef>
            </a:pPr>
            <a:r>
              <a:rPr sz="1250" spc="12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spc="250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Data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collection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make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decisions</a:t>
            </a:r>
            <a:endParaRPr sz="160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  <a:spcBef>
                <a:spcPts val="810"/>
              </a:spcBef>
            </a:pPr>
            <a:r>
              <a:rPr sz="1250" spc="12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spc="22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Eg:</a:t>
            </a:r>
            <a:r>
              <a:rPr sz="1600" spc="-11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Alert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mechanisms,</a:t>
            </a:r>
            <a:r>
              <a:rPr sz="16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early</a:t>
            </a:r>
            <a:r>
              <a:rPr sz="16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predictions,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Harvest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decisions,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etc</a:t>
            </a:r>
            <a:endParaRPr sz="16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775"/>
              </a:spcBef>
            </a:pPr>
            <a:r>
              <a:rPr sz="145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spc="20" dirty="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Monitor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Operate</a:t>
            </a:r>
            <a:endParaRPr sz="180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  <a:spcBef>
                <a:spcPts val="815"/>
              </a:spcBef>
            </a:pPr>
            <a:r>
              <a:rPr sz="1250" spc="12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spc="229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Take</a:t>
            </a:r>
            <a:r>
              <a:rPr sz="16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automated</a:t>
            </a:r>
            <a:r>
              <a:rPr sz="16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decisions</a:t>
            </a:r>
            <a:endParaRPr sz="160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  <a:spcBef>
                <a:spcPts val="810"/>
              </a:spcBef>
            </a:pPr>
            <a:r>
              <a:rPr sz="1250" spc="12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spc="240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Eg: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Soil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moisture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based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irrigation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triggers,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Camera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feed</a:t>
            </a:r>
            <a:r>
              <a:rPr sz="16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alarm</a:t>
            </a:r>
            <a:r>
              <a:rPr sz="16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systems,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etc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Coupling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new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age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systems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robust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enhancements</a:t>
            </a:r>
            <a:endParaRPr sz="20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790"/>
              </a:spcBef>
            </a:pPr>
            <a:r>
              <a:rPr sz="145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spc="47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Centralized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data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analysis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785"/>
              </a:spcBef>
            </a:pPr>
            <a:r>
              <a:rPr sz="145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spc="47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Block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chain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based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multi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party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decision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systems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785"/>
              </a:spcBef>
            </a:pPr>
            <a:r>
              <a:rPr sz="145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spc="470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Connectivity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with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business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applications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3453"/>
            <a:ext cx="448945" cy="2844800"/>
          </a:xfrm>
          <a:custGeom>
            <a:avLst/>
            <a:gdLst/>
            <a:ahLst/>
            <a:cxnLst/>
            <a:rect l="l" t="t" r="r" b="b"/>
            <a:pathLst>
              <a:path w="448945" h="2844800">
                <a:moveTo>
                  <a:pt x="0" y="0"/>
                </a:moveTo>
                <a:lnTo>
                  <a:pt x="0" y="2844546"/>
                </a:lnTo>
                <a:lnTo>
                  <a:pt x="448818" y="2844546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Why</a:t>
            </a:r>
            <a:r>
              <a:rPr spc="-40" dirty="0"/>
              <a:t> </a:t>
            </a:r>
            <a:r>
              <a:rPr dirty="0"/>
              <a:t>IoT</a:t>
            </a:r>
            <a:r>
              <a:rPr spc="-100" dirty="0"/>
              <a:t> </a:t>
            </a:r>
            <a:r>
              <a:rPr dirty="0"/>
              <a:t>for</a:t>
            </a:r>
            <a:r>
              <a:rPr spc="-35" dirty="0"/>
              <a:t> </a:t>
            </a:r>
            <a:r>
              <a:rPr spc="-10" dirty="0"/>
              <a:t>agriculture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8838" y="1004570"/>
            <a:ext cx="8399145" cy="516572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55600" marR="817244" indent="-342900">
              <a:lnSpc>
                <a:spcPts val="1939"/>
              </a:lnSpc>
              <a:spcBef>
                <a:spcPts val="345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expected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growth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population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8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billion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by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2025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(FAO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Food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and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Agriculture</a:t>
            </a:r>
            <a:r>
              <a:rPr sz="18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Organization</a:t>
            </a:r>
            <a:r>
              <a:rPr sz="18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Prediction).</a:t>
            </a:r>
            <a:endParaRPr sz="1800">
              <a:latin typeface="Trebuchet MS"/>
              <a:cs typeface="Trebuchet MS"/>
            </a:endParaRPr>
          </a:p>
          <a:p>
            <a:pPr marL="755650" marR="204470" indent="-285750">
              <a:lnSpc>
                <a:spcPts val="2160"/>
              </a:lnSpc>
              <a:spcBef>
                <a:spcPts val="1005"/>
              </a:spcBef>
            </a:pPr>
            <a:r>
              <a:rPr sz="1600" spc="12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spc="26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IoT</a:t>
            </a:r>
            <a:r>
              <a:rPr sz="2000" b="1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techniques</a:t>
            </a:r>
            <a:r>
              <a:rPr sz="2000" b="1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rebuchet MS"/>
                <a:cs typeface="Trebuchet MS"/>
              </a:rPr>
              <a:t>enhance</a:t>
            </a:r>
            <a:r>
              <a:rPr sz="2000" b="1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2000" b="1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rebuchet MS"/>
                <a:cs typeface="Trebuchet MS"/>
              </a:rPr>
              <a:t>produce</a:t>
            </a:r>
            <a:r>
              <a:rPr sz="2000" b="1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quantity</a:t>
            </a:r>
            <a:r>
              <a:rPr sz="2000" b="1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2000" b="1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quality</a:t>
            </a:r>
            <a:r>
              <a:rPr sz="2000" b="1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spc="-20" dirty="0">
                <a:solidFill>
                  <a:srgbClr val="404040"/>
                </a:solidFill>
                <a:latin typeface="Trebuchet MS"/>
                <a:cs typeface="Trebuchet MS"/>
              </a:rPr>
              <a:t>with </a:t>
            </a:r>
            <a:r>
              <a:rPr sz="2000" b="1" dirty="0">
                <a:solidFill>
                  <a:srgbClr val="FF0000"/>
                </a:solidFill>
                <a:latin typeface="Trebuchet MS"/>
                <a:cs typeface="Trebuchet MS"/>
              </a:rPr>
              <a:t>reduced</a:t>
            </a:r>
            <a:r>
              <a:rPr sz="2000" b="1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rebuchet MS"/>
                <a:cs typeface="Trebuchet MS"/>
              </a:rPr>
              <a:t>cost</a:t>
            </a:r>
            <a:r>
              <a:rPr sz="2000" b="1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2000" b="1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rebuchet MS"/>
                <a:cs typeface="Trebuchet MS"/>
              </a:rPr>
              <a:t>precision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  <a:p>
            <a:pPr marL="354965" marR="192405" indent="-342900">
              <a:lnSpc>
                <a:spcPts val="1939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Effects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climate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change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will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have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greater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impact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on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agriculture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(IPCC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UN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Panel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on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climate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change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prediction).</a:t>
            </a:r>
            <a:endParaRPr sz="1800">
              <a:latin typeface="Trebuchet MS"/>
              <a:cs typeface="Trebuchet MS"/>
            </a:endParaRPr>
          </a:p>
          <a:p>
            <a:pPr marL="755650" marR="158115" indent="-285750">
              <a:lnSpc>
                <a:spcPts val="2160"/>
              </a:lnSpc>
              <a:spcBef>
                <a:spcPts val="1005"/>
              </a:spcBef>
            </a:pPr>
            <a:r>
              <a:rPr sz="1600" spc="12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spc="260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IoT</a:t>
            </a:r>
            <a:r>
              <a:rPr sz="2000" b="1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based</a:t>
            </a:r>
            <a:r>
              <a:rPr sz="2000" b="1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methods</a:t>
            </a:r>
            <a:r>
              <a:rPr sz="2000" b="1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provide</a:t>
            </a:r>
            <a:r>
              <a:rPr sz="2000" b="1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improved</a:t>
            </a:r>
            <a:r>
              <a:rPr sz="2000" b="1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irrigation</a:t>
            </a:r>
            <a:r>
              <a:rPr sz="2000" b="1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techniques</a:t>
            </a:r>
            <a:r>
              <a:rPr sz="2000" b="1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spc="-25" dirty="0">
                <a:solidFill>
                  <a:srgbClr val="404040"/>
                </a:solidFill>
                <a:latin typeface="Trebuchet MS"/>
                <a:cs typeface="Trebuchet MS"/>
              </a:rPr>
              <a:t>and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help</a:t>
            </a:r>
            <a:r>
              <a:rPr sz="2000" b="1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decide</a:t>
            </a:r>
            <a:r>
              <a:rPr sz="2000" b="1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2000" b="1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rebuchet MS"/>
                <a:cs typeface="Trebuchet MS"/>
              </a:rPr>
              <a:t>right</a:t>
            </a:r>
            <a:r>
              <a:rPr sz="2000" b="1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rebuchet MS"/>
                <a:cs typeface="Trebuchet MS"/>
              </a:rPr>
              <a:t>quantity</a:t>
            </a:r>
            <a:r>
              <a:rPr sz="2000" b="1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2000" b="1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rebuchet MS"/>
                <a:cs typeface="Trebuchet MS"/>
              </a:rPr>
              <a:t>right</a:t>
            </a:r>
            <a:r>
              <a:rPr sz="2000" b="1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rebuchet MS"/>
                <a:cs typeface="Trebuchet MS"/>
              </a:rPr>
              <a:t>time</a:t>
            </a:r>
            <a:r>
              <a:rPr sz="2000" b="1" spc="-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2000" b="1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Trebuchet MS"/>
                <a:cs typeface="Trebuchet MS"/>
              </a:rPr>
              <a:t>water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  <a:p>
            <a:pPr marL="355600" marR="861694" indent="-342900">
              <a:lnSpc>
                <a:spcPts val="1939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Various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studies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have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indicated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improvisation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agriculture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by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modern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techniques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over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past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century.</a:t>
            </a:r>
            <a:endParaRPr sz="1800">
              <a:latin typeface="Trebuchet MS"/>
              <a:cs typeface="Trebuchet MS"/>
            </a:endParaRPr>
          </a:p>
          <a:p>
            <a:pPr marL="755650" marR="188595" indent="-285750">
              <a:lnSpc>
                <a:spcPts val="2160"/>
              </a:lnSpc>
              <a:spcBef>
                <a:spcPts val="1000"/>
              </a:spcBef>
            </a:pPr>
            <a:r>
              <a:rPr sz="1600" spc="12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spc="290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IoT</a:t>
            </a:r>
            <a:r>
              <a:rPr sz="2000" b="1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gives</a:t>
            </a:r>
            <a:r>
              <a:rPr sz="2000" b="1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000" b="1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major</a:t>
            </a:r>
            <a:r>
              <a:rPr sz="2000" b="1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leap</a:t>
            </a:r>
            <a:r>
              <a:rPr sz="2000" b="1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2000" b="1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this</a:t>
            </a:r>
            <a:r>
              <a:rPr sz="2000" b="1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with</a:t>
            </a:r>
            <a:r>
              <a:rPr sz="2000" b="1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direct</a:t>
            </a:r>
            <a:r>
              <a:rPr sz="2000" b="1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benefit</a:t>
            </a:r>
            <a:r>
              <a:rPr sz="2000" b="1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2000" b="1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rebuchet MS"/>
                <a:cs typeface="Trebuchet MS"/>
              </a:rPr>
              <a:t>technology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2000" b="1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rebuchet MS"/>
                <a:cs typeface="Trebuchet MS"/>
              </a:rPr>
              <a:t>information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  <a:p>
            <a:pPr marL="355600" marR="5080" indent="-342900">
              <a:lnSpc>
                <a:spcPts val="216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Automation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has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been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main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driver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meeting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rising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demands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in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agriculture.</a:t>
            </a:r>
            <a:endParaRPr sz="2000">
              <a:latin typeface="Trebuchet MS"/>
              <a:cs typeface="Trebuchet MS"/>
            </a:endParaRPr>
          </a:p>
          <a:p>
            <a:pPr marL="755650" marR="154940" indent="-285750">
              <a:lnSpc>
                <a:spcPts val="2160"/>
              </a:lnSpc>
              <a:spcBef>
                <a:spcPts val="1005"/>
              </a:spcBef>
            </a:pPr>
            <a:r>
              <a:rPr sz="1600" spc="12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spc="27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IoT</a:t>
            </a:r>
            <a:r>
              <a:rPr sz="2000" b="1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drives</a:t>
            </a:r>
            <a:r>
              <a:rPr sz="2000" b="1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automation</a:t>
            </a:r>
            <a:r>
              <a:rPr sz="2000" b="1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2000" b="1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next</a:t>
            </a:r>
            <a:r>
              <a:rPr sz="2000" b="1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level</a:t>
            </a:r>
            <a:r>
              <a:rPr sz="2000" b="1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with</a:t>
            </a:r>
            <a:r>
              <a:rPr sz="2000" b="1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rebuchet MS"/>
                <a:cs typeface="Trebuchet MS"/>
              </a:rPr>
              <a:t>sophisticated</a:t>
            </a:r>
            <a:r>
              <a:rPr sz="2000" b="1" spc="-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rebuchet MS"/>
                <a:cs typeface="Trebuchet MS"/>
              </a:rPr>
              <a:t>decision </a:t>
            </a:r>
            <a:r>
              <a:rPr sz="2000" b="1" dirty="0">
                <a:solidFill>
                  <a:srgbClr val="FF0000"/>
                </a:solidFill>
                <a:latin typeface="Trebuchet MS"/>
                <a:cs typeface="Trebuchet MS"/>
              </a:rPr>
              <a:t>making</a:t>
            </a:r>
            <a:r>
              <a:rPr sz="2000" b="1" spc="-3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by</a:t>
            </a:r>
            <a:r>
              <a:rPr sz="2000" b="1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use</a:t>
            </a:r>
            <a:r>
              <a:rPr sz="2000" b="1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2000" b="1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rebuchet MS"/>
                <a:cs typeface="Trebuchet MS"/>
              </a:rPr>
              <a:t>connectivity</a:t>
            </a:r>
            <a:r>
              <a:rPr sz="2000" b="1" spc="-3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rebuchet MS"/>
                <a:cs typeface="Trebuchet MS"/>
              </a:rPr>
              <a:t>and</a:t>
            </a:r>
            <a:r>
              <a:rPr sz="2000" b="1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rebuchet MS"/>
                <a:cs typeface="Trebuchet MS"/>
              </a:rPr>
              <a:t>data</a:t>
            </a:r>
            <a:r>
              <a:rPr sz="2000" b="1" spc="-10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3453"/>
            <a:ext cx="448945" cy="2844800"/>
          </a:xfrm>
          <a:custGeom>
            <a:avLst/>
            <a:gdLst/>
            <a:ahLst/>
            <a:cxnLst/>
            <a:rect l="l" t="t" r="r" b="b"/>
            <a:pathLst>
              <a:path w="448945" h="2844800">
                <a:moveTo>
                  <a:pt x="0" y="0"/>
                </a:moveTo>
                <a:lnTo>
                  <a:pt x="0" y="2844546"/>
                </a:lnTo>
                <a:lnTo>
                  <a:pt x="448818" y="2844546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</a:t>
            </a:r>
            <a:r>
              <a:rPr spc="-240" dirty="0"/>
              <a:t> </a:t>
            </a:r>
            <a:r>
              <a:rPr dirty="0"/>
              <a:t>few</a:t>
            </a:r>
            <a:r>
              <a:rPr spc="-65" dirty="0"/>
              <a:t> </a:t>
            </a:r>
            <a:r>
              <a:rPr dirty="0"/>
              <a:t>use</a:t>
            </a:r>
            <a:r>
              <a:rPr spc="-70" dirty="0"/>
              <a:t> </a:t>
            </a:r>
            <a:r>
              <a:rPr dirty="0"/>
              <a:t>cases</a:t>
            </a:r>
            <a:r>
              <a:rPr spc="-60" dirty="0"/>
              <a:t> </a:t>
            </a:r>
            <a:r>
              <a:rPr dirty="0"/>
              <a:t>implemented</a:t>
            </a:r>
            <a:r>
              <a:rPr spc="-50" dirty="0"/>
              <a:t> </a:t>
            </a:r>
            <a:r>
              <a:rPr dirty="0"/>
              <a:t>for</a:t>
            </a:r>
            <a:r>
              <a:rPr spc="-75" dirty="0"/>
              <a:t> </a:t>
            </a:r>
            <a:r>
              <a:rPr spc="-25" dirty="0"/>
              <a:t>IoT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8838" y="888803"/>
            <a:ext cx="8356600" cy="4949190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0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Monitoring</a:t>
            </a:r>
            <a:endParaRPr sz="20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1010"/>
              </a:spcBef>
            </a:pPr>
            <a:r>
              <a:rPr sz="145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spc="484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Basic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cameras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monitoring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field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/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livestock.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994"/>
              </a:spcBef>
            </a:pPr>
            <a:r>
              <a:rPr sz="145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spc="459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Intelligent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cameras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–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motion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detection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with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buzz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/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alarm,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smart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fishery.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1000"/>
              </a:spcBef>
            </a:pPr>
            <a:r>
              <a:rPr sz="145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spc="480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Aerial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Monitoring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systems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using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drone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Irrigation</a:t>
            </a:r>
            <a:endParaRPr sz="20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1005"/>
              </a:spcBef>
            </a:pPr>
            <a:r>
              <a:rPr sz="145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spc="46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Remotely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operated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irrigation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systems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1000"/>
              </a:spcBef>
            </a:pPr>
            <a:r>
              <a:rPr sz="145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spc="47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Smart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irrigation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controllers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(Sensors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/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Forecasts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/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Plant-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care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information)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1005"/>
              </a:spcBef>
            </a:pPr>
            <a:r>
              <a:rPr sz="145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spc="47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Soil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moisture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/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leaf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wetness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/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Temperature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based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automation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Automation</a:t>
            </a:r>
            <a:endParaRPr sz="20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1005"/>
              </a:spcBef>
            </a:pPr>
            <a:r>
              <a:rPr sz="145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spc="484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Aerial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planting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techniques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sow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seeds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1005"/>
              </a:spcBef>
            </a:pPr>
            <a:r>
              <a:rPr sz="145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spc="450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Pest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detection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using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Infrared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sensors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994"/>
              </a:spcBef>
            </a:pPr>
            <a:r>
              <a:rPr sz="145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spc="46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Harvesting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techniques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crop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readiness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detection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automation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3453"/>
            <a:ext cx="448945" cy="2844800"/>
          </a:xfrm>
          <a:custGeom>
            <a:avLst/>
            <a:gdLst/>
            <a:ahLst/>
            <a:cxnLst/>
            <a:rect l="l" t="t" r="r" b="b"/>
            <a:pathLst>
              <a:path w="448945" h="2844800">
                <a:moveTo>
                  <a:pt x="0" y="0"/>
                </a:moveTo>
                <a:lnTo>
                  <a:pt x="0" y="2844546"/>
                </a:lnTo>
                <a:lnTo>
                  <a:pt x="448818" y="2844546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</a:t>
            </a:r>
            <a:r>
              <a:rPr spc="-240" dirty="0"/>
              <a:t> </a:t>
            </a:r>
            <a:r>
              <a:rPr dirty="0"/>
              <a:t>few</a:t>
            </a:r>
            <a:r>
              <a:rPr spc="-65" dirty="0"/>
              <a:t> </a:t>
            </a:r>
            <a:r>
              <a:rPr spc="-10" dirty="0"/>
              <a:t>emerging</a:t>
            </a:r>
            <a:r>
              <a:rPr spc="-210" dirty="0"/>
              <a:t> </a:t>
            </a:r>
            <a:r>
              <a:rPr dirty="0"/>
              <a:t>Agriculture</a:t>
            </a:r>
            <a:r>
              <a:rPr spc="-55" dirty="0"/>
              <a:t> </a:t>
            </a:r>
            <a:r>
              <a:rPr dirty="0"/>
              <a:t>use</a:t>
            </a:r>
            <a:r>
              <a:rPr spc="-65" dirty="0"/>
              <a:t> </a:t>
            </a:r>
            <a:r>
              <a:rPr spc="-10" dirty="0"/>
              <a:t>cases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8838" y="1000759"/>
            <a:ext cx="7999730" cy="5146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Crop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protection</a:t>
            </a:r>
            <a:r>
              <a:rPr sz="20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using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Early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prediction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systems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with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data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crunching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00"/>
              </a:spcBef>
            </a:pP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Harvesting</a:t>
            </a:r>
            <a:r>
              <a:rPr sz="20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predictions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using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customized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crop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monitoring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95"/>
              </a:spcBef>
            </a:pP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IR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camera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heat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sensor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based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night-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predator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protection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95"/>
              </a:spcBef>
            </a:pP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Cattle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tracking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using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GPS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based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sensors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00"/>
              </a:spcBef>
            </a:pP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“Uber”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like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app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2000" spc="-1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Agri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vehicles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equipment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95"/>
              </a:spcBef>
            </a:pP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Pregnant</a:t>
            </a:r>
            <a:r>
              <a:rPr sz="20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Cow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Monitoring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using</a:t>
            </a:r>
            <a:r>
              <a:rPr sz="20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tail</a:t>
            </a:r>
            <a:r>
              <a:rPr sz="20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sensors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95"/>
              </a:spcBef>
            </a:pP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…and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many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more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3453"/>
            <a:ext cx="448945" cy="2844800"/>
          </a:xfrm>
          <a:custGeom>
            <a:avLst/>
            <a:gdLst/>
            <a:ahLst/>
            <a:cxnLst/>
            <a:rect l="l" t="t" r="r" b="b"/>
            <a:pathLst>
              <a:path w="448945" h="2844800">
                <a:moveTo>
                  <a:pt x="0" y="0"/>
                </a:moveTo>
                <a:lnTo>
                  <a:pt x="0" y="2844546"/>
                </a:lnTo>
                <a:lnTo>
                  <a:pt x="448818" y="2844546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Smart</a:t>
            </a:r>
            <a:r>
              <a:rPr spc="-155" dirty="0"/>
              <a:t> </a:t>
            </a:r>
            <a:r>
              <a:rPr spc="-40" dirty="0"/>
              <a:t>Tagging</a:t>
            </a:r>
            <a:r>
              <a:rPr spc="-100" dirty="0"/>
              <a:t> </a:t>
            </a:r>
            <a:r>
              <a:rPr dirty="0"/>
              <a:t>with</a:t>
            </a:r>
            <a:r>
              <a:rPr spc="-120" dirty="0"/>
              <a:t> </a:t>
            </a:r>
            <a:r>
              <a:rPr spc="-25" dirty="0"/>
              <a:t>IoT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8790" y="888337"/>
            <a:ext cx="6499225" cy="5116830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  <a:tabLst>
                <a:tab pos="354965" algn="l"/>
              </a:tabLst>
            </a:pPr>
            <a:r>
              <a:rPr sz="13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3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Production</a:t>
            </a:r>
            <a:endParaRPr sz="17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825"/>
              </a:spcBef>
              <a:tabLst>
                <a:tab pos="755015" algn="l"/>
              </a:tabLst>
            </a:pPr>
            <a:r>
              <a:rPr sz="1200" spc="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Farmer</a:t>
            </a:r>
            <a:r>
              <a:rPr sz="15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/</a:t>
            </a:r>
            <a:r>
              <a:rPr sz="15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rebuchet MS"/>
                <a:cs typeface="Trebuchet MS"/>
              </a:rPr>
              <a:t>Produce</a:t>
            </a:r>
            <a:r>
              <a:rPr sz="15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rebuchet MS"/>
                <a:cs typeface="Trebuchet MS"/>
              </a:rPr>
              <a:t>Source</a:t>
            </a:r>
            <a:endParaRPr sz="15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819"/>
              </a:spcBef>
              <a:tabLst>
                <a:tab pos="755015" algn="l"/>
              </a:tabLst>
            </a:pPr>
            <a:r>
              <a:rPr sz="1200" spc="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Geography</a:t>
            </a:r>
            <a:r>
              <a:rPr sz="15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/</a:t>
            </a:r>
            <a:r>
              <a:rPr sz="15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rebuchet MS"/>
                <a:cs typeface="Trebuchet MS"/>
              </a:rPr>
              <a:t>Region</a:t>
            </a:r>
            <a:endParaRPr sz="15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825"/>
              </a:spcBef>
              <a:tabLst>
                <a:tab pos="755015" algn="l"/>
              </a:tabLst>
            </a:pPr>
            <a:r>
              <a:rPr sz="1200" spc="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Factory</a:t>
            </a:r>
            <a:r>
              <a:rPr sz="15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5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rebuchet MS"/>
                <a:cs typeface="Trebuchet MS"/>
              </a:rPr>
              <a:t>Processing</a:t>
            </a:r>
            <a:endParaRPr sz="15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815"/>
              </a:spcBef>
              <a:tabLst>
                <a:tab pos="755015" algn="l"/>
              </a:tabLst>
            </a:pPr>
            <a:r>
              <a:rPr sz="1200" spc="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Supply</a:t>
            </a:r>
            <a:r>
              <a:rPr sz="15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chain</a:t>
            </a:r>
            <a:r>
              <a:rPr sz="15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rebuchet MS"/>
                <a:cs typeface="Trebuchet MS"/>
              </a:rPr>
              <a:t>participants</a:t>
            </a:r>
            <a:endParaRPr sz="15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819"/>
              </a:spcBef>
              <a:tabLst>
                <a:tab pos="755015" algn="l"/>
              </a:tabLst>
            </a:pPr>
            <a:r>
              <a:rPr sz="1200" spc="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500" spc="-10" dirty="0">
                <a:solidFill>
                  <a:srgbClr val="404040"/>
                </a:solidFill>
                <a:latin typeface="Trebuchet MS"/>
                <a:cs typeface="Trebuchet MS"/>
              </a:rPr>
              <a:t>{Volume</a:t>
            </a:r>
            <a:r>
              <a:rPr sz="15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5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Supply</a:t>
            </a:r>
            <a:r>
              <a:rPr sz="15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/</a:t>
            </a:r>
            <a:r>
              <a:rPr sz="15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Lack</a:t>
            </a:r>
            <a:r>
              <a:rPr sz="15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5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rebuchet MS"/>
                <a:cs typeface="Trebuchet MS"/>
              </a:rPr>
              <a:t>produce}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  <a:tabLst>
                <a:tab pos="354965" algn="l"/>
              </a:tabLst>
            </a:pPr>
            <a:r>
              <a:rPr sz="13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3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Quality</a:t>
            </a:r>
            <a:endParaRPr sz="17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825"/>
              </a:spcBef>
              <a:tabLst>
                <a:tab pos="755015" algn="l"/>
              </a:tabLst>
            </a:pPr>
            <a:r>
              <a:rPr sz="1200" spc="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Quality</a:t>
            </a:r>
            <a:r>
              <a:rPr sz="15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certifications</a:t>
            </a:r>
            <a:r>
              <a:rPr sz="15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at</a:t>
            </a:r>
            <a:r>
              <a:rPr sz="15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various</a:t>
            </a:r>
            <a:r>
              <a:rPr sz="15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rebuchet MS"/>
                <a:cs typeface="Trebuchet MS"/>
              </a:rPr>
              <a:t>stages</a:t>
            </a:r>
            <a:endParaRPr sz="15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819"/>
              </a:spcBef>
              <a:tabLst>
                <a:tab pos="755015" algn="l"/>
              </a:tabLst>
            </a:pPr>
            <a:r>
              <a:rPr sz="1200" spc="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Date</a:t>
            </a:r>
            <a:r>
              <a:rPr sz="15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5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rebuchet MS"/>
                <a:cs typeface="Trebuchet MS"/>
              </a:rPr>
              <a:t>Produce</a:t>
            </a:r>
            <a:r>
              <a:rPr sz="15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5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Life</a:t>
            </a:r>
            <a:r>
              <a:rPr sz="15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(Age</a:t>
            </a:r>
            <a:r>
              <a:rPr sz="15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5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rebuchet MS"/>
                <a:cs typeface="Trebuchet MS"/>
              </a:rPr>
              <a:t>expiry)</a:t>
            </a:r>
            <a:endParaRPr sz="15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825"/>
              </a:spcBef>
              <a:tabLst>
                <a:tab pos="755015" algn="l"/>
              </a:tabLst>
            </a:pPr>
            <a:r>
              <a:rPr sz="1200" spc="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External</a:t>
            </a:r>
            <a:r>
              <a:rPr sz="15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factors</a:t>
            </a:r>
            <a:r>
              <a:rPr sz="15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500" spc="-11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Agri</a:t>
            </a:r>
            <a:r>
              <a:rPr sz="15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environment</a:t>
            </a:r>
            <a:r>
              <a:rPr sz="15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(Rain,</a:t>
            </a:r>
            <a:r>
              <a:rPr sz="15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404040"/>
                </a:solidFill>
                <a:latin typeface="Trebuchet MS"/>
                <a:cs typeface="Trebuchet MS"/>
              </a:rPr>
              <a:t>Humidity,</a:t>
            </a:r>
            <a:r>
              <a:rPr sz="15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Dryness,</a:t>
            </a:r>
            <a:r>
              <a:rPr sz="15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404040"/>
                </a:solidFill>
                <a:latin typeface="Trebuchet MS"/>
                <a:cs typeface="Trebuchet MS"/>
              </a:rPr>
              <a:t>etc)</a:t>
            </a:r>
            <a:endParaRPr sz="15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815"/>
              </a:spcBef>
              <a:tabLst>
                <a:tab pos="755015" algn="l"/>
              </a:tabLst>
            </a:pPr>
            <a:r>
              <a:rPr sz="1200" spc="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Fertilizer</a:t>
            </a:r>
            <a:r>
              <a:rPr sz="15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inputs:</a:t>
            </a:r>
            <a:r>
              <a:rPr sz="15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Organic,</a:t>
            </a:r>
            <a:r>
              <a:rPr sz="15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Chemical,</a:t>
            </a:r>
            <a:r>
              <a:rPr sz="15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404040"/>
                </a:solidFill>
                <a:latin typeface="Trebuchet MS"/>
                <a:cs typeface="Trebuchet MS"/>
              </a:rPr>
              <a:t>etc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  <a:tabLst>
                <a:tab pos="354965" algn="l"/>
              </a:tabLst>
            </a:pPr>
            <a:r>
              <a:rPr sz="13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3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Consumption</a:t>
            </a:r>
            <a:endParaRPr sz="17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830"/>
              </a:spcBef>
              <a:tabLst>
                <a:tab pos="755015" algn="l"/>
              </a:tabLst>
            </a:pPr>
            <a:r>
              <a:rPr sz="1200" spc="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Consumer</a:t>
            </a:r>
            <a:r>
              <a:rPr sz="15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/</a:t>
            </a:r>
            <a:r>
              <a:rPr sz="15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rebuchet MS"/>
                <a:cs typeface="Trebuchet MS"/>
              </a:rPr>
              <a:t>Segment</a:t>
            </a:r>
            <a:endParaRPr sz="15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815"/>
              </a:spcBef>
              <a:tabLst>
                <a:tab pos="755015" algn="l"/>
              </a:tabLst>
            </a:pPr>
            <a:r>
              <a:rPr sz="1200" spc="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Geography</a:t>
            </a:r>
            <a:r>
              <a:rPr sz="15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/</a:t>
            </a:r>
            <a:r>
              <a:rPr sz="15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Region</a:t>
            </a:r>
            <a:r>
              <a:rPr sz="15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5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rebuchet MS"/>
                <a:cs typeface="Trebuchet MS"/>
              </a:rPr>
              <a:t>consumption</a:t>
            </a:r>
            <a:endParaRPr sz="15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825"/>
              </a:spcBef>
              <a:tabLst>
                <a:tab pos="755015" algn="l"/>
              </a:tabLst>
            </a:pPr>
            <a:r>
              <a:rPr sz="1200" spc="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500" spc="-10" dirty="0">
                <a:solidFill>
                  <a:srgbClr val="404040"/>
                </a:solidFill>
                <a:latin typeface="Trebuchet MS"/>
                <a:cs typeface="Trebuchet MS"/>
              </a:rPr>
              <a:t>{Over-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produce</a:t>
            </a:r>
            <a:r>
              <a:rPr sz="15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/</a:t>
            </a:r>
            <a:r>
              <a:rPr sz="15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wastage</a:t>
            </a:r>
            <a:r>
              <a:rPr sz="15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/</a:t>
            </a:r>
            <a:r>
              <a:rPr sz="15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lack</a:t>
            </a:r>
            <a:r>
              <a:rPr sz="15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5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rebuchet MS"/>
                <a:cs typeface="Trebuchet MS"/>
              </a:rPr>
              <a:t>demand}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778370" y="1006221"/>
            <a:ext cx="1417320" cy="5326380"/>
          </a:xfrm>
          <a:custGeom>
            <a:avLst/>
            <a:gdLst/>
            <a:ahLst/>
            <a:cxnLst/>
            <a:rect l="l" t="t" r="r" b="b"/>
            <a:pathLst>
              <a:path w="1417320" h="5326380">
                <a:moveTo>
                  <a:pt x="0" y="0"/>
                </a:moveTo>
                <a:lnTo>
                  <a:pt x="77217" y="693"/>
                </a:lnTo>
                <a:lnTo>
                  <a:pt x="152026" y="2724"/>
                </a:lnTo>
                <a:lnTo>
                  <a:pt x="223993" y="6021"/>
                </a:lnTo>
                <a:lnTo>
                  <a:pt x="292688" y="10512"/>
                </a:lnTo>
                <a:lnTo>
                  <a:pt x="357677" y="16126"/>
                </a:lnTo>
                <a:lnTo>
                  <a:pt x="418528" y="22789"/>
                </a:lnTo>
                <a:lnTo>
                  <a:pt x="474809" y="30430"/>
                </a:lnTo>
                <a:lnTo>
                  <a:pt x="526087" y="38976"/>
                </a:lnTo>
                <a:lnTo>
                  <a:pt x="571931" y="48357"/>
                </a:lnTo>
                <a:lnTo>
                  <a:pt x="611908" y="58499"/>
                </a:lnTo>
                <a:lnTo>
                  <a:pt x="672532" y="80779"/>
                </a:lnTo>
                <a:lnTo>
                  <a:pt x="704501" y="105241"/>
                </a:lnTo>
                <a:lnTo>
                  <a:pt x="708660" y="118110"/>
                </a:lnTo>
                <a:lnTo>
                  <a:pt x="708660" y="2545080"/>
                </a:lnTo>
                <a:lnTo>
                  <a:pt x="712818" y="2557948"/>
                </a:lnTo>
                <a:lnTo>
                  <a:pt x="744788" y="2582410"/>
                </a:lnTo>
                <a:lnTo>
                  <a:pt x="805414" y="2604690"/>
                </a:lnTo>
                <a:lnTo>
                  <a:pt x="845392" y="2614832"/>
                </a:lnTo>
                <a:lnTo>
                  <a:pt x="891236" y="2624213"/>
                </a:lnTo>
                <a:lnTo>
                  <a:pt x="942515" y="2632759"/>
                </a:lnTo>
                <a:lnTo>
                  <a:pt x="998797" y="2640400"/>
                </a:lnTo>
                <a:lnTo>
                  <a:pt x="1059648" y="2647063"/>
                </a:lnTo>
                <a:lnTo>
                  <a:pt x="1124637" y="2652677"/>
                </a:lnTo>
                <a:lnTo>
                  <a:pt x="1193331" y="2657168"/>
                </a:lnTo>
                <a:lnTo>
                  <a:pt x="1265297" y="2660465"/>
                </a:lnTo>
                <a:lnTo>
                  <a:pt x="1340104" y="2662496"/>
                </a:lnTo>
                <a:lnTo>
                  <a:pt x="1417320" y="2663190"/>
                </a:lnTo>
                <a:lnTo>
                  <a:pt x="1340104" y="2663883"/>
                </a:lnTo>
                <a:lnTo>
                  <a:pt x="1265297" y="2665914"/>
                </a:lnTo>
                <a:lnTo>
                  <a:pt x="1193331" y="2669211"/>
                </a:lnTo>
                <a:lnTo>
                  <a:pt x="1124637" y="2673702"/>
                </a:lnTo>
                <a:lnTo>
                  <a:pt x="1059648" y="2679316"/>
                </a:lnTo>
                <a:lnTo>
                  <a:pt x="998797" y="2685979"/>
                </a:lnTo>
                <a:lnTo>
                  <a:pt x="942515" y="2693620"/>
                </a:lnTo>
                <a:lnTo>
                  <a:pt x="891236" y="2702166"/>
                </a:lnTo>
                <a:lnTo>
                  <a:pt x="845392" y="2711547"/>
                </a:lnTo>
                <a:lnTo>
                  <a:pt x="805414" y="2721689"/>
                </a:lnTo>
                <a:lnTo>
                  <a:pt x="744788" y="2743969"/>
                </a:lnTo>
                <a:lnTo>
                  <a:pt x="712818" y="2768431"/>
                </a:lnTo>
                <a:lnTo>
                  <a:pt x="708660" y="2781300"/>
                </a:lnTo>
                <a:lnTo>
                  <a:pt x="708660" y="5208270"/>
                </a:lnTo>
                <a:lnTo>
                  <a:pt x="704501" y="5221138"/>
                </a:lnTo>
                <a:lnTo>
                  <a:pt x="672532" y="5245600"/>
                </a:lnTo>
                <a:lnTo>
                  <a:pt x="611908" y="5267880"/>
                </a:lnTo>
                <a:lnTo>
                  <a:pt x="571931" y="5278022"/>
                </a:lnTo>
                <a:lnTo>
                  <a:pt x="526087" y="5287403"/>
                </a:lnTo>
                <a:lnTo>
                  <a:pt x="474809" y="5295949"/>
                </a:lnTo>
                <a:lnTo>
                  <a:pt x="418528" y="5303590"/>
                </a:lnTo>
                <a:lnTo>
                  <a:pt x="357677" y="5310253"/>
                </a:lnTo>
                <a:lnTo>
                  <a:pt x="292688" y="5315867"/>
                </a:lnTo>
                <a:lnTo>
                  <a:pt x="223993" y="5320358"/>
                </a:lnTo>
                <a:lnTo>
                  <a:pt x="152026" y="5323655"/>
                </a:lnTo>
                <a:lnTo>
                  <a:pt x="77217" y="5325686"/>
                </a:lnTo>
                <a:lnTo>
                  <a:pt x="0" y="5326380"/>
                </a:lnTo>
              </a:path>
            </a:pathLst>
          </a:custGeom>
          <a:ln w="12954">
            <a:solidFill>
              <a:srgbClr val="90C2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24088" y="3197351"/>
            <a:ext cx="1434693" cy="94653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68868" y="4540758"/>
            <a:ext cx="1021028" cy="9051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06790" y="1005840"/>
            <a:ext cx="880109" cy="88010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21268" y="2057400"/>
            <a:ext cx="950975" cy="9143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3453"/>
            <a:ext cx="448945" cy="2844800"/>
          </a:xfrm>
          <a:custGeom>
            <a:avLst/>
            <a:gdLst/>
            <a:ahLst/>
            <a:cxnLst/>
            <a:rect l="l" t="t" r="r" b="b"/>
            <a:pathLst>
              <a:path w="448945" h="2844800">
                <a:moveTo>
                  <a:pt x="0" y="0"/>
                </a:moveTo>
                <a:lnTo>
                  <a:pt x="0" y="2844546"/>
                </a:lnTo>
                <a:lnTo>
                  <a:pt x="448818" y="2844546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Need</a:t>
            </a:r>
            <a:r>
              <a:rPr spc="-6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spc="-20" dirty="0"/>
              <a:t>hour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8839" y="888985"/>
            <a:ext cx="7157084" cy="534924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Sustained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Innovation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810"/>
              </a:spcBef>
              <a:tabLst>
                <a:tab pos="755015" algn="l"/>
              </a:tabLst>
            </a:pPr>
            <a:r>
              <a:rPr sz="125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Practical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problem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solving</a:t>
            </a:r>
            <a:endParaRPr sz="16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810"/>
              </a:spcBef>
              <a:tabLst>
                <a:tab pos="755015" algn="l"/>
              </a:tabLst>
            </a:pPr>
            <a:r>
              <a:rPr sz="125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Data</a:t>
            </a:r>
            <a:r>
              <a:rPr sz="16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distribution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&amp;</a:t>
            </a:r>
            <a:r>
              <a:rPr sz="16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availability</a:t>
            </a:r>
            <a:endParaRPr sz="16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810"/>
              </a:spcBef>
              <a:tabLst>
                <a:tab pos="755015" algn="l"/>
              </a:tabLst>
            </a:pPr>
            <a:r>
              <a:rPr sz="125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Efficient</a:t>
            </a:r>
            <a:r>
              <a:rPr sz="16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technologies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hardware</a:t>
            </a:r>
            <a:r>
              <a:rPr sz="16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6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software</a:t>
            </a:r>
            <a:endParaRPr sz="16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805"/>
              </a:spcBef>
              <a:tabLst>
                <a:tab pos="755015" algn="l"/>
              </a:tabLst>
            </a:pPr>
            <a:r>
              <a:rPr sz="125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Certification</a:t>
            </a:r>
            <a:r>
              <a:rPr sz="16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mechanisms</a:t>
            </a:r>
            <a:endParaRPr sz="16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810"/>
              </a:spcBef>
              <a:tabLst>
                <a:tab pos="755015" algn="l"/>
              </a:tabLst>
            </a:pPr>
            <a:r>
              <a:rPr sz="125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Durability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devices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due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field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implementation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Standardization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810"/>
              </a:spcBef>
              <a:tabLst>
                <a:tab pos="755015" algn="l"/>
              </a:tabLst>
            </a:pPr>
            <a:r>
              <a:rPr sz="125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Protocols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communication</a:t>
            </a:r>
            <a:endParaRPr sz="16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810"/>
              </a:spcBef>
              <a:tabLst>
                <a:tab pos="755015" algn="l"/>
              </a:tabLst>
            </a:pPr>
            <a:r>
              <a:rPr sz="125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Cross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platform</a:t>
            </a:r>
            <a:r>
              <a:rPr sz="16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device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Interoperability</a:t>
            </a:r>
            <a:endParaRPr sz="16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810"/>
              </a:spcBef>
              <a:tabLst>
                <a:tab pos="755015" algn="l"/>
              </a:tabLst>
            </a:pPr>
            <a:r>
              <a:rPr sz="125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Extendibility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(Current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business</a:t>
            </a:r>
            <a:r>
              <a:rPr sz="16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apps,</a:t>
            </a:r>
            <a:r>
              <a:rPr sz="16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device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6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device,</a:t>
            </a:r>
            <a:r>
              <a:rPr sz="16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etc)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Cross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Border</a:t>
            </a:r>
            <a:r>
              <a:rPr sz="1800" spc="-1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Acceptance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810"/>
              </a:spcBef>
              <a:tabLst>
                <a:tab pos="755015" algn="l"/>
              </a:tabLst>
            </a:pPr>
            <a:r>
              <a:rPr sz="125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Mutual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recognitions</a:t>
            </a:r>
            <a:endParaRPr sz="16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810"/>
              </a:spcBef>
              <a:tabLst>
                <a:tab pos="755015" algn="l"/>
              </a:tabLst>
            </a:pPr>
            <a:r>
              <a:rPr sz="125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Global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policies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/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framework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Other</a:t>
            </a:r>
            <a:r>
              <a:rPr sz="1800" spc="-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Areas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810"/>
              </a:spcBef>
              <a:tabLst>
                <a:tab pos="755015" algn="l"/>
              </a:tabLst>
            </a:pPr>
            <a:r>
              <a:rPr sz="125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Legal</a:t>
            </a:r>
            <a:r>
              <a:rPr sz="16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framework</a:t>
            </a:r>
            <a:r>
              <a:rPr sz="16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(Ariel</a:t>
            </a:r>
            <a:r>
              <a:rPr sz="16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monitoring</a:t>
            </a:r>
            <a:r>
              <a:rPr sz="16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issues,</a:t>
            </a:r>
            <a:r>
              <a:rPr sz="16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connectivity</a:t>
            </a:r>
            <a:r>
              <a:rPr sz="16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networks,</a:t>
            </a:r>
            <a:r>
              <a:rPr sz="16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etc)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90C225">
              <a:alpha val="850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4030" y="1751562"/>
            <a:ext cx="4691621" cy="23362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</TotalTime>
  <Words>826</Words>
  <Application>Microsoft Office PowerPoint</Application>
  <PresentationFormat>Widescreen</PresentationFormat>
  <Paragraphs>111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Lucida Sans Unicode</vt:lpstr>
      <vt:lpstr>Trebuchet MS</vt:lpstr>
      <vt:lpstr>Office Theme</vt:lpstr>
      <vt:lpstr>PowerPoint Presentation</vt:lpstr>
      <vt:lpstr>Contents</vt:lpstr>
      <vt:lpstr>Modern Agriculture</vt:lpstr>
      <vt:lpstr>Things to consider on IoT</vt:lpstr>
      <vt:lpstr>Why IoT for agriculture</vt:lpstr>
      <vt:lpstr>A few use cases implemented for IoT</vt:lpstr>
      <vt:lpstr>A few emerging Agriculture use cases</vt:lpstr>
      <vt:lpstr>Smart Tagging with IoT</vt:lpstr>
      <vt:lpstr>Need of the hour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shaping agriculture</dc:title>
  <dc:creator>Vijay Kumar</dc:creator>
  <cp:lastModifiedBy>Sharan N</cp:lastModifiedBy>
  <cp:revision>3</cp:revision>
  <dcterms:created xsi:type="dcterms:W3CDTF">2023-12-07T15:51:02Z</dcterms:created>
  <dcterms:modified xsi:type="dcterms:W3CDTF">2023-12-25T13:51:57Z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2018-10-15T00:00:00Z</vt:filetime>
  </property>
  <property fmtid="{D5CDD505-2E9C-101B-9397-08002B2CF9AE}" pid="3" name="Creator">
    <vt:lpwstr>Acrobat PDFMaker 19 for PowerPoint</vt:lpwstr>
  </property>
  <property fmtid="{D5CDD505-2E9C-101B-9397-08002B2CF9AE}" pid="4" name="LastSaved">
    <vt:filetime>2023-12-07T00:00:00Z</vt:filetime>
  </property>
  <property fmtid="{D5CDD505-2E9C-101B-9397-08002B2CF9AE}" pid="5" name="Producer">
    <vt:lpwstr>Adobe PDF Library 19.8.103</vt:lpwstr>
  </property>
</Properties>
</file>